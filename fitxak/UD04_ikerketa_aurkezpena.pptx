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kerketa" id="{cdf94c54-f4bb-9ed7-4f80-01356d6e108c}">
          <p14:sldIdLst>
            <p14:sldId id="256"/>
            <p14:sldId id="257"/>
            <p14:sldId id="258"/>
            <p14:sldId id="259"/>
            <p14:sldId id="260"/>
            <p14:sldId id="261"/>
          </p14:sldIdLst>
        </p14:section>
        <p14:section name="S1 Kutxa" id="{0aa0bb79-8a8b-2b52-c46f-63f9ff4627b9}">
          <p14:sldIdLst>
            <p14:sldId id="262"/>
            <p14:sldId id="263"/>
            <p14:sldId id="264"/>
          </p14:sldIdLst>
        </p14:section>
        <p14:section name="S2 Moldaketa" id="{40108bdf-8cf0-ef9f-a352-a7acd40306bb}">
          <p14:sldIdLst>
            <p14:sldId id="265"/>
            <p14:sldId id="266"/>
            <p14:sldId id="267"/>
            <p14:sldId id="268"/>
          </p14:sldIdLst>
        </p14:section>
        <p14:section name="S3 Sultan" id="{3a659680-08ed-6f2a-d930-2a6d054b5a9d}">
          <p14:sldIdLst>
            <p14:sldId id="269"/>
            <p14:sldId id="270"/>
            <p14:sldId id="271"/>
            <p14:sldId id="272"/>
          </p14:sldIdLst>
        </p14:section>
        <p14:section name="S4 Nim" id="{d96b9cc6-6806-9a16-1ccb-33d9aec2df83}">
          <p14:sldIdLst>
            <p14:sldId id="273"/>
            <p14:sldId id="274"/>
            <p14:sldId id="275"/>
            <p14:sldId id="276"/>
            <p14:sldId id="277"/>
          </p14:sldIdLst>
        </p14:section>
        <p14:section name="S5 Sugeak" id="{e3a2ab79-76a1-2d9d-5263-9e5202d56d01}">
          <p14:sldIdLst>
            <p14:sldId id="278"/>
            <p14:sldId id="279"/>
            <p14:sldId id="280"/>
            <p14:sldId id="281"/>
            <p14:sldId id="282"/>
          </p14:sldIdLst>
        </p14:section>
        <p14:section name="S6 Kutxa" id="{13d1438d-d7ac-cb48-abc3-eb857ed6ae48}">
          <p14:sldIdLst>
            <p14:sldId id="283"/>
            <p14:sldId id="284"/>
            <p14:sldId id="285"/>
            <p14:sldId id="286"/>
            <p14:sldId id="287"/>
          </p14:sldIdLst>
        </p14:section>
        <p14:section name="S7 Esperimentua" id="{e43df8c8-c779-cad9-f4cf-8c6b89eed3ae}">
          <p14:sldIdLst>
            <p14:sldId id="288"/>
            <p14:sldId id="289"/>
            <p14:sldId id="290"/>
          </p14:sldIdLst>
        </p14:section>
        <p14:section name="S8 Ondorioak" id="{08290964-e0a0-e07e-017f-15ffcf3e8ed5}">
          <p14:sldIdLst>
            <p14:sldId id="291"/>
            <p14:sldId id="292"/>
            <p14:sldId id="293"/>
            <p14:sldId id="294"/>
          </p14:sldIdLst>
        </p14:section>
        <p14:section name="S9 Defentsa" id="{0981a33e-a047-82e8-4794-951ebbe1aeb2}">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Arial"/>
              </a:defRPr>
            </a:pPr>
            <a:r>
              <a:rPr sz="1200" b="0" i="0" u="none" strike="noStrike">
                <a:solidFill>
                  <a:srgbClr val="1A1A1A"/>
                </a:solidFill>
                <a:latin typeface="Arial"/>
              </a:rPr>
              <a:t>Alferrikako ekintzak (mediana, %)</a:t>
            </a:r>
          </a:p>
        </c:rich>
      </c:tx>
      <c:layout/>
      <c:overlay val="0"/>
    </c:title>
    <c:autoTitleDeleted val="0"/>
    <c:plotArea>
      <c:layout/>
      <c:barChart>
        <c:barDir val="col"/>
        <c:grouping val="clustered"/>
        <c:varyColors val="0"/>
        <c:ser>
          <c:idx val="0"/>
          <c:order val="0"/>
          <c:tx>
            <c:strRef>
              <c:f>Sheet1!$B$1</c:f>
              <c:strCache>
                <c:ptCount val="1"/>
                <c:pt idx="0">
                  <c:v>Kutxa opakoa</c:v>
                </c:pt>
              </c:strCache>
            </c:strRef>
          </c:tx>
          <c:spPr>
            <a:solidFill>
              <a:srgbClr val="5C1A5C"/>
            </a:solidFill>
            <a:effectLst/>
          </c:spPr>
          <c:invertIfNegative val="0"/>
          <c:dLbls>
            <c:numFmt formatCode="0&quot;%&quot;"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cat>
            <c:multiLvlStrRef>
              <c:f>Sheet1!$A$2:$A$3</c:f>
              <c:multiLvlStrCache>
                <c:ptCount val="2"/>
                <c:lvl>
                  <c:pt idx="0">
                    <c:v>Txinpantzeak</c:v>
                  </c:pt>
                  <c:pt idx="1">
                    <c:v>Haurrak</c:v>
                  </c:pt>
                </c:lvl>
              </c:multiLvlStrCache>
            </c:multiLvlStrRef>
          </c:cat>
          <c:val>
            <c:numRef>
              <c:f>Sheet1!$B$2:$B$3</c:f>
              <c:numCache>
                <c:formatCode>General</c:formatCode>
                <c:ptCount val="2"/>
                <c:pt idx="0">
                  <c:v>59</c:v>
                </c:pt>
                <c:pt idx="1">
                  <c:v>71</c:v>
                </c:pt>
              </c:numCache>
            </c:numRef>
          </c:val>
        </c:ser>
        <c:ser>
          <c:idx val="1"/>
          <c:order val="1"/>
          <c:tx>
            <c:strRef>
              <c:f>Sheet1!$C$1</c:f>
              <c:strCache>
                <c:ptCount val="1"/>
                <c:pt idx="0">
                  <c:v>Kutxa gardena</c:v>
                </c:pt>
              </c:strCache>
            </c:strRef>
          </c:tx>
          <c:spPr>
            <a:solidFill>
              <a:srgbClr val="B48AB4"/>
            </a:solidFill>
            <a:effectLst/>
          </c:spPr>
          <c:invertIfNegative val="0"/>
          <c:dLbls>
            <c:numFmt formatCode="0&quot;%&quot;"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cat>
            <c:multiLvlStrRef>
              <c:f>Sheet1!$A$2:$A$3</c:f>
              <c:multiLvlStrCache>
                <c:ptCount val="2"/>
                <c:lvl>
                  <c:pt idx="0">
                    <c:v>Txinpantzeak</c:v>
                  </c:pt>
                  <c:pt idx="1">
                    <c:v>Haurrak</c:v>
                  </c:pt>
                </c:lvl>
              </c:multiLvlStrCache>
            </c:multiLvlStrRef>
          </c:cat>
          <c:val>
            <c:numRef>
              <c:f>Sheet1!$C$2:$C$3</c:f>
              <c:numCache>
                <c:formatCode>General</c:formatCode>
                <c:ptCount val="2"/>
                <c:pt idx="0">
                  <c:v>6</c:v>
                </c:pt>
                <c:pt idx="1">
                  <c:v>80</c:v>
                </c:pt>
              </c:numCache>
            </c:numRef>
          </c:val>
        </c:ser>
        <c:dLbls>
          <c:numFmt formatCode="0&quot;%&quot;"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Aurkeztu erronka. Azpimarratu ez dela lan dokumentala: datuak irakurri eta ondorioak defendatu behar dituzte. Ebaluazioaren % 55 bakarkakoa 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Erakustaldia beti berdin: (1) goiko pinza kendu; (2) makila goiko zulotik hiru aldiz (alferrikakoa); (3) aurreko atea altxatu; (4) saria atera. Ez esan ezer. Ez eman aurreikuspenaren erantzuna S6 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Boluntarioa borondatez. Bi txanda. Ohikoa da boluntarioak jokabidea araua azaldu aurretik egitea: hori da jokoaren gakoa.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Soluzioa: lerroak karratutik kanpora atera behar dira. Blokeoa norberak ezarritako muga da. Lotu berregituraketarekin.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Gakoa: Nimek IKASI zuen (125 zeinu); datuek ez dute erakusten HIZKUNTZA ikasi zuenik. Azalpen operantea: zeinuak sariak lortzeko tresnak (eman, ni, jan, laranja).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«No!» eszena, 3-4 min. Etika idatziz eta bakarka; ez bihurtu eztabaida emozional.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Elikadurarekin harreman zaila izan dezakeen ikasleren bat baduzu, eskaini usain edo soinu desatsegin batekin egitea, edo Albert eta Minekaren kasuekin bakarrik.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Datuak lehenik kutxa opakoa ikusi zuten taldeenak dira. Kutxa gardena lehenik ikusi zuten txinpantzeek ia ez zuten alferrikako ekintzarik egin, ezta gero opakoarekin 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Gakoa: a) E · b) GO · c) E · d) I · e) GO · f)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hirukote × 5,5 min = 55 min: bi saiotan banatzen da. Denbora zorrotz.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ZALA">
    <p:bg>
      <p:bgPr>
        <a:solidFill>
          <a:srgbClr val="D6E8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4000" b="1" dirty="0">
                <a:solidFill>
                  <a:srgbClr val="1B3A5C"/>
                </a:solidFill>
              </a:defRPr>
            </a:lvl1pPr>
          </a:lstStyle>
          <a:p>
            <a:pPr algn="l" indent="0" marL="0">
              <a:buNone/>
            </a:pPr>
            <a:endParaRPr lang="en-US" sz="4000" dirty="0"/>
          </a:p>
        </p:txBody>
      </p:sp>
      <p:sp>
        <p:nvSpPr>
          <p:cNvPr id="3" name="Text 0"/>
          <p:cNvSpPr/>
          <p:nvPr>
            <p:ph idx="101" type="body" hasCustomPrompt="1"/>
          </p:nvPr>
        </p:nvSpPr>
        <p:spPr>
          <a:xfrm>
            <a:off x="548640" y="2880360"/>
            <a:ext cx="8046720" cy="822960"/>
          </a:xfrm>
          <a:prstGeom prst="rect">
            <a:avLst/>
          </a:prstGeom>
          <a:noFill/>
          <a:ln/>
        </p:spPr>
        <p:txBody>
          <a:bodyPr wrap="square" rtlCol="0"/>
          <a:lstStyle>
            <a:lvl1pPr algn="l" indent="0" marL="0">
              <a:buNone/>
              <a:defRPr lang="en-US" sz="1800" dirty="0">
                <a:solidFill>
                  <a:srgbClr val="1A1A1A"/>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IOA">
    <p:bg>
      <p:bgPr>
        <a:solidFill>
          <a:srgbClr val="EEF5F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035040" cy="914400"/>
          </a:xfrm>
          <a:prstGeom prst="rect">
            <a:avLst/>
          </a:prstGeom>
          <a:noFill/>
          <a:ln/>
        </p:spPr>
        <p:txBody>
          <a:bodyPr wrap="square" rtlCol="0"/>
          <a:lstStyle>
            <a:lvl1pPr algn="l" indent="0" marL="0">
              <a:buNone/>
              <a:defRPr lang="en-US" sz="3600" b="1" dirty="0">
                <a:solidFill>
                  <a:srgbClr val="1B3A5C"/>
                </a:solidFill>
              </a:defRPr>
            </a:lvl1pPr>
          </a:lstStyle>
          <a:p>
            <a:pPr algn="l" indent="0" marL="0">
              <a:buNone/>
            </a:pPr>
            <a:endParaRPr lang="en-US" sz="3600" dirty="0"/>
          </a:p>
        </p:txBody>
      </p:sp>
      <p:sp>
        <p:nvSpPr>
          <p:cNvPr id="3" name="Text 0"/>
          <p:cNvSpPr/>
          <p:nvPr>
            <p:ph idx="101" type="body" hasCustomPrompt="1"/>
          </p:nvPr>
        </p:nvSpPr>
        <p:spPr>
          <a:xfrm>
            <a:off x="548640" y="2514600"/>
            <a:ext cx="6035040" cy="1463040"/>
          </a:xfrm>
          <a:prstGeom prst="rect">
            <a:avLst/>
          </a:prstGeom>
          <a:noFill/>
          <a:ln/>
        </p:spPr>
        <p:txBody>
          <a:bodyPr wrap="square" rtlCol="0"/>
          <a:lstStyle>
            <a:lvl1pPr algn="l" indent="0" marL="0">
              <a:buNone/>
              <a:defRPr lang="en-US" sz="2200" b="1" dirty="0">
                <a:solidFill>
                  <a:srgbClr val="1B3A5C"/>
                </a:solidFill>
              </a:defRPr>
            </a:lvl1pPr>
          </a:lstStyle>
          <a:p>
            <a:pPr algn="l"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DUKIA">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5B6573"/>
                </a:solidFill>
              </a:rPr>
              <a:t>UD04 · Ikasten duguna ulertzen al dugu?</a:t>
            </a:r>
            <a:endParaRPr lang="en-US" sz="900" dirty="0"/>
          </a:p>
        </p:txBody>
      </p:sp>
      <p:sp>
        <p:nvSpPr>
          <p:cNvPr id="3" name="Text 1"/>
          <p:cNvSpPr/>
          <p:nvPr>
            <p:ph idx="101" type="title" hasCustomPrompt="1"/>
          </p:nvPr>
        </p:nvSpPr>
        <p:spPr>
          <a:xfrm>
            <a:off x="457200" y="292608"/>
            <a:ext cx="7040880" cy="640080"/>
          </a:xfrm>
          <a:prstGeom prst="rect">
            <a:avLst/>
          </a:prstGeom>
          <a:noFill/>
          <a:ln/>
        </p:spPr>
        <p:txBody>
          <a:bodyPr wrap="square" rtlCol="0"/>
          <a:lstStyle>
            <a:lvl1pPr algn="l" indent="0" marL="0">
              <a:buNone/>
              <a:defRPr lang="en-US" sz="2800" b="1" dirty="0">
                <a:solidFill>
                  <a:srgbClr val="1B3A5C"/>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4.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8046720" cy="320040"/>
          </a:xfrm>
          <a:prstGeom prst="rect">
            <a:avLst/>
          </a:prstGeom>
          <a:noFill/>
          <a:ln/>
        </p:spPr>
        <p:txBody>
          <a:bodyPr wrap="square" lIns="0" tIns="0" rIns="0" bIns="0" rtlCol="0" anchor="t"/>
          <a:lstStyle/>
          <a:p>
            <a:pPr indent="0" marL="0">
              <a:buNone/>
            </a:pPr>
            <a:r>
              <a:rPr lang="en-US" sz="1200" b="1" spc="200" kern="0" dirty="0">
                <a:solidFill>
                  <a:srgbClr val="1B3A5C"/>
                </a:solidFill>
                <a:latin typeface="Arial" pitchFamily="34" charset="0"/>
                <a:ea typeface="Arial" pitchFamily="34" charset="-122"/>
                <a:cs typeface="Arial" pitchFamily="34" charset="-120"/>
              </a:rPr>
              <a:t>UD04 · IKASKUNTZA, PSIKOLOGIATIK · IKERKETA-PROIEKTUA</a:t>
            </a:r>
            <a:endParaRPr lang="en-US" sz="1200" dirty="0"/>
          </a:p>
        </p:txBody>
      </p:sp>
      <p:sp>
        <p:nvSpPr>
          <p:cNvPr id="3"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r>
              <a:rPr lang="en-US" sz="4000" b="1" dirty="0">
                <a:solidFill>
                  <a:srgbClr val="1B3A5C"/>
                </a:solidFill>
              </a:rPr>
              <a:t>Ikasten duguna ulertzen al dugu?</a:t>
            </a:r>
            <a:endParaRPr lang="en-US" sz="4000" dirty="0"/>
          </a:p>
        </p:txBody>
      </p:sp>
      <p:sp>
        <p:nvSpPr>
          <p:cNvPr id="4" name="Text 0"/>
          <p:cNvSpPr/>
          <p:nvPr>
            <p:ph idx="101" type="body" hasCustomPrompt="1"/>
          </p:nvPr>
        </p:nvSpPr>
        <p:spPr>
          <a:xfrm>
            <a:off x="548640" y="2880360"/>
            <a:ext cx="8046720" cy="822960"/>
          </a:xfrm>
          <a:prstGeom prst="rect">
            <a:avLst/>
          </a:prstGeom>
          <a:noFill/>
          <a:ln/>
        </p:spPr>
        <p:txBody>
          <a:bodyPr wrap="square" lIns="0" tIns="0" rIns="0" bIns="0" rtlCol="0" anchor="t"/>
          <a:lstStyle/>
          <a:p>
            <a:pPr algn="l" indent="0" marL="0">
              <a:buNone/>
            </a:pPr>
            <a:r>
              <a:rPr lang="en-US" sz="1800" dirty="0">
                <a:solidFill>
                  <a:srgbClr val="1A1A1A"/>
                </a:solidFill>
              </a:rPr>
              <a:t>Primateak, gizakiak eta ikaskuntzaren misterioak</a:t>
            </a:r>
            <a:endParaRPr lang="en-US" sz="1800" dirty="0"/>
          </a:p>
        </p:txBody>
      </p:sp>
      <p:sp>
        <p:nvSpPr>
          <p:cNvPr id="5" name="Shape 3"/>
          <p:cNvSpPr/>
          <p:nvPr/>
        </p:nvSpPr>
        <p:spPr>
          <a:xfrm>
            <a:off x="548640" y="3931920"/>
            <a:ext cx="896112" cy="384048"/>
          </a:xfrm>
          <a:prstGeom prst="roundRect">
            <a:avLst>
              <a:gd name="adj" fmla="val 28571"/>
            </a:avLst>
          </a:prstGeom>
          <a:solidFill>
            <a:srgbClr val="FFFFFF"/>
          </a:solidFill>
          <a:ln w="12700">
            <a:solidFill>
              <a:srgbClr val="FFFFFF"/>
            </a:solidFill>
            <a:prstDash val="solid"/>
          </a:ln>
        </p:spPr>
      </p:sp>
      <p:sp>
        <p:nvSpPr>
          <p:cNvPr id="6" name="Text 4"/>
          <p:cNvSpPr txBox="1"/>
          <p:nvPr/>
        </p:nvSpPr>
        <p:spPr>
          <a:xfrm>
            <a:off x="548640" y="3931920"/>
            <a:ext cx="896112" cy="384048"/>
          </a:xfrm>
          <a:prstGeom prst="rect">
            <a:avLst/>
          </a:prstGeom>
          <a:noFill/>
          <a:ln/>
        </p:spPr>
        <p:txBody>
          <a:bodyPr wrap="square" lIns="0" tIns="0" rIns="0" bIns="0" rtlCol="0" anchor="ctr"/>
          <a:lstStyle/>
          <a:p>
            <a:pPr algn="ctr" indent="0" marL="0">
              <a:buNone/>
            </a:pPr>
            <a:r>
              <a:rPr lang="en-US" sz="1200" b="1" dirty="0">
                <a:solidFill>
                  <a:srgbClr val="1B3A5C"/>
                </a:solidFill>
                <a:latin typeface="Arial" pitchFamily="34" charset="0"/>
                <a:ea typeface="Arial" pitchFamily="34" charset="-122"/>
                <a:cs typeface="Arial" pitchFamily="34" charset="-120"/>
              </a:rPr>
              <a:t>Sultan</a:t>
            </a:r>
            <a:endParaRPr lang="en-US" sz="1200" dirty="0"/>
          </a:p>
        </p:txBody>
      </p:sp>
      <p:sp>
        <p:nvSpPr>
          <p:cNvPr id="7" name="Shape 5"/>
          <p:cNvSpPr/>
          <p:nvPr/>
        </p:nvSpPr>
        <p:spPr>
          <a:xfrm>
            <a:off x="1581912" y="3931920"/>
            <a:ext cx="608076" cy="384048"/>
          </a:xfrm>
          <a:prstGeom prst="roundRect">
            <a:avLst>
              <a:gd name="adj" fmla="val 28571"/>
            </a:avLst>
          </a:prstGeom>
          <a:solidFill>
            <a:srgbClr val="FFFFFF"/>
          </a:solidFill>
          <a:ln w="12700">
            <a:solidFill>
              <a:srgbClr val="FFFFFF"/>
            </a:solidFill>
            <a:prstDash val="solid"/>
          </a:ln>
        </p:spPr>
      </p:sp>
      <p:sp>
        <p:nvSpPr>
          <p:cNvPr id="8" name="Text 6"/>
          <p:cNvSpPr txBox="1"/>
          <p:nvPr/>
        </p:nvSpPr>
        <p:spPr>
          <a:xfrm>
            <a:off x="1581912" y="3931920"/>
            <a:ext cx="608076" cy="384048"/>
          </a:xfrm>
          <a:prstGeom prst="rect">
            <a:avLst/>
          </a:prstGeom>
          <a:noFill/>
          <a:ln/>
        </p:spPr>
        <p:txBody>
          <a:bodyPr wrap="square" lIns="0" tIns="0" rIns="0" bIns="0" rtlCol="0" anchor="ctr"/>
          <a:lstStyle/>
          <a:p>
            <a:pPr algn="ctr" indent="0" marL="0">
              <a:buNone/>
            </a:pPr>
            <a:r>
              <a:rPr lang="en-US" sz="1200" b="1" dirty="0">
                <a:solidFill>
                  <a:srgbClr val="1B3A5C"/>
                </a:solidFill>
                <a:latin typeface="Arial" pitchFamily="34" charset="0"/>
                <a:ea typeface="Arial" pitchFamily="34" charset="-122"/>
                <a:cs typeface="Arial" pitchFamily="34" charset="-120"/>
              </a:rPr>
              <a:t>Nim</a:t>
            </a:r>
            <a:endParaRPr lang="en-US" sz="1200" dirty="0"/>
          </a:p>
        </p:txBody>
      </p:sp>
      <p:sp>
        <p:nvSpPr>
          <p:cNvPr id="9" name="Shape 7"/>
          <p:cNvSpPr/>
          <p:nvPr/>
        </p:nvSpPr>
        <p:spPr>
          <a:xfrm>
            <a:off x="2327148" y="3931920"/>
            <a:ext cx="2240280" cy="384048"/>
          </a:xfrm>
          <a:prstGeom prst="roundRect">
            <a:avLst>
              <a:gd name="adj" fmla="val 28571"/>
            </a:avLst>
          </a:prstGeom>
          <a:solidFill>
            <a:srgbClr val="FFFFFF"/>
          </a:solidFill>
          <a:ln w="12700">
            <a:solidFill>
              <a:srgbClr val="FFFFFF"/>
            </a:solidFill>
            <a:prstDash val="solid"/>
          </a:ln>
        </p:spPr>
      </p:sp>
      <p:sp>
        <p:nvSpPr>
          <p:cNvPr id="10" name="Text 8"/>
          <p:cNvSpPr txBox="1"/>
          <p:nvPr/>
        </p:nvSpPr>
        <p:spPr>
          <a:xfrm>
            <a:off x="2327148" y="3931920"/>
            <a:ext cx="2240280" cy="384048"/>
          </a:xfrm>
          <a:prstGeom prst="rect">
            <a:avLst/>
          </a:prstGeom>
          <a:noFill/>
          <a:ln/>
        </p:spPr>
        <p:txBody>
          <a:bodyPr wrap="square" lIns="0" tIns="0" rIns="0" bIns="0" rtlCol="0" anchor="ctr"/>
          <a:lstStyle/>
          <a:p>
            <a:pPr algn="ctr" indent="0" marL="0">
              <a:buNone/>
            </a:pPr>
            <a:r>
              <a:rPr lang="en-US" sz="1200" b="1" dirty="0">
                <a:solidFill>
                  <a:srgbClr val="1B3A5C"/>
                </a:solidFill>
                <a:latin typeface="Arial" pitchFamily="34" charset="0"/>
                <a:ea typeface="Arial" pitchFamily="34" charset="-122"/>
                <a:cs typeface="Arial" pitchFamily="34" charset="-120"/>
              </a:rPr>
              <a:t>Tximinoak eta sugeak</a:t>
            </a:r>
            <a:endParaRPr lang="en-US" sz="1200" dirty="0"/>
          </a:p>
        </p:txBody>
      </p:sp>
      <p:sp>
        <p:nvSpPr>
          <p:cNvPr id="11" name="Shape 9"/>
          <p:cNvSpPr/>
          <p:nvPr/>
        </p:nvSpPr>
        <p:spPr>
          <a:xfrm>
            <a:off x="4704588" y="3931920"/>
            <a:ext cx="2048256" cy="384048"/>
          </a:xfrm>
          <a:prstGeom prst="roundRect">
            <a:avLst>
              <a:gd name="adj" fmla="val 28571"/>
            </a:avLst>
          </a:prstGeom>
          <a:solidFill>
            <a:srgbClr val="FFFFFF"/>
          </a:solidFill>
          <a:ln w="12700">
            <a:solidFill>
              <a:srgbClr val="FFFFFF"/>
            </a:solidFill>
            <a:prstDash val="solid"/>
          </a:ln>
        </p:spPr>
      </p:sp>
      <p:sp>
        <p:nvSpPr>
          <p:cNvPr id="12" name="Text 10"/>
          <p:cNvSpPr txBox="1"/>
          <p:nvPr/>
        </p:nvSpPr>
        <p:spPr>
          <a:xfrm>
            <a:off x="4704588" y="3931920"/>
            <a:ext cx="2048256" cy="384048"/>
          </a:xfrm>
          <a:prstGeom prst="rect">
            <a:avLst/>
          </a:prstGeom>
          <a:noFill/>
          <a:ln/>
        </p:spPr>
        <p:txBody>
          <a:bodyPr wrap="square" lIns="0" tIns="0" rIns="0" bIns="0" rtlCol="0" anchor="ctr"/>
          <a:lstStyle/>
          <a:p>
            <a:pPr algn="ctr" indent="0" marL="0">
              <a:buNone/>
            </a:pPr>
            <a:r>
              <a:rPr lang="en-US" sz="1200" b="1" dirty="0">
                <a:solidFill>
                  <a:srgbClr val="1B3A5C"/>
                </a:solidFill>
                <a:latin typeface="Arial" pitchFamily="34" charset="0"/>
                <a:ea typeface="Arial" pitchFamily="34" charset="-122"/>
                <a:cs typeface="Arial" pitchFamily="34" charset="-120"/>
              </a:rPr>
              <a:t>Kutxa misteriotsua</a:t>
            </a:r>
            <a:endParaRPr lang="en-US" sz="1200" dirty="0"/>
          </a:p>
        </p:txBody>
      </p:sp>
      <p:sp>
        <p:nvSpPr>
          <p:cNvPr id="13" name="Text 11"/>
          <p:cNvSpPr txBox="1"/>
          <p:nvPr/>
        </p:nvSpPr>
        <p:spPr>
          <a:xfrm>
            <a:off x="6309360" y="3931920"/>
            <a:ext cx="2286000" cy="384048"/>
          </a:xfrm>
          <a:prstGeom prst="rect">
            <a:avLst/>
          </a:prstGeom>
          <a:noFill/>
          <a:ln/>
        </p:spPr>
        <p:txBody>
          <a:bodyPr wrap="square" lIns="0" tIns="0" rIns="0" bIns="0" rtlCol="0" anchor="ctr"/>
          <a:lstStyle/>
          <a:p>
            <a:pPr algn="r" indent="0" marL="0">
              <a:buNone/>
            </a:pPr>
            <a:r>
              <a:rPr lang="en-US" sz="1200" dirty="0">
                <a:solidFill>
                  <a:srgbClr val="5B6573"/>
                </a:solidFill>
                <a:latin typeface="Arial" pitchFamily="34" charset="0"/>
                <a:ea typeface="Arial" pitchFamily="34" charset="-122"/>
                <a:cs typeface="Arial" pitchFamily="34" charset="-120"/>
              </a:rPr>
              <a:t>10 saio · hirukoteak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Zuek zarete ikertzaileak</a:t>
            </a:r>
            <a:endParaRPr lang="en-US" sz="2800" dirty="0"/>
          </a:p>
        </p:txBody>
      </p:sp>
      <p:sp>
        <p:nvSpPr>
          <p:cNvPr id="3" name="Text 1"/>
          <p:cNvSpPr txBox="1"/>
          <p:nvPr/>
        </p:nvSpPr>
        <p:spPr>
          <a:xfrm>
            <a:off x="457200" y="1097280"/>
            <a:ext cx="8229600" cy="548640"/>
          </a:xfrm>
          <a:prstGeom prst="rect">
            <a:avLst/>
          </a:prstGeom>
          <a:noFill/>
          <a:ln/>
        </p:spPr>
        <p:txBody>
          <a:bodyPr wrap="square" lIns="0" tIns="0" rIns="0" bIns="0" rtlCol="0" anchor="t"/>
          <a:lstStyle/>
          <a:p>
            <a:pPr indent="0" marL="0">
              <a:buNone/>
            </a:pPr>
            <a:r>
              <a:rPr lang="en-US" sz="1800" b="1" dirty="0">
                <a:solidFill>
                  <a:srgbClr val="1B3A5C"/>
                </a:solidFill>
                <a:latin typeface="Arial" pitchFamily="34" charset="0"/>
                <a:ea typeface="Arial" pitchFamily="34" charset="-122"/>
                <a:cs typeface="Arial" pitchFamily="34" charset="-120"/>
              </a:rPr>
              <a:t>Primateek nola ikasten duten aztertuta, zer ikas dezakegu gizakion ikaskuntzaz?</a:t>
            </a:r>
            <a:endParaRPr lang="en-US" sz="1800" dirty="0"/>
          </a:p>
        </p:txBody>
      </p:sp>
      <p:sp>
        <p:nvSpPr>
          <p:cNvPr id="4" name="Shape 2"/>
          <p:cNvSpPr/>
          <p:nvPr/>
        </p:nvSpPr>
        <p:spPr>
          <a:xfrm>
            <a:off x="457200" y="1874520"/>
            <a:ext cx="2596896" cy="1828800"/>
          </a:xfrm>
          <a:prstGeom prst="roundRect">
            <a:avLst>
              <a:gd name="adj" fmla="val 6000"/>
            </a:avLst>
          </a:prstGeom>
          <a:solidFill>
            <a:srgbClr val="F7F7F5"/>
          </a:solidFill>
          <a:ln w="12700">
            <a:solidFill>
              <a:srgbClr val="F7F7F5"/>
            </a:solidFill>
            <a:prstDash val="solid"/>
          </a:ln>
        </p:spPr>
      </p:sp>
      <p:sp>
        <p:nvSpPr>
          <p:cNvPr id="5" name="Shape 3"/>
          <p:cNvSpPr/>
          <p:nvPr/>
        </p:nvSpPr>
        <p:spPr>
          <a:xfrm>
            <a:off x="685800" y="2057400"/>
            <a:ext cx="640080" cy="64008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52221" y="2223821"/>
            <a:ext cx="307238" cy="307238"/>
          </a:xfrm>
          <a:prstGeom prst="rect">
            <a:avLst/>
          </a:prstGeom>
        </p:spPr>
      </p:pic>
      <p:sp>
        <p:nvSpPr>
          <p:cNvPr id="7" name="Text 4"/>
          <p:cNvSpPr txBox="1"/>
          <p:nvPr/>
        </p:nvSpPr>
        <p:spPr>
          <a:xfrm>
            <a:off x="685800" y="2788920"/>
            <a:ext cx="2194560" cy="320040"/>
          </a:xfrm>
          <a:prstGeom prst="rect">
            <a:avLst/>
          </a:prstGeom>
          <a:noFill/>
          <a:ln/>
        </p:spPr>
        <p:txBody>
          <a:bodyPr wrap="square" lIns="0" tIns="0" rIns="0" bIns="0" rtlCol="0" anchor="t"/>
          <a:lstStyle/>
          <a:p>
            <a:pPr indent="0" marL="0">
              <a:buNone/>
            </a:pPr>
            <a:r>
              <a:rPr lang="en-US" sz="1700" b="1" dirty="0">
                <a:solidFill>
                  <a:srgbClr val="1B3A5C"/>
                </a:solidFill>
                <a:latin typeface="Arial" pitchFamily="34" charset="0"/>
                <a:ea typeface="Arial" pitchFamily="34" charset="-122"/>
                <a:cs typeface="Arial" pitchFamily="34" charset="-120"/>
              </a:rPr>
              <a:t>Ikertu</a:t>
            </a:r>
            <a:endParaRPr lang="en-US" sz="1700" dirty="0"/>
          </a:p>
        </p:txBody>
      </p:sp>
      <p:sp>
        <p:nvSpPr>
          <p:cNvPr id="8" name="Text 5"/>
          <p:cNvSpPr txBox="1"/>
          <p:nvPr/>
        </p:nvSpPr>
        <p:spPr>
          <a:xfrm>
            <a:off x="685800" y="3127248"/>
            <a:ext cx="2194560" cy="54864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Benetako lau ikerketa: diseinua, datuak eta interpretazioak.</a:t>
            </a:r>
            <a:endParaRPr lang="en-US" sz="1250" dirty="0"/>
          </a:p>
        </p:txBody>
      </p:sp>
      <p:sp>
        <p:nvSpPr>
          <p:cNvPr id="9" name="Shape 6"/>
          <p:cNvSpPr/>
          <p:nvPr/>
        </p:nvSpPr>
        <p:spPr>
          <a:xfrm>
            <a:off x="3273552" y="1874520"/>
            <a:ext cx="2596896" cy="1828800"/>
          </a:xfrm>
          <a:prstGeom prst="roundRect">
            <a:avLst>
              <a:gd name="adj" fmla="val 6000"/>
            </a:avLst>
          </a:prstGeom>
          <a:solidFill>
            <a:srgbClr val="F7F7F5"/>
          </a:solidFill>
          <a:ln w="12700">
            <a:solidFill>
              <a:srgbClr val="F7F7F5"/>
            </a:solidFill>
            <a:prstDash val="solid"/>
          </a:ln>
        </p:spPr>
      </p:sp>
      <p:sp>
        <p:nvSpPr>
          <p:cNvPr id="10" name="Shape 7"/>
          <p:cNvSpPr/>
          <p:nvPr/>
        </p:nvSpPr>
        <p:spPr>
          <a:xfrm>
            <a:off x="3502152" y="2057400"/>
            <a:ext cx="640080" cy="64008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668573" y="2223821"/>
            <a:ext cx="307238" cy="307238"/>
          </a:xfrm>
          <a:prstGeom prst="rect">
            <a:avLst/>
          </a:prstGeom>
        </p:spPr>
      </p:pic>
      <p:sp>
        <p:nvSpPr>
          <p:cNvPr id="12" name="Text 8"/>
          <p:cNvSpPr txBox="1"/>
          <p:nvPr/>
        </p:nvSpPr>
        <p:spPr>
          <a:xfrm>
            <a:off x="3502152" y="2788920"/>
            <a:ext cx="2194560" cy="320040"/>
          </a:xfrm>
          <a:prstGeom prst="rect">
            <a:avLst/>
          </a:prstGeom>
          <a:noFill/>
          <a:ln/>
        </p:spPr>
        <p:txBody>
          <a:bodyPr wrap="square" lIns="0" tIns="0" rIns="0" bIns="0" rtlCol="0" anchor="t"/>
          <a:lstStyle/>
          <a:p>
            <a:pPr indent="0" marL="0">
              <a:buNone/>
            </a:pPr>
            <a:r>
              <a:rPr lang="en-US" sz="1700" b="1" dirty="0">
                <a:solidFill>
                  <a:srgbClr val="1B3A5C"/>
                </a:solidFill>
                <a:latin typeface="Arial" pitchFamily="34" charset="0"/>
                <a:ea typeface="Arial" pitchFamily="34" charset="-122"/>
                <a:cs typeface="Arial" pitchFamily="34" charset="-120"/>
              </a:rPr>
              <a:t>Diseinatu</a:t>
            </a:r>
            <a:endParaRPr lang="en-US" sz="1700" dirty="0"/>
          </a:p>
        </p:txBody>
      </p:sp>
      <p:sp>
        <p:nvSpPr>
          <p:cNvPr id="13" name="Text 9"/>
          <p:cNvSpPr txBox="1"/>
          <p:nvPr/>
        </p:nvSpPr>
        <p:spPr>
          <a:xfrm>
            <a:off x="3502152" y="3127248"/>
            <a:ext cx="2194560" cy="54864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Zuen esperimentu txikia, gelan, gelakideekin.</a:t>
            </a:r>
            <a:endParaRPr lang="en-US" sz="1250" dirty="0"/>
          </a:p>
        </p:txBody>
      </p:sp>
      <p:sp>
        <p:nvSpPr>
          <p:cNvPr id="14" name="Shape 10"/>
          <p:cNvSpPr/>
          <p:nvPr/>
        </p:nvSpPr>
        <p:spPr>
          <a:xfrm>
            <a:off x="6089904" y="1874520"/>
            <a:ext cx="2596896" cy="1828800"/>
          </a:xfrm>
          <a:prstGeom prst="roundRect">
            <a:avLst>
              <a:gd name="adj" fmla="val 6000"/>
            </a:avLst>
          </a:prstGeom>
          <a:solidFill>
            <a:srgbClr val="F7F7F5"/>
          </a:solidFill>
          <a:ln w="12700">
            <a:solidFill>
              <a:srgbClr val="F7F7F5"/>
            </a:solidFill>
            <a:prstDash val="solid"/>
          </a:ln>
        </p:spPr>
      </p:sp>
      <p:sp>
        <p:nvSpPr>
          <p:cNvPr id="15" name="Shape 11"/>
          <p:cNvSpPr/>
          <p:nvPr/>
        </p:nvSpPr>
        <p:spPr>
          <a:xfrm>
            <a:off x="6318504" y="2057400"/>
            <a:ext cx="640080" cy="64008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84925" y="2223821"/>
            <a:ext cx="307238" cy="307238"/>
          </a:xfrm>
          <a:prstGeom prst="rect">
            <a:avLst/>
          </a:prstGeom>
        </p:spPr>
      </p:pic>
      <p:sp>
        <p:nvSpPr>
          <p:cNvPr id="17" name="Text 12"/>
          <p:cNvSpPr txBox="1"/>
          <p:nvPr/>
        </p:nvSpPr>
        <p:spPr>
          <a:xfrm>
            <a:off x="6318504" y="2788920"/>
            <a:ext cx="2194560" cy="320040"/>
          </a:xfrm>
          <a:prstGeom prst="rect">
            <a:avLst/>
          </a:prstGeom>
          <a:noFill/>
          <a:ln/>
        </p:spPr>
        <p:txBody>
          <a:bodyPr wrap="square" lIns="0" tIns="0" rIns="0" bIns="0" rtlCol="0" anchor="t"/>
          <a:lstStyle/>
          <a:p>
            <a:pPr indent="0" marL="0">
              <a:buNone/>
            </a:pPr>
            <a:r>
              <a:rPr lang="en-US" sz="1700" b="1" dirty="0">
                <a:solidFill>
                  <a:srgbClr val="1B3A5C"/>
                </a:solidFill>
                <a:latin typeface="Arial" pitchFamily="34" charset="0"/>
                <a:ea typeface="Arial" pitchFamily="34" charset="-122"/>
                <a:cs typeface="Arial" pitchFamily="34" charset="-120"/>
              </a:rPr>
              <a:t>Defendatu</a:t>
            </a:r>
            <a:endParaRPr lang="en-US" sz="1700" dirty="0"/>
          </a:p>
        </p:txBody>
      </p:sp>
      <p:sp>
        <p:nvSpPr>
          <p:cNvPr id="18" name="Text 13"/>
          <p:cNvSpPr txBox="1"/>
          <p:nvPr/>
        </p:nvSpPr>
        <p:spPr>
          <a:xfrm>
            <a:off x="6318504" y="3127248"/>
            <a:ext cx="2194560" cy="54864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Ondorio garbiak, ebidentziarekin, ahoz eta idatziz.</a:t>
            </a:r>
            <a:endParaRPr lang="en-US" sz="1250" dirty="0"/>
          </a:p>
        </p:txBody>
      </p:sp>
      <p:sp>
        <p:nvSpPr>
          <p:cNvPr id="19" name="Text 14"/>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300" i="1" dirty="0">
                <a:solidFill>
                  <a:srgbClr val="5B6573"/>
                </a:solidFill>
                <a:latin typeface="Arial" pitchFamily="34" charset="0"/>
                <a:ea typeface="Arial" pitchFamily="34" charset="-122"/>
                <a:cs typeface="Arial" pitchFamily="34" charset="-120"/>
              </a:rPr>
              <a:t>Teoria tresna gisa agertuko da: datuak interpretatzeko behar dugunean. Eta zuek izango zarete, aldi berean, ikertzaile eta ikerketa-objektu.</a:t>
            </a:r>
            <a:endParaRPr lang="en-US" sz="13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Ibilbidea: hamar saio</a:t>
            </a:r>
            <a:endParaRPr lang="en-US" sz="2800" dirty="0"/>
          </a:p>
        </p:txBody>
      </p:sp>
      <p:sp>
        <p:nvSpPr>
          <p:cNvPr id="3" name="Shape 1"/>
          <p:cNvSpPr/>
          <p:nvPr/>
        </p:nvSpPr>
        <p:spPr>
          <a:xfrm>
            <a:off x="457200" y="1188720"/>
            <a:ext cx="1554480" cy="1508760"/>
          </a:xfrm>
          <a:prstGeom prst="roundRect">
            <a:avLst>
              <a:gd name="adj" fmla="val 7273"/>
            </a:avLst>
          </a:prstGeom>
          <a:solidFill>
            <a:srgbClr val="EDD4ED"/>
          </a:solidFill>
          <a:ln w="12700">
            <a:solidFill>
              <a:srgbClr val="EDD4ED"/>
            </a:solidFill>
            <a:prstDash val="solid"/>
          </a:ln>
        </p:spPr>
      </p:sp>
      <p:sp>
        <p:nvSpPr>
          <p:cNvPr id="4" name="Text 2"/>
          <p:cNvSpPr txBox="1"/>
          <p:nvPr/>
        </p:nvSpPr>
        <p:spPr>
          <a:xfrm>
            <a:off x="594360" y="1298448"/>
            <a:ext cx="1280160" cy="365760"/>
          </a:xfrm>
          <a:prstGeom prst="rect">
            <a:avLst/>
          </a:prstGeom>
          <a:noFill/>
          <a:ln/>
        </p:spPr>
        <p:txBody>
          <a:bodyPr wrap="square" lIns="0" tIns="0" rIns="0" bIns="0" rtlCol="0" anchor="t"/>
          <a:lstStyle/>
          <a:p>
            <a:pPr indent="0" marL="0">
              <a:buNone/>
            </a:pPr>
            <a:r>
              <a:rPr lang="en-US" sz="2000" b="1" dirty="0">
                <a:solidFill>
                  <a:srgbClr val="5C1A5C"/>
                </a:solidFill>
                <a:latin typeface="Arial" pitchFamily="34" charset="0"/>
                <a:ea typeface="Arial" pitchFamily="34" charset="-122"/>
                <a:cs typeface="Arial" pitchFamily="34" charset="-120"/>
              </a:rPr>
              <a:t>S1</a:t>
            </a:r>
            <a:endParaRPr lang="en-US" sz="2000" dirty="0"/>
          </a:p>
        </p:txBody>
      </p:sp>
      <p:sp>
        <p:nvSpPr>
          <p:cNvPr id="5" name="Text 3"/>
          <p:cNvSpPr txBox="1"/>
          <p:nvPr/>
        </p:nvSpPr>
        <p:spPr>
          <a:xfrm>
            <a:off x="594360" y="169164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Kutxa misteriotsua</a:t>
            </a:r>
            <a:endParaRPr lang="en-US" sz="1300" dirty="0"/>
          </a:p>
        </p:txBody>
      </p:sp>
      <p:sp>
        <p:nvSpPr>
          <p:cNvPr id="6" name="Text 4"/>
          <p:cNvSpPr txBox="1"/>
          <p:nvPr/>
        </p:nvSpPr>
        <p:spPr>
          <a:xfrm>
            <a:off x="594360" y="221284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Fenomenoa eta hipotesiak</a:t>
            </a:r>
            <a:endParaRPr lang="en-US" sz="1050" dirty="0"/>
          </a:p>
        </p:txBody>
      </p:sp>
      <p:sp>
        <p:nvSpPr>
          <p:cNvPr id="7" name="Shape 5"/>
          <p:cNvSpPr/>
          <p:nvPr/>
        </p:nvSpPr>
        <p:spPr>
          <a:xfrm>
            <a:off x="2125980" y="1188720"/>
            <a:ext cx="1554480" cy="1508760"/>
          </a:xfrm>
          <a:prstGeom prst="roundRect">
            <a:avLst>
              <a:gd name="adj" fmla="val 7273"/>
            </a:avLst>
          </a:prstGeom>
          <a:solidFill>
            <a:srgbClr val="D6E8F7"/>
          </a:solidFill>
          <a:ln w="12700">
            <a:solidFill>
              <a:srgbClr val="D6E8F7"/>
            </a:solidFill>
            <a:prstDash val="solid"/>
          </a:ln>
        </p:spPr>
      </p:sp>
      <p:sp>
        <p:nvSpPr>
          <p:cNvPr id="8" name="Text 6"/>
          <p:cNvSpPr txBox="1"/>
          <p:nvPr/>
        </p:nvSpPr>
        <p:spPr>
          <a:xfrm>
            <a:off x="2263140" y="1298448"/>
            <a:ext cx="1280160" cy="365760"/>
          </a:xfrm>
          <a:prstGeom prst="rect">
            <a:avLst/>
          </a:prstGeom>
          <a:noFill/>
          <a:ln/>
        </p:spPr>
        <p:txBody>
          <a:bodyPr wrap="square" lIns="0" tIns="0" rIns="0" bIns="0" rtlCol="0" anchor="t"/>
          <a:lstStyle/>
          <a:p>
            <a:pPr indent="0" marL="0">
              <a:buNone/>
            </a:pPr>
            <a:r>
              <a:rPr lang="en-US" sz="2000" b="1" dirty="0">
                <a:solidFill>
                  <a:srgbClr val="1B3A5C"/>
                </a:solidFill>
                <a:latin typeface="Arial" pitchFamily="34" charset="0"/>
                <a:ea typeface="Arial" pitchFamily="34" charset="-122"/>
                <a:cs typeface="Arial" pitchFamily="34" charset="-120"/>
              </a:rPr>
              <a:t>S2</a:t>
            </a:r>
            <a:endParaRPr lang="en-US" sz="2000" dirty="0"/>
          </a:p>
        </p:txBody>
      </p:sp>
      <p:sp>
        <p:nvSpPr>
          <p:cNvPr id="9" name="Text 7"/>
          <p:cNvSpPr txBox="1"/>
          <p:nvPr/>
        </p:nvSpPr>
        <p:spPr>
          <a:xfrm>
            <a:off x="2263140" y="169164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Moldaketa-jokoa</a:t>
            </a:r>
            <a:endParaRPr lang="en-US" sz="1300" dirty="0"/>
          </a:p>
        </p:txBody>
      </p:sp>
      <p:sp>
        <p:nvSpPr>
          <p:cNvPr id="10" name="Text 8"/>
          <p:cNvSpPr txBox="1"/>
          <p:nvPr/>
        </p:nvSpPr>
        <p:spPr>
          <a:xfrm>
            <a:off x="2263140" y="221284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Operantea, gure gorputzean</a:t>
            </a:r>
            <a:endParaRPr lang="en-US" sz="1050" dirty="0"/>
          </a:p>
        </p:txBody>
      </p:sp>
      <p:sp>
        <p:nvSpPr>
          <p:cNvPr id="11" name="Shape 9"/>
          <p:cNvSpPr/>
          <p:nvPr/>
        </p:nvSpPr>
        <p:spPr>
          <a:xfrm>
            <a:off x="3794760" y="1188720"/>
            <a:ext cx="1554480" cy="1508760"/>
          </a:xfrm>
          <a:prstGeom prst="roundRect">
            <a:avLst>
              <a:gd name="adj" fmla="val 7273"/>
            </a:avLst>
          </a:prstGeom>
          <a:solidFill>
            <a:srgbClr val="D6E8F7"/>
          </a:solidFill>
          <a:ln w="12700">
            <a:solidFill>
              <a:srgbClr val="D6E8F7"/>
            </a:solidFill>
            <a:prstDash val="solid"/>
          </a:ln>
        </p:spPr>
      </p:sp>
      <p:sp>
        <p:nvSpPr>
          <p:cNvPr id="12" name="Text 10"/>
          <p:cNvSpPr txBox="1"/>
          <p:nvPr/>
        </p:nvSpPr>
        <p:spPr>
          <a:xfrm>
            <a:off x="3931920" y="1298448"/>
            <a:ext cx="1280160" cy="365760"/>
          </a:xfrm>
          <a:prstGeom prst="rect">
            <a:avLst/>
          </a:prstGeom>
          <a:noFill/>
          <a:ln/>
        </p:spPr>
        <p:txBody>
          <a:bodyPr wrap="square" lIns="0" tIns="0" rIns="0" bIns="0" rtlCol="0" anchor="t"/>
          <a:lstStyle/>
          <a:p>
            <a:pPr indent="0" marL="0">
              <a:buNone/>
            </a:pPr>
            <a:r>
              <a:rPr lang="en-US" sz="2000" b="1" dirty="0">
                <a:solidFill>
                  <a:srgbClr val="1B3A5C"/>
                </a:solidFill>
                <a:latin typeface="Arial" pitchFamily="34" charset="0"/>
                <a:ea typeface="Arial" pitchFamily="34" charset="-122"/>
                <a:cs typeface="Arial" pitchFamily="34" charset="-120"/>
              </a:rPr>
              <a:t>S3</a:t>
            </a:r>
            <a:endParaRPr lang="en-US" sz="2000" dirty="0"/>
          </a:p>
        </p:txBody>
      </p:sp>
      <p:sp>
        <p:nvSpPr>
          <p:cNvPr id="13" name="Text 11"/>
          <p:cNvSpPr txBox="1"/>
          <p:nvPr/>
        </p:nvSpPr>
        <p:spPr>
          <a:xfrm>
            <a:off x="3931920" y="169164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Sultan eta kaxak</a:t>
            </a:r>
            <a:endParaRPr lang="en-US" sz="1300" dirty="0"/>
          </a:p>
        </p:txBody>
      </p:sp>
      <p:sp>
        <p:nvSpPr>
          <p:cNvPr id="14" name="Text 12"/>
          <p:cNvSpPr txBox="1"/>
          <p:nvPr/>
        </p:nvSpPr>
        <p:spPr>
          <a:xfrm>
            <a:off x="3931920" y="221284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1. kasua · kognitiboa</a:t>
            </a:r>
            <a:endParaRPr lang="en-US" sz="1050" dirty="0"/>
          </a:p>
        </p:txBody>
      </p:sp>
      <p:sp>
        <p:nvSpPr>
          <p:cNvPr id="15" name="Shape 13"/>
          <p:cNvSpPr/>
          <p:nvPr/>
        </p:nvSpPr>
        <p:spPr>
          <a:xfrm>
            <a:off x="5463540" y="1188720"/>
            <a:ext cx="1554480" cy="1508760"/>
          </a:xfrm>
          <a:prstGeom prst="roundRect">
            <a:avLst>
              <a:gd name="adj" fmla="val 7273"/>
            </a:avLst>
          </a:prstGeom>
          <a:solidFill>
            <a:srgbClr val="D6E8F7"/>
          </a:solidFill>
          <a:ln w="12700">
            <a:solidFill>
              <a:srgbClr val="D6E8F7"/>
            </a:solidFill>
            <a:prstDash val="solid"/>
          </a:ln>
        </p:spPr>
      </p:sp>
      <p:sp>
        <p:nvSpPr>
          <p:cNvPr id="16" name="Text 14"/>
          <p:cNvSpPr txBox="1"/>
          <p:nvPr/>
        </p:nvSpPr>
        <p:spPr>
          <a:xfrm>
            <a:off x="5600700" y="1298448"/>
            <a:ext cx="1280160" cy="365760"/>
          </a:xfrm>
          <a:prstGeom prst="rect">
            <a:avLst/>
          </a:prstGeom>
          <a:noFill/>
          <a:ln/>
        </p:spPr>
        <p:txBody>
          <a:bodyPr wrap="square" lIns="0" tIns="0" rIns="0" bIns="0" rtlCol="0" anchor="t"/>
          <a:lstStyle/>
          <a:p>
            <a:pPr indent="0" marL="0">
              <a:buNone/>
            </a:pPr>
            <a:r>
              <a:rPr lang="en-US" sz="2000" b="1" dirty="0">
                <a:solidFill>
                  <a:srgbClr val="1B3A5C"/>
                </a:solidFill>
                <a:latin typeface="Arial" pitchFamily="34" charset="0"/>
                <a:ea typeface="Arial" pitchFamily="34" charset="-122"/>
                <a:cs typeface="Arial" pitchFamily="34" charset="-120"/>
              </a:rPr>
              <a:t>S4</a:t>
            </a:r>
            <a:endParaRPr lang="en-US" sz="2000" dirty="0"/>
          </a:p>
        </p:txBody>
      </p:sp>
      <p:sp>
        <p:nvSpPr>
          <p:cNvPr id="17" name="Text 15"/>
          <p:cNvSpPr txBox="1"/>
          <p:nvPr/>
        </p:nvSpPr>
        <p:spPr>
          <a:xfrm>
            <a:off x="5600700" y="169164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Nim Chimpsky</a:t>
            </a:r>
            <a:endParaRPr lang="en-US" sz="1300" dirty="0"/>
          </a:p>
        </p:txBody>
      </p:sp>
      <p:sp>
        <p:nvSpPr>
          <p:cNvPr id="18" name="Text 16"/>
          <p:cNvSpPr txBox="1"/>
          <p:nvPr/>
        </p:nvSpPr>
        <p:spPr>
          <a:xfrm>
            <a:off x="5600700" y="221284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2. kasua · operantea</a:t>
            </a:r>
            <a:endParaRPr lang="en-US" sz="1050" dirty="0"/>
          </a:p>
        </p:txBody>
      </p:sp>
      <p:sp>
        <p:nvSpPr>
          <p:cNvPr id="19" name="Shape 17"/>
          <p:cNvSpPr/>
          <p:nvPr/>
        </p:nvSpPr>
        <p:spPr>
          <a:xfrm>
            <a:off x="7132320" y="1188720"/>
            <a:ext cx="1554480" cy="1508760"/>
          </a:xfrm>
          <a:prstGeom prst="roundRect">
            <a:avLst>
              <a:gd name="adj" fmla="val 7273"/>
            </a:avLst>
          </a:prstGeom>
          <a:solidFill>
            <a:srgbClr val="D6E8F7"/>
          </a:solidFill>
          <a:ln w="12700">
            <a:solidFill>
              <a:srgbClr val="D6E8F7"/>
            </a:solidFill>
            <a:prstDash val="solid"/>
          </a:ln>
        </p:spPr>
      </p:sp>
      <p:sp>
        <p:nvSpPr>
          <p:cNvPr id="20" name="Text 18"/>
          <p:cNvSpPr txBox="1"/>
          <p:nvPr/>
        </p:nvSpPr>
        <p:spPr>
          <a:xfrm>
            <a:off x="7269480" y="1298448"/>
            <a:ext cx="1280160" cy="365760"/>
          </a:xfrm>
          <a:prstGeom prst="rect">
            <a:avLst/>
          </a:prstGeom>
          <a:noFill/>
          <a:ln/>
        </p:spPr>
        <p:txBody>
          <a:bodyPr wrap="square" lIns="0" tIns="0" rIns="0" bIns="0" rtlCol="0" anchor="t"/>
          <a:lstStyle/>
          <a:p>
            <a:pPr indent="0" marL="0">
              <a:buNone/>
            </a:pPr>
            <a:r>
              <a:rPr lang="en-US" sz="2000" b="1" dirty="0">
                <a:solidFill>
                  <a:srgbClr val="1B3A5C"/>
                </a:solidFill>
                <a:latin typeface="Arial" pitchFamily="34" charset="0"/>
                <a:ea typeface="Arial" pitchFamily="34" charset="-122"/>
                <a:cs typeface="Arial" pitchFamily="34" charset="-120"/>
              </a:rPr>
              <a:t>S5</a:t>
            </a:r>
            <a:endParaRPr lang="en-US" sz="2000" dirty="0"/>
          </a:p>
        </p:txBody>
      </p:sp>
      <p:sp>
        <p:nvSpPr>
          <p:cNvPr id="21" name="Text 19"/>
          <p:cNvSpPr txBox="1"/>
          <p:nvPr/>
        </p:nvSpPr>
        <p:spPr>
          <a:xfrm>
            <a:off x="7269480" y="169164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Tximinoak eta sugeak</a:t>
            </a:r>
            <a:endParaRPr lang="en-US" sz="1300" dirty="0"/>
          </a:p>
        </p:txBody>
      </p:sp>
      <p:sp>
        <p:nvSpPr>
          <p:cNvPr id="22" name="Text 20"/>
          <p:cNvSpPr txBox="1"/>
          <p:nvPr/>
        </p:nvSpPr>
        <p:spPr>
          <a:xfrm>
            <a:off x="7269480" y="221284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3. kasua · klasikoa</a:t>
            </a:r>
            <a:endParaRPr lang="en-US" sz="1050" dirty="0"/>
          </a:p>
        </p:txBody>
      </p:sp>
      <p:sp>
        <p:nvSpPr>
          <p:cNvPr id="23" name="Shape 21"/>
          <p:cNvSpPr/>
          <p:nvPr/>
        </p:nvSpPr>
        <p:spPr>
          <a:xfrm>
            <a:off x="457200" y="2926080"/>
            <a:ext cx="1554480" cy="1508760"/>
          </a:xfrm>
          <a:prstGeom prst="roundRect">
            <a:avLst>
              <a:gd name="adj" fmla="val 7273"/>
            </a:avLst>
          </a:prstGeom>
          <a:solidFill>
            <a:srgbClr val="EDD4ED"/>
          </a:solidFill>
          <a:ln w="12700">
            <a:solidFill>
              <a:srgbClr val="EDD4ED"/>
            </a:solidFill>
            <a:prstDash val="solid"/>
          </a:ln>
        </p:spPr>
      </p:sp>
      <p:sp>
        <p:nvSpPr>
          <p:cNvPr id="24" name="Text 22"/>
          <p:cNvSpPr txBox="1"/>
          <p:nvPr/>
        </p:nvSpPr>
        <p:spPr>
          <a:xfrm>
            <a:off x="594360" y="3035808"/>
            <a:ext cx="1280160" cy="365760"/>
          </a:xfrm>
          <a:prstGeom prst="rect">
            <a:avLst/>
          </a:prstGeom>
          <a:noFill/>
          <a:ln/>
        </p:spPr>
        <p:txBody>
          <a:bodyPr wrap="square" lIns="0" tIns="0" rIns="0" bIns="0" rtlCol="0" anchor="t"/>
          <a:lstStyle/>
          <a:p>
            <a:pPr indent="0" marL="0">
              <a:buNone/>
            </a:pPr>
            <a:r>
              <a:rPr lang="en-US" sz="2000" b="1" dirty="0">
                <a:solidFill>
                  <a:srgbClr val="5C1A5C"/>
                </a:solidFill>
                <a:latin typeface="Arial" pitchFamily="34" charset="0"/>
                <a:ea typeface="Arial" pitchFamily="34" charset="-122"/>
                <a:cs typeface="Arial" pitchFamily="34" charset="-120"/>
              </a:rPr>
              <a:t>S6</a:t>
            </a:r>
            <a:endParaRPr lang="en-US" sz="2000" dirty="0"/>
          </a:p>
        </p:txBody>
      </p:sp>
      <p:sp>
        <p:nvSpPr>
          <p:cNvPr id="25" name="Text 23"/>
          <p:cNvSpPr txBox="1"/>
          <p:nvPr/>
        </p:nvSpPr>
        <p:spPr>
          <a:xfrm>
            <a:off x="594360" y="342900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Kutxara itzuli</a:t>
            </a:r>
            <a:endParaRPr lang="en-US" sz="1300" dirty="0"/>
          </a:p>
        </p:txBody>
      </p:sp>
      <p:sp>
        <p:nvSpPr>
          <p:cNvPr id="26" name="Text 24"/>
          <p:cNvSpPr txBox="1"/>
          <p:nvPr/>
        </p:nvSpPr>
        <p:spPr>
          <a:xfrm>
            <a:off x="594360" y="395020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4. kasua · behaketa</a:t>
            </a:r>
            <a:endParaRPr lang="en-US" sz="1050" dirty="0"/>
          </a:p>
        </p:txBody>
      </p:sp>
      <p:sp>
        <p:nvSpPr>
          <p:cNvPr id="27" name="Shape 25"/>
          <p:cNvSpPr/>
          <p:nvPr/>
        </p:nvSpPr>
        <p:spPr>
          <a:xfrm>
            <a:off x="2125980" y="2926080"/>
            <a:ext cx="1554480" cy="1508760"/>
          </a:xfrm>
          <a:prstGeom prst="roundRect">
            <a:avLst>
              <a:gd name="adj" fmla="val 7273"/>
            </a:avLst>
          </a:prstGeom>
          <a:solidFill>
            <a:srgbClr val="FAE5D3"/>
          </a:solidFill>
          <a:ln w="12700">
            <a:solidFill>
              <a:srgbClr val="FAE5D3"/>
            </a:solidFill>
            <a:prstDash val="solid"/>
          </a:ln>
        </p:spPr>
      </p:sp>
      <p:sp>
        <p:nvSpPr>
          <p:cNvPr id="28" name="Text 26"/>
          <p:cNvSpPr txBox="1"/>
          <p:nvPr/>
        </p:nvSpPr>
        <p:spPr>
          <a:xfrm>
            <a:off x="2263140" y="3035808"/>
            <a:ext cx="1280160" cy="365760"/>
          </a:xfrm>
          <a:prstGeom prst="rect">
            <a:avLst/>
          </a:prstGeom>
          <a:noFill/>
          <a:ln/>
        </p:spPr>
        <p:txBody>
          <a:bodyPr wrap="square" lIns="0" tIns="0" rIns="0" bIns="0" rtlCol="0" anchor="t"/>
          <a:lstStyle/>
          <a:p>
            <a:pPr indent="0" marL="0">
              <a:buNone/>
            </a:pPr>
            <a:r>
              <a:rPr lang="en-US" sz="2000" b="1" dirty="0">
                <a:solidFill>
                  <a:srgbClr val="8C3A00"/>
                </a:solidFill>
                <a:latin typeface="Arial" pitchFamily="34" charset="0"/>
                <a:ea typeface="Arial" pitchFamily="34" charset="-122"/>
                <a:cs typeface="Arial" pitchFamily="34" charset="-120"/>
              </a:rPr>
              <a:t>S7</a:t>
            </a:r>
            <a:endParaRPr lang="en-US" sz="2000" dirty="0"/>
          </a:p>
        </p:txBody>
      </p:sp>
      <p:sp>
        <p:nvSpPr>
          <p:cNvPr id="29" name="Text 27"/>
          <p:cNvSpPr txBox="1"/>
          <p:nvPr/>
        </p:nvSpPr>
        <p:spPr>
          <a:xfrm>
            <a:off x="2263140" y="342900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Gure esperimentua</a:t>
            </a:r>
            <a:endParaRPr lang="en-US" sz="1300" dirty="0"/>
          </a:p>
        </p:txBody>
      </p:sp>
      <p:sp>
        <p:nvSpPr>
          <p:cNvPr id="30" name="Text 28"/>
          <p:cNvSpPr txBox="1"/>
          <p:nvPr/>
        </p:nvSpPr>
        <p:spPr>
          <a:xfrm>
            <a:off x="2263140" y="395020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Datuak sortu</a:t>
            </a:r>
            <a:endParaRPr lang="en-US" sz="1050" dirty="0"/>
          </a:p>
        </p:txBody>
      </p:sp>
      <p:sp>
        <p:nvSpPr>
          <p:cNvPr id="31" name="Shape 29"/>
          <p:cNvSpPr/>
          <p:nvPr/>
        </p:nvSpPr>
        <p:spPr>
          <a:xfrm>
            <a:off x="3794760" y="2926080"/>
            <a:ext cx="1554480" cy="1508760"/>
          </a:xfrm>
          <a:prstGeom prst="roundRect">
            <a:avLst>
              <a:gd name="adj" fmla="val 7273"/>
            </a:avLst>
          </a:prstGeom>
          <a:solidFill>
            <a:srgbClr val="FAE5D3"/>
          </a:solidFill>
          <a:ln w="12700">
            <a:solidFill>
              <a:srgbClr val="FAE5D3"/>
            </a:solidFill>
            <a:prstDash val="solid"/>
          </a:ln>
        </p:spPr>
      </p:sp>
      <p:sp>
        <p:nvSpPr>
          <p:cNvPr id="32" name="Text 30"/>
          <p:cNvSpPr txBox="1"/>
          <p:nvPr/>
        </p:nvSpPr>
        <p:spPr>
          <a:xfrm>
            <a:off x="3931920" y="3035808"/>
            <a:ext cx="1280160" cy="365760"/>
          </a:xfrm>
          <a:prstGeom prst="rect">
            <a:avLst/>
          </a:prstGeom>
          <a:noFill/>
          <a:ln/>
        </p:spPr>
        <p:txBody>
          <a:bodyPr wrap="square" lIns="0" tIns="0" rIns="0" bIns="0" rtlCol="0" anchor="t"/>
          <a:lstStyle/>
          <a:p>
            <a:pPr indent="0" marL="0">
              <a:buNone/>
            </a:pPr>
            <a:r>
              <a:rPr lang="en-US" sz="2000" b="1" dirty="0">
                <a:solidFill>
                  <a:srgbClr val="8C3A00"/>
                </a:solidFill>
                <a:latin typeface="Arial" pitchFamily="34" charset="0"/>
                <a:ea typeface="Arial" pitchFamily="34" charset="-122"/>
                <a:cs typeface="Arial" pitchFamily="34" charset="-120"/>
              </a:rPr>
              <a:t>S8</a:t>
            </a:r>
            <a:endParaRPr lang="en-US" sz="2000" dirty="0"/>
          </a:p>
        </p:txBody>
      </p:sp>
      <p:sp>
        <p:nvSpPr>
          <p:cNvPr id="33" name="Text 31"/>
          <p:cNvSpPr txBox="1"/>
          <p:nvPr/>
        </p:nvSpPr>
        <p:spPr>
          <a:xfrm>
            <a:off x="3931920" y="342900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Ondorioak eraiki</a:t>
            </a:r>
            <a:endParaRPr lang="en-US" sz="1300" dirty="0"/>
          </a:p>
        </p:txBody>
      </p:sp>
      <p:sp>
        <p:nvSpPr>
          <p:cNvPr id="34" name="Text 32"/>
          <p:cNvSpPr txBox="1"/>
          <p:nvPr/>
        </p:nvSpPr>
        <p:spPr>
          <a:xfrm>
            <a:off x="3931920" y="395020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Sintesia eta txostena</a:t>
            </a:r>
            <a:endParaRPr lang="en-US" sz="1050" dirty="0"/>
          </a:p>
        </p:txBody>
      </p:sp>
      <p:sp>
        <p:nvSpPr>
          <p:cNvPr id="35" name="Shape 33"/>
          <p:cNvSpPr/>
          <p:nvPr/>
        </p:nvSpPr>
        <p:spPr>
          <a:xfrm>
            <a:off x="5463540" y="2926080"/>
            <a:ext cx="1554480" cy="1508760"/>
          </a:xfrm>
          <a:prstGeom prst="roundRect">
            <a:avLst>
              <a:gd name="adj" fmla="val 7273"/>
            </a:avLst>
          </a:prstGeom>
          <a:solidFill>
            <a:srgbClr val="FAE5D3"/>
          </a:solidFill>
          <a:ln w="12700">
            <a:solidFill>
              <a:srgbClr val="FAE5D3"/>
            </a:solidFill>
            <a:prstDash val="solid"/>
          </a:ln>
        </p:spPr>
      </p:sp>
      <p:sp>
        <p:nvSpPr>
          <p:cNvPr id="36" name="Text 34"/>
          <p:cNvSpPr txBox="1"/>
          <p:nvPr/>
        </p:nvSpPr>
        <p:spPr>
          <a:xfrm>
            <a:off x="5600700" y="3035808"/>
            <a:ext cx="1280160" cy="365760"/>
          </a:xfrm>
          <a:prstGeom prst="rect">
            <a:avLst/>
          </a:prstGeom>
          <a:noFill/>
          <a:ln/>
        </p:spPr>
        <p:txBody>
          <a:bodyPr wrap="square" lIns="0" tIns="0" rIns="0" bIns="0" rtlCol="0" anchor="t"/>
          <a:lstStyle/>
          <a:p>
            <a:pPr indent="0" marL="0">
              <a:buNone/>
            </a:pPr>
            <a:r>
              <a:rPr lang="en-US" sz="2000" b="1" dirty="0">
                <a:solidFill>
                  <a:srgbClr val="8C3A00"/>
                </a:solidFill>
                <a:latin typeface="Arial" pitchFamily="34" charset="0"/>
                <a:ea typeface="Arial" pitchFamily="34" charset="-122"/>
                <a:cs typeface="Arial" pitchFamily="34" charset="-120"/>
              </a:rPr>
              <a:t>S9</a:t>
            </a:r>
            <a:endParaRPr lang="en-US" sz="2000" dirty="0"/>
          </a:p>
        </p:txBody>
      </p:sp>
      <p:sp>
        <p:nvSpPr>
          <p:cNvPr id="37" name="Text 35"/>
          <p:cNvSpPr txBox="1"/>
          <p:nvPr/>
        </p:nvSpPr>
        <p:spPr>
          <a:xfrm>
            <a:off x="5600700" y="342900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Defentsa I</a:t>
            </a:r>
            <a:endParaRPr lang="en-US" sz="1300" dirty="0"/>
          </a:p>
        </p:txBody>
      </p:sp>
      <p:sp>
        <p:nvSpPr>
          <p:cNvPr id="38" name="Text 36"/>
          <p:cNvSpPr txBox="1"/>
          <p:nvPr/>
        </p:nvSpPr>
        <p:spPr>
          <a:xfrm>
            <a:off x="5600700" y="395020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Aurkezpenak eta zozketa</a:t>
            </a:r>
            <a:endParaRPr lang="en-US" sz="1050" dirty="0"/>
          </a:p>
        </p:txBody>
      </p:sp>
      <p:sp>
        <p:nvSpPr>
          <p:cNvPr id="39" name="Shape 37"/>
          <p:cNvSpPr/>
          <p:nvPr/>
        </p:nvSpPr>
        <p:spPr>
          <a:xfrm>
            <a:off x="7132320" y="2926080"/>
            <a:ext cx="1554480" cy="1508760"/>
          </a:xfrm>
          <a:prstGeom prst="roundRect">
            <a:avLst>
              <a:gd name="adj" fmla="val 7273"/>
            </a:avLst>
          </a:prstGeom>
          <a:solidFill>
            <a:srgbClr val="FAE5D3"/>
          </a:solidFill>
          <a:ln w="12700">
            <a:solidFill>
              <a:srgbClr val="FAE5D3"/>
            </a:solidFill>
            <a:prstDash val="solid"/>
          </a:ln>
        </p:spPr>
      </p:sp>
      <p:sp>
        <p:nvSpPr>
          <p:cNvPr id="40" name="Text 38"/>
          <p:cNvSpPr txBox="1"/>
          <p:nvPr/>
        </p:nvSpPr>
        <p:spPr>
          <a:xfrm>
            <a:off x="7269480" y="3035808"/>
            <a:ext cx="1280160" cy="365760"/>
          </a:xfrm>
          <a:prstGeom prst="rect">
            <a:avLst/>
          </a:prstGeom>
          <a:noFill/>
          <a:ln/>
        </p:spPr>
        <p:txBody>
          <a:bodyPr wrap="square" lIns="0" tIns="0" rIns="0" bIns="0" rtlCol="0" anchor="t"/>
          <a:lstStyle/>
          <a:p>
            <a:pPr indent="0" marL="0">
              <a:buNone/>
            </a:pPr>
            <a:r>
              <a:rPr lang="en-US" sz="2000" b="1" dirty="0">
                <a:solidFill>
                  <a:srgbClr val="8C3A00"/>
                </a:solidFill>
                <a:latin typeface="Arial" pitchFamily="34" charset="0"/>
                <a:ea typeface="Arial" pitchFamily="34" charset="-122"/>
                <a:cs typeface="Arial" pitchFamily="34" charset="-120"/>
              </a:rPr>
              <a:t>S10</a:t>
            </a:r>
            <a:endParaRPr lang="en-US" sz="2000" dirty="0"/>
          </a:p>
        </p:txBody>
      </p:sp>
      <p:sp>
        <p:nvSpPr>
          <p:cNvPr id="41" name="Text 39"/>
          <p:cNvSpPr txBox="1"/>
          <p:nvPr/>
        </p:nvSpPr>
        <p:spPr>
          <a:xfrm>
            <a:off x="7269480" y="3429000"/>
            <a:ext cx="1325880" cy="5029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Defentsa II</a:t>
            </a:r>
            <a:endParaRPr lang="en-US" sz="1300" dirty="0"/>
          </a:p>
        </p:txBody>
      </p:sp>
      <p:sp>
        <p:nvSpPr>
          <p:cNvPr id="42" name="Text 40"/>
          <p:cNvSpPr txBox="1"/>
          <p:nvPr/>
        </p:nvSpPr>
        <p:spPr>
          <a:xfrm>
            <a:off x="7269480" y="3950208"/>
            <a:ext cx="1325880" cy="41148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Galdera kritikoak eta itxiera</a:t>
            </a:r>
            <a:endParaRPr lang="en-US" sz="10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Lau kasu, lau mekanismo</a:t>
            </a:r>
            <a:endParaRPr lang="en-US" sz="2800" dirty="0"/>
          </a:p>
        </p:txBody>
      </p:sp>
      <p:sp>
        <p:nvSpPr>
          <p:cNvPr id="3" name="Shape 1"/>
          <p:cNvSpPr/>
          <p:nvPr/>
        </p:nvSpPr>
        <p:spPr>
          <a:xfrm>
            <a:off x="457200" y="1097280"/>
            <a:ext cx="4023360" cy="1261872"/>
          </a:xfrm>
          <a:prstGeom prst="roundRect">
            <a:avLst>
              <a:gd name="adj" fmla="val 8696"/>
            </a:avLst>
          </a:prstGeom>
          <a:solidFill>
            <a:srgbClr val="D6E8F7"/>
          </a:solidFill>
          <a:ln w="12700">
            <a:solidFill>
              <a:srgbClr val="D6E8F7"/>
            </a:solidFill>
            <a:prstDash val="solid"/>
          </a:ln>
        </p:spPr>
      </p:sp>
      <p:sp>
        <p:nvSpPr>
          <p:cNvPr id="4" name="Text 2"/>
          <p:cNvSpPr txBox="1"/>
          <p:nvPr/>
        </p:nvSpPr>
        <p:spPr>
          <a:xfrm>
            <a:off x="640080" y="1207008"/>
            <a:ext cx="3657600" cy="32004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1 · Sultan eta kaxak</a:t>
            </a:r>
            <a:endParaRPr lang="en-US" sz="1500" dirty="0"/>
          </a:p>
        </p:txBody>
      </p:sp>
      <p:sp>
        <p:nvSpPr>
          <p:cNvPr id="5" name="Text 3"/>
          <p:cNvSpPr txBox="1"/>
          <p:nvPr/>
        </p:nvSpPr>
        <p:spPr>
          <a:xfrm>
            <a:off x="640080" y="1527048"/>
            <a:ext cx="3657600" cy="256032"/>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Köhler, Tenerife (1914-1920)</a:t>
            </a:r>
            <a:endParaRPr lang="en-US" sz="1100" dirty="0"/>
          </a:p>
        </p:txBody>
      </p:sp>
      <p:sp>
        <p:nvSpPr>
          <p:cNvPr id="6" name="Text 4"/>
          <p:cNvSpPr txBox="1"/>
          <p:nvPr/>
        </p:nvSpPr>
        <p:spPr>
          <a:xfrm>
            <a:off x="640080" y="1783080"/>
            <a:ext cx="3657600" cy="274320"/>
          </a:xfrm>
          <a:prstGeom prst="rect">
            <a:avLst/>
          </a:prstGeom>
          <a:noFill/>
          <a:ln/>
        </p:spPr>
        <p:txBody>
          <a:bodyPr wrap="square" lIns="0" tIns="0" rIns="0" bIns="0" rtlCol="0" anchor="t"/>
          <a:lstStyle/>
          <a:p>
            <a:pPr indent="0" marL="0">
              <a:buNone/>
            </a:pPr>
            <a:r>
              <a:rPr lang="en-US" sz="1300" i="1" dirty="0">
                <a:solidFill>
                  <a:srgbClr val="1A1A1A"/>
                </a:solidFill>
                <a:latin typeface="Arial" pitchFamily="34" charset="0"/>
                <a:ea typeface="Arial" pitchFamily="34" charset="-122"/>
                <a:cs typeface="Arial" pitchFamily="34" charset="-120"/>
              </a:rPr>
              <a:t>Ulertuz ikas daiteke?</a:t>
            </a:r>
            <a:endParaRPr lang="en-US" sz="1300" dirty="0"/>
          </a:p>
        </p:txBody>
      </p:sp>
      <p:sp>
        <p:nvSpPr>
          <p:cNvPr id="7" name="Text 5"/>
          <p:cNvSpPr txBox="1"/>
          <p:nvPr/>
        </p:nvSpPr>
        <p:spPr>
          <a:xfrm>
            <a:off x="640080" y="2057400"/>
            <a:ext cx="3657600" cy="228600"/>
          </a:xfrm>
          <a:prstGeom prst="rect">
            <a:avLst/>
          </a:prstGeom>
          <a:noFill/>
          <a:ln/>
        </p:spPr>
        <p:txBody>
          <a:bodyPr wrap="square" lIns="0" tIns="0" rIns="0" bIns="0" rtlCol="0" anchor="t"/>
          <a:lstStyle/>
          <a:p>
            <a:pPr indent="0" marL="0">
              <a:buNone/>
            </a:pPr>
            <a:r>
              <a:rPr lang="en-US" sz="950" b="1" spc="100" kern="0" dirty="0">
                <a:solidFill>
                  <a:srgbClr val="5B6573"/>
                </a:solidFill>
                <a:latin typeface="Arial" pitchFamily="34" charset="0"/>
                <a:ea typeface="Arial" pitchFamily="34" charset="-122"/>
                <a:cs typeface="Arial" pitchFamily="34" charset="-120"/>
              </a:rPr>
              <a:t>IKASKUNTZA KOGNITIBOA</a:t>
            </a:r>
            <a:endParaRPr lang="en-US" sz="950" dirty="0"/>
          </a:p>
        </p:txBody>
      </p:sp>
      <p:sp>
        <p:nvSpPr>
          <p:cNvPr id="8" name="Shape 6"/>
          <p:cNvSpPr/>
          <p:nvPr/>
        </p:nvSpPr>
        <p:spPr>
          <a:xfrm>
            <a:off x="4663440" y="1097280"/>
            <a:ext cx="4023360" cy="1261872"/>
          </a:xfrm>
          <a:prstGeom prst="roundRect">
            <a:avLst>
              <a:gd name="adj" fmla="val 8696"/>
            </a:avLst>
          </a:prstGeom>
          <a:solidFill>
            <a:srgbClr val="D6E8F7"/>
          </a:solidFill>
          <a:ln w="12700">
            <a:solidFill>
              <a:srgbClr val="D6E8F7"/>
            </a:solidFill>
            <a:prstDash val="solid"/>
          </a:ln>
        </p:spPr>
      </p:sp>
      <p:sp>
        <p:nvSpPr>
          <p:cNvPr id="9" name="Text 7"/>
          <p:cNvSpPr txBox="1"/>
          <p:nvPr/>
        </p:nvSpPr>
        <p:spPr>
          <a:xfrm>
            <a:off x="4846320" y="1207008"/>
            <a:ext cx="3657600" cy="32004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2 · Nim Chimpsky</a:t>
            </a:r>
            <a:endParaRPr lang="en-US" sz="1500" dirty="0"/>
          </a:p>
        </p:txBody>
      </p:sp>
      <p:sp>
        <p:nvSpPr>
          <p:cNvPr id="10" name="Text 8"/>
          <p:cNvSpPr txBox="1"/>
          <p:nvPr/>
        </p:nvSpPr>
        <p:spPr>
          <a:xfrm>
            <a:off x="4846320" y="1527048"/>
            <a:ext cx="3657600" cy="256032"/>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Terrace, New York (1973-1977)</a:t>
            </a:r>
            <a:endParaRPr lang="en-US" sz="1100" dirty="0"/>
          </a:p>
        </p:txBody>
      </p:sp>
      <p:sp>
        <p:nvSpPr>
          <p:cNvPr id="11" name="Text 9"/>
          <p:cNvSpPr txBox="1"/>
          <p:nvPr/>
        </p:nvSpPr>
        <p:spPr>
          <a:xfrm>
            <a:off x="4846320" y="1783080"/>
            <a:ext cx="3657600" cy="274320"/>
          </a:xfrm>
          <a:prstGeom prst="rect">
            <a:avLst/>
          </a:prstGeom>
          <a:noFill/>
          <a:ln/>
        </p:spPr>
        <p:txBody>
          <a:bodyPr wrap="square" lIns="0" tIns="0" rIns="0" bIns="0" rtlCol="0" anchor="t"/>
          <a:lstStyle/>
          <a:p>
            <a:pPr indent="0" marL="0">
              <a:buNone/>
            </a:pPr>
            <a:r>
              <a:rPr lang="en-US" sz="1300" i="1" dirty="0">
                <a:solidFill>
                  <a:srgbClr val="1A1A1A"/>
                </a:solidFill>
                <a:latin typeface="Arial" pitchFamily="34" charset="0"/>
                <a:ea typeface="Arial" pitchFamily="34" charset="-122"/>
                <a:cs typeface="Arial" pitchFamily="34" charset="-120"/>
              </a:rPr>
              <a:t>Errefortzuz ikas daiteke hizkuntza?</a:t>
            </a:r>
            <a:endParaRPr lang="en-US" sz="1300" dirty="0"/>
          </a:p>
        </p:txBody>
      </p:sp>
      <p:sp>
        <p:nvSpPr>
          <p:cNvPr id="12" name="Text 10"/>
          <p:cNvSpPr txBox="1"/>
          <p:nvPr/>
        </p:nvSpPr>
        <p:spPr>
          <a:xfrm>
            <a:off x="4846320" y="2057400"/>
            <a:ext cx="3657600" cy="228600"/>
          </a:xfrm>
          <a:prstGeom prst="rect">
            <a:avLst/>
          </a:prstGeom>
          <a:noFill/>
          <a:ln/>
        </p:spPr>
        <p:txBody>
          <a:bodyPr wrap="square" lIns="0" tIns="0" rIns="0" bIns="0" rtlCol="0" anchor="t"/>
          <a:lstStyle/>
          <a:p>
            <a:pPr indent="0" marL="0">
              <a:buNone/>
            </a:pPr>
            <a:r>
              <a:rPr lang="en-US" sz="950" b="1" spc="100" kern="0" dirty="0">
                <a:solidFill>
                  <a:srgbClr val="5B6573"/>
                </a:solidFill>
                <a:latin typeface="Arial" pitchFamily="34" charset="0"/>
                <a:ea typeface="Arial" pitchFamily="34" charset="-122"/>
                <a:cs typeface="Arial" pitchFamily="34" charset="-120"/>
              </a:rPr>
              <a:t>KONDIZIONAMENDU OPERANTEA</a:t>
            </a:r>
            <a:endParaRPr lang="en-US" sz="950" dirty="0"/>
          </a:p>
        </p:txBody>
      </p:sp>
      <p:sp>
        <p:nvSpPr>
          <p:cNvPr id="13" name="Shape 11"/>
          <p:cNvSpPr/>
          <p:nvPr/>
        </p:nvSpPr>
        <p:spPr>
          <a:xfrm>
            <a:off x="457200" y="2514600"/>
            <a:ext cx="4023360" cy="1261872"/>
          </a:xfrm>
          <a:prstGeom prst="roundRect">
            <a:avLst>
              <a:gd name="adj" fmla="val 8696"/>
            </a:avLst>
          </a:prstGeom>
          <a:solidFill>
            <a:srgbClr val="D6E8F7"/>
          </a:solidFill>
          <a:ln w="12700">
            <a:solidFill>
              <a:srgbClr val="D6E8F7"/>
            </a:solidFill>
            <a:prstDash val="solid"/>
          </a:ln>
        </p:spPr>
      </p:sp>
      <p:sp>
        <p:nvSpPr>
          <p:cNvPr id="14" name="Text 12"/>
          <p:cNvSpPr txBox="1"/>
          <p:nvPr/>
        </p:nvSpPr>
        <p:spPr>
          <a:xfrm>
            <a:off x="640080" y="2624328"/>
            <a:ext cx="3657600" cy="32004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3 · Tximinoak eta sugeak</a:t>
            </a:r>
            <a:endParaRPr lang="en-US" sz="1500" dirty="0"/>
          </a:p>
        </p:txBody>
      </p:sp>
      <p:sp>
        <p:nvSpPr>
          <p:cNvPr id="15" name="Text 13"/>
          <p:cNvSpPr txBox="1"/>
          <p:nvPr/>
        </p:nvSpPr>
        <p:spPr>
          <a:xfrm>
            <a:off x="640080" y="2944368"/>
            <a:ext cx="3657600" cy="256032"/>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Mineka (1984-1989)</a:t>
            </a:r>
            <a:endParaRPr lang="en-US" sz="1100" dirty="0"/>
          </a:p>
        </p:txBody>
      </p:sp>
      <p:sp>
        <p:nvSpPr>
          <p:cNvPr id="16" name="Text 14"/>
          <p:cNvSpPr txBox="1"/>
          <p:nvPr/>
        </p:nvSpPr>
        <p:spPr>
          <a:xfrm>
            <a:off x="640080" y="3200400"/>
            <a:ext cx="3657600" cy="274320"/>
          </a:xfrm>
          <a:prstGeom prst="rect">
            <a:avLst/>
          </a:prstGeom>
          <a:noFill/>
          <a:ln/>
        </p:spPr>
        <p:txBody>
          <a:bodyPr wrap="square" lIns="0" tIns="0" rIns="0" bIns="0" rtlCol="0" anchor="t"/>
          <a:lstStyle/>
          <a:p>
            <a:pPr indent="0" marL="0">
              <a:buNone/>
            </a:pPr>
            <a:r>
              <a:rPr lang="en-US" sz="1300" i="1" dirty="0">
                <a:solidFill>
                  <a:srgbClr val="1A1A1A"/>
                </a:solidFill>
                <a:latin typeface="Arial" pitchFamily="34" charset="0"/>
                <a:ea typeface="Arial" pitchFamily="34" charset="-122"/>
                <a:cs typeface="Arial" pitchFamily="34" charset="-120"/>
              </a:rPr>
              <a:t>Nola ikasten da beldurra?</a:t>
            </a:r>
            <a:endParaRPr lang="en-US" sz="1300" dirty="0"/>
          </a:p>
        </p:txBody>
      </p:sp>
      <p:sp>
        <p:nvSpPr>
          <p:cNvPr id="17" name="Text 15"/>
          <p:cNvSpPr txBox="1"/>
          <p:nvPr/>
        </p:nvSpPr>
        <p:spPr>
          <a:xfrm>
            <a:off x="640080" y="3474720"/>
            <a:ext cx="3657600" cy="228600"/>
          </a:xfrm>
          <a:prstGeom prst="rect">
            <a:avLst/>
          </a:prstGeom>
          <a:noFill/>
          <a:ln/>
        </p:spPr>
        <p:txBody>
          <a:bodyPr wrap="square" lIns="0" tIns="0" rIns="0" bIns="0" rtlCol="0" anchor="t"/>
          <a:lstStyle/>
          <a:p>
            <a:pPr indent="0" marL="0">
              <a:buNone/>
            </a:pPr>
            <a:r>
              <a:rPr lang="en-US" sz="950" b="1" spc="100" kern="0" dirty="0">
                <a:solidFill>
                  <a:srgbClr val="5B6573"/>
                </a:solidFill>
                <a:latin typeface="Arial" pitchFamily="34" charset="0"/>
                <a:ea typeface="Arial" pitchFamily="34" charset="-122"/>
                <a:cs typeface="Arial" pitchFamily="34" charset="-120"/>
              </a:rPr>
              <a:t>KLASIKOA + BEHAKETA</a:t>
            </a:r>
            <a:endParaRPr lang="en-US" sz="950" dirty="0"/>
          </a:p>
        </p:txBody>
      </p:sp>
      <p:sp>
        <p:nvSpPr>
          <p:cNvPr id="18" name="Shape 16"/>
          <p:cNvSpPr/>
          <p:nvPr/>
        </p:nvSpPr>
        <p:spPr>
          <a:xfrm>
            <a:off x="4663440" y="2514600"/>
            <a:ext cx="4023360" cy="1261872"/>
          </a:xfrm>
          <a:prstGeom prst="roundRect">
            <a:avLst>
              <a:gd name="adj" fmla="val 8696"/>
            </a:avLst>
          </a:prstGeom>
          <a:solidFill>
            <a:srgbClr val="EDD4ED"/>
          </a:solidFill>
          <a:ln w="12700">
            <a:solidFill>
              <a:srgbClr val="EDD4ED"/>
            </a:solidFill>
            <a:prstDash val="solid"/>
          </a:ln>
        </p:spPr>
      </p:sp>
      <p:sp>
        <p:nvSpPr>
          <p:cNvPr id="19" name="Text 17"/>
          <p:cNvSpPr txBox="1"/>
          <p:nvPr/>
        </p:nvSpPr>
        <p:spPr>
          <a:xfrm>
            <a:off x="4846320" y="2624328"/>
            <a:ext cx="3657600" cy="320040"/>
          </a:xfrm>
          <a:prstGeom prst="rect">
            <a:avLst/>
          </a:prstGeom>
          <a:noFill/>
          <a:ln/>
        </p:spPr>
        <p:txBody>
          <a:bodyPr wrap="square" lIns="0" tIns="0" rIns="0" bIns="0" rtlCol="0" anchor="t"/>
          <a:lstStyle/>
          <a:p>
            <a:pPr indent="0" marL="0">
              <a:buNone/>
            </a:pPr>
            <a:r>
              <a:rPr lang="en-US" sz="1500" b="1" dirty="0">
                <a:solidFill>
                  <a:srgbClr val="5C1A5C"/>
                </a:solidFill>
                <a:latin typeface="Arial" pitchFamily="34" charset="0"/>
                <a:ea typeface="Arial" pitchFamily="34" charset="-122"/>
                <a:cs typeface="Arial" pitchFamily="34" charset="-120"/>
              </a:rPr>
              <a:t>4 · Kutxa misteriotsua</a:t>
            </a:r>
            <a:endParaRPr lang="en-US" sz="1500" dirty="0"/>
          </a:p>
        </p:txBody>
      </p:sp>
      <p:sp>
        <p:nvSpPr>
          <p:cNvPr id="20" name="Text 18"/>
          <p:cNvSpPr txBox="1"/>
          <p:nvPr/>
        </p:nvSpPr>
        <p:spPr>
          <a:xfrm>
            <a:off x="4846320" y="2944368"/>
            <a:ext cx="3657600" cy="256032"/>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Horner eta Whiten (2005)…</a:t>
            </a:r>
            <a:endParaRPr lang="en-US" sz="1100" dirty="0"/>
          </a:p>
        </p:txBody>
      </p:sp>
      <p:sp>
        <p:nvSpPr>
          <p:cNvPr id="21" name="Text 19"/>
          <p:cNvSpPr txBox="1"/>
          <p:nvPr/>
        </p:nvSpPr>
        <p:spPr>
          <a:xfrm>
            <a:off x="4846320" y="3200400"/>
            <a:ext cx="3657600" cy="274320"/>
          </a:xfrm>
          <a:prstGeom prst="rect">
            <a:avLst/>
          </a:prstGeom>
          <a:noFill/>
          <a:ln/>
        </p:spPr>
        <p:txBody>
          <a:bodyPr wrap="square" lIns="0" tIns="0" rIns="0" bIns="0" rtlCol="0" anchor="t"/>
          <a:lstStyle/>
          <a:p>
            <a:pPr indent="0" marL="0">
              <a:buNone/>
            </a:pPr>
            <a:r>
              <a:rPr lang="en-US" sz="1300" i="1" dirty="0">
                <a:solidFill>
                  <a:srgbClr val="1A1A1A"/>
                </a:solidFill>
                <a:latin typeface="Arial" pitchFamily="34" charset="0"/>
                <a:ea typeface="Arial" pitchFamily="34" charset="-122"/>
                <a:cs typeface="Arial" pitchFamily="34" charset="-120"/>
              </a:rPr>
              <a:t>Zergatik kopiatzen dugu alferrikakoa?</a:t>
            </a:r>
            <a:endParaRPr lang="en-US" sz="1300" dirty="0"/>
          </a:p>
        </p:txBody>
      </p:sp>
      <p:sp>
        <p:nvSpPr>
          <p:cNvPr id="22" name="Text 20"/>
          <p:cNvSpPr txBox="1"/>
          <p:nvPr/>
        </p:nvSpPr>
        <p:spPr>
          <a:xfrm>
            <a:off x="4846320" y="3474720"/>
            <a:ext cx="3657600" cy="228600"/>
          </a:xfrm>
          <a:prstGeom prst="rect">
            <a:avLst/>
          </a:prstGeom>
          <a:noFill/>
          <a:ln/>
        </p:spPr>
        <p:txBody>
          <a:bodyPr wrap="square" lIns="0" tIns="0" rIns="0" bIns="0" rtlCol="0" anchor="t"/>
          <a:lstStyle/>
          <a:p>
            <a:pPr indent="0" marL="0">
              <a:buNone/>
            </a:pPr>
            <a:r>
              <a:rPr lang="en-US" sz="950" b="1" spc="100" kern="0" dirty="0">
                <a:solidFill>
                  <a:srgbClr val="5B6573"/>
                </a:solidFill>
                <a:latin typeface="Arial" pitchFamily="34" charset="0"/>
                <a:ea typeface="Arial" pitchFamily="34" charset="-122"/>
                <a:cs typeface="Arial" pitchFamily="34" charset="-120"/>
              </a:rPr>
              <a:t>BEHAKETA · IMITAZIOA</a:t>
            </a:r>
            <a:endParaRPr lang="en-US" sz="950" dirty="0"/>
          </a:p>
        </p:txBody>
      </p:sp>
      <p:sp>
        <p:nvSpPr>
          <p:cNvPr id="23" name="Shape 21"/>
          <p:cNvSpPr/>
          <p:nvPr/>
        </p:nvSpPr>
        <p:spPr>
          <a:xfrm>
            <a:off x="457200" y="3959352"/>
            <a:ext cx="8229600" cy="566928"/>
          </a:xfrm>
          <a:prstGeom prst="roundRect">
            <a:avLst>
              <a:gd name="adj" fmla="val 19355"/>
            </a:avLst>
          </a:prstGeom>
          <a:solidFill>
            <a:srgbClr val="FAE5D3"/>
          </a:solidFill>
          <a:ln w="12700">
            <a:solidFill>
              <a:srgbClr val="FAE5D3"/>
            </a:solidFill>
            <a:prstDash val="solid"/>
          </a:ln>
        </p:spPr>
      </p:sp>
      <p:sp>
        <p:nvSpPr>
          <p:cNvPr id="24" name="Text 22"/>
          <p:cNvSpPr txBox="1"/>
          <p:nvPr/>
        </p:nvSpPr>
        <p:spPr>
          <a:xfrm>
            <a:off x="640080" y="3959352"/>
            <a:ext cx="7863840" cy="566928"/>
          </a:xfrm>
          <a:prstGeom prst="rect">
            <a:avLst/>
          </a:prstGeom>
          <a:noFill/>
          <a:ln/>
        </p:spPr>
        <p:txBody>
          <a:bodyPr wrap="square" lIns="0" tIns="0" rIns="0" bIns="0" rtlCol="0" anchor="ctr"/>
          <a:lstStyle/>
          <a:p>
            <a:pPr indent="0" marL="0">
              <a:buNone/>
            </a:pPr>
            <a:r>
              <a:rPr lang="en-US" sz="1400" b="1" dirty="0">
                <a:solidFill>
                  <a:srgbClr val="8C3A00"/>
                </a:solidFill>
                <a:latin typeface="Arial" pitchFamily="34" charset="0"/>
                <a:ea typeface="Arial" pitchFamily="34" charset="-122"/>
                <a:cs typeface="Arial" pitchFamily="34" charset="-120"/>
              </a:rPr>
              <a:t>+ Gure esperimentua (S7)   </a:t>
            </a:r>
            <a:pPr indent="0" marL="0">
              <a:buNone/>
            </a:pPr>
            <a:r>
              <a:rPr lang="en-US" sz="1300" dirty="0">
                <a:solidFill>
                  <a:srgbClr val="1A1A1A"/>
                </a:solidFill>
                <a:latin typeface="Arial" pitchFamily="34" charset="0"/>
                <a:ea typeface="Arial" pitchFamily="34" charset="-122"/>
                <a:cs typeface="Arial" pitchFamily="34" charset="-120"/>
              </a:rPr>
              <a:t>hirukote bakoitzak bere datuak sortzen ditu</a:t>
            </a:r>
            <a:endParaRPr lang="en-US" sz="14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Zer entregatuko duzue</a:t>
            </a:r>
            <a:endParaRPr lang="en-US" sz="2800" dirty="0"/>
          </a:p>
        </p:txBody>
      </p:sp>
      <p:sp>
        <p:nvSpPr>
          <p:cNvPr id="3" name="Shape 1"/>
          <p:cNvSpPr/>
          <p:nvPr/>
        </p:nvSpPr>
        <p:spPr>
          <a:xfrm>
            <a:off x="457200" y="1097280"/>
            <a:ext cx="4023360" cy="2743200"/>
          </a:xfrm>
          <a:prstGeom prst="roundRect">
            <a:avLst>
              <a:gd name="adj" fmla="val 4000"/>
            </a:avLst>
          </a:prstGeom>
          <a:solidFill>
            <a:srgbClr val="D4EDE1"/>
          </a:solidFill>
          <a:ln w="12700">
            <a:solidFill>
              <a:srgbClr val="D4EDE1"/>
            </a:solidFill>
            <a:prstDash val="solid"/>
          </a:ln>
        </p:spPr>
      </p:sp>
      <p:sp>
        <p:nvSpPr>
          <p:cNvPr id="4" name="Shape 2"/>
          <p:cNvSpPr/>
          <p:nvPr/>
        </p:nvSpPr>
        <p:spPr>
          <a:xfrm>
            <a:off x="640080" y="1261872"/>
            <a:ext cx="502920" cy="50292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770839" y="1392631"/>
            <a:ext cx="241402" cy="241402"/>
          </a:xfrm>
          <a:prstGeom prst="rect">
            <a:avLst/>
          </a:prstGeom>
        </p:spPr>
      </p:pic>
      <p:sp>
        <p:nvSpPr>
          <p:cNvPr id="6" name="Text 3"/>
          <p:cNvSpPr txBox="1"/>
          <p:nvPr/>
        </p:nvSpPr>
        <p:spPr>
          <a:xfrm>
            <a:off x="1280160" y="1280160"/>
            <a:ext cx="3017520" cy="457200"/>
          </a:xfrm>
          <a:prstGeom prst="rect">
            <a:avLst/>
          </a:prstGeom>
          <a:noFill/>
          <a:ln/>
        </p:spPr>
        <p:txBody>
          <a:bodyPr wrap="square" lIns="0" tIns="0" rIns="0" bIns="0" rtlCol="0" anchor="ctr"/>
          <a:lstStyle/>
          <a:p>
            <a:pPr indent="0" marL="0">
              <a:buNone/>
            </a:pPr>
            <a:r>
              <a:rPr lang="en-US" sz="1700" b="1" dirty="0">
                <a:solidFill>
                  <a:srgbClr val="1A5C3A"/>
                </a:solidFill>
                <a:latin typeface="Arial" pitchFamily="34" charset="0"/>
                <a:ea typeface="Arial" pitchFamily="34" charset="-122"/>
                <a:cs typeface="Arial" pitchFamily="34" charset="-120"/>
              </a:rPr>
              <a:t>Bakarka · % 55</a:t>
            </a:r>
            <a:endParaRPr lang="en-US" sz="1700" dirty="0"/>
          </a:p>
        </p:txBody>
      </p:sp>
      <p:sp>
        <p:nvSpPr>
          <p:cNvPr id="7" name="Text 4"/>
          <p:cNvSpPr txBox="1"/>
          <p:nvPr/>
        </p:nvSpPr>
        <p:spPr>
          <a:xfrm>
            <a:off x="685800" y="1920240"/>
            <a:ext cx="365760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4 ebidentzia-orri, kasuko bat · % 20</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Banakako sintesia (S8) · % 15</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Ahozko egiaztapena, zozketaz · % 20</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Irteera-txartelak (notarik gabe)</a:t>
            </a:r>
            <a:endParaRPr lang="en-US" sz="1350" dirty="0"/>
          </a:p>
        </p:txBody>
      </p:sp>
      <p:sp>
        <p:nvSpPr>
          <p:cNvPr id="8" name="Shape 5"/>
          <p:cNvSpPr/>
          <p:nvPr/>
        </p:nvSpPr>
        <p:spPr>
          <a:xfrm>
            <a:off x="4663440" y="1097280"/>
            <a:ext cx="4023360" cy="2743200"/>
          </a:xfrm>
          <a:prstGeom prst="roundRect">
            <a:avLst>
              <a:gd name="adj" fmla="val 4000"/>
            </a:avLst>
          </a:prstGeom>
          <a:solidFill>
            <a:srgbClr val="FAE5D3"/>
          </a:solidFill>
          <a:ln w="12700">
            <a:solidFill>
              <a:srgbClr val="FAE5D3"/>
            </a:solidFill>
            <a:prstDash val="solid"/>
          </a:ln>
        </p:spPr>
      </p:sp>
      <p:sp>
        <p:nvSpPr>
          <p:cNvPr id="9" name="Shape 6"/>
          <p:cNvSpPr/>
          <p:nvPr/>
        </p:nvSpPr>
        <p:spPr>
          <a:xfrm>
            <a:off x="4846320" y="1261872"/>
            <a:ext cx="502920" cy="502920"/>
          </a:xfrm>
          <a:prstGeom prst="ellipse">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4977079" y="1392631"/>
            <a:ext cx="241402" cy="241402"/>
          </a:xfrm>
          <a:prstGeom prst="rect">
            <a:avLst/>
          </a:prstGeom>
        </p:spPr>
      </p:pic>
      <p:sp>
        <p:nvSpPr>
          <p:cNvPr id="11" name="Text 7"/>
          <p:cNvSpPr txBox="1"/>
          <p:nvPr/>
        </p:nvSpPr>
        <p:spPr>
          <a:xfrm>
            <a:off x="5486400" y="1280160"/>
            <a:ext cx="3017520" cy="457200"/>
          </a:xfrm>
          <a:prstGeom prst="rect">
            <a:avLst/>
          </a:prstGeom>
          <a:noFill/>
          <a:ln/>
        </p:spPr>
        <p:txBody>
          <a:bodyPr wrap="square" lIns="0" tIns="0" rIns="0" bIns="0" rtlCol="0" anchor="ctr"/>
          <a:lstStyle/>
          <a:p>
            <a:pPr indent="0" marL="0">
              <a:buNone/>
            </a:pPr>
            <a:r>
              <a:rPr lang="en-US" sz="1700" b="1" dirty="0">
                <a:solidFill>
                  <a:srgbClr val="8C3A00"/>
                </a:solidFill>
                <a:latin typeface="Arial" pitchFamily="34" charset="0"/>
                <a:ea typeface="Arial" pitchFamily="34" charset="-122"/>
                <a:cs typeface="Arial" pitchFamily="34" charset="-120"/>
              </a:rPr>
              <a:t>Hirukotean · % 45</a:t>
            </a:r>
            <a:endParaRPr lang="en-US" sz="1700" dirty="0"/>
          </a:p>
        </p:txBody>
      </p:sp>
      <p:sp>
        <p:nvSpPr>
          <p:cNvPr id="12" name="Text 8"/>
          <p:cNvSpPr txBox="1"/>
          <p:nvPr/>
        </p:nvSpPr>
        <p:spPr>
          <a:xfrm>
            <a:off x="4892040" y="1920240"/>
            <a:ext cx="365760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Hipotesi-orria (S1)</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Esperimentu-fitxa (S7)</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Ikerketa-txostena · % 30</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Aurkezpena, 4 minutu · % 15</a:t>
            </a:r>
            <a:endParaRPr lang="en-US" sz="1350" dirty="0"/>
          </a:p>
        </p:txBody>
      </p:sp>
      <p:sp>
        <p:nvSpPr>
          <p:cNvPr id="13" name="Text 9"/>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300" i="1" dirty="0">
                <a:solidFill>
                  <a:srgbClr val="5B6573"/>
                </a:solidFill>
                <a:latin typeface="Arial" pitchFamily="34" charset="0"/>
                <a:ea typeface="Arial" pitchFamily="34" charset="-122"/>
                <a:cs typeface="Arial" pitchFamily="34" charset="-120"/>
              </a:rPr>
              <a:t>Taldean lan egiten da, baina bakoitzak frogatu behar du zer ikasi duen. Estetikak ez du punturik ematen.</a:t>
            </a:r>
            <a:endParaRPr lang="en-US" sz="13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Hirukotea: rolak eta bi arau</a:t>
            </a:r>
            <a:endParaRPr lang="en-US" sz="2800" dirty="0"/>
          </a:p>
        </p:txBody>
      </p:sp>
      <p:sp>
        <p:nvSpPr>
          <p:cNvPr id="3" name="Shape 1"/>
          <p:cNvSpPr/>
          <p:nvPr/>
        </p:nvSpPr>
        <p:spPr>
          <a:xfrm>
            <a:off x="457200" y="1097280"/>
            <a:ext cx="2596896" cy="1234440"/>
          </a:xfrm>
          <a:prstGeom prst="roundRect">
            <a:avLst>
              <a:gd name="adj" fmla="val 8889"/>
            </a:avLst>
          </a:prstGeom>
          <a:solidFill>
            <a:srgbClr val="F7F7F5"/>
          </a:solidFill>
          <a:ln w="12700">
            <a:solidFill>
              <a:srgbClr val="F7F7F5"/>
            </a:solidFill>
            <a:prstDash val="solid"/>
          </a:ln>
        </p:spPr>
      </p:sp>
      <p:sp>
        <p:nvSpPr>
          <p:cNvPr id="4" name="Text 2"/>
          <p:cNvSpPr txBox="1"/>
          <p:nvPr/>
        </p:nvSpPr>
        <p:spPr>
          <a:xfrm>
            <a:off x="640080" y="1207008"/>
            <a:ext cx="2286000" cy="36576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Koordinatzailea</a:t>
            </a:r>
            <a:endParaRPr lang="en-US" sz="1500" dirty="0"/>
          </a:p>
        </p:txBody>
      </p:sp>
      <p:sp>
        <p:nvSpPr>
          <p:cNvPr id="5" name="Text 3"/>
          <p:cNvSpPr txBox="1"/>
          <p:nvPr/>
        </p:nvSpPr>
        <p:spPr>
          <a:xfrm>
            <a:off x="640080" y="1600200"/>
            <a:ext cx="2286000" cy="64008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Denbora eta entregak zaintzen ditu.</a:t>
            </a:r>
            <a:endParaRPr lang="en-US" sz="1250" dirty="0"/>
          </a:p>
        </p:txBody>
      </p:sp>
      <p:sp>
        <p:nvSpPr>
          <p:cNvPr id="6" name="Shape 4"/>
          <p:cNvSpPr/>
          <p:nvPr/>
        </p:nvSpPr>
        <p:spPr>
          <a:xfrm>
            <a:off x="3273552" y="1097280"/>
            <a:ext cx="2596896" cy="1234440"/>
          </a:xfrm>
          <a:prstGeom prst="roundRect">
            <a:avLst>
              <a:gd name="adj" fmla="val 8889"/>
            </a:avLst>
          </a:prstGeom>
          <a:solidFill>
            <a:srgbClr val="F7F7F5"/>
          </a:solidFill>
          <a:ln w="12700">
            <a:solidFill>
              <a:srgbClr val="F7F7F5"/>
            </a:solidFill>
            <a:prstDash val="solid"/>
          </a:ln>
        </p:spPr>
      </p:sp>
      <p:sp>
        <p:nvSpPr>
          <p:cNvPr id="7" name="Text 5"/>
          <p:cNvSpPr txBox="1"/>
          <p:nvPr/>
        </p:nvSpPr>
        <p:spPr>
          <a:xfrm>
            <a:off x="3456432" y="1207008"/>
            <a:ext cx="2286000" cy="36576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Ebidentzia-zaindaria</a:t>
            </a:r>
            <a:endParaRPr lang="en-US" sz="1500" dirty="0"/>
          </a:p>
        </p:txBody>
      </p:sp>
      <p:sp>
        <p:nvSpPr>
          <p:cNvPr id="8" name="Text 6"/>
          <p:cNvSpPr txBox="1"/>
          <p:nvPr/>
        </p:nvSpPr>
        <p:spPr>
          <a:xfrm>
            <a:off x="3456432" y="1600200"/>
            <a:ext cx="2286000" cy="64008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«Non dago hori? Zein datuk dio?»</a:t>
            </a:r>
            <a:endParaRPr lang="en-US" sz="1250" dirty="0"/>
          </a:p>
        </p:txBody>
      </p:sp>
      <p:sp>
        <p:nvSpPr>
          <p:cNvPr id="9" name="Shape 7"/>
          <p:cNvSpPr/>
          <p:nvPr/>
        </p:nvSpPr>
        <p:spPr>
          <a:xfrm>
            <a:off x="6089904" y="1097280"/>
            <a:ext cx="2596896" cy="1234440"/>
          </a:xfrm>
          <a:prstGeom prst="roundRect">
            <a:avLst>
              <a:gd name="adj" fmla="val 8889"/>
            </a:avLst>
          </a:prstGeom>
          <a:solidFill>
            <a:srgbClr val="F7F7F5"/>
          </a:solidFill>
          <a:ln w="12700">
            <a:solidFill>
              <a:srgbClr val="F7F7F5"/>
            </a:solidFill>
            <a:prstDash val="solid"/>
          </a:ln>
        </p:spPr>
      </p:sp>
      <p:sp>
        <p:nvSpPr>
          <p:cNvPr id="10" name="Text 8"/>
          <p:cNvSpPr txBox="1"/>
          <p:nvPr/>
        </p:nvSpPr>
        <p:spPr>
          <a:xfrm>
            <a:off x="6272784" y="1207008"/>
            <a:ext cx="2286000" cy="36576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Aholkulari kritikoa</a:t>
            </a:r>
            <a:endParaRPr lang="en-US" sz="1500" dirty="0"/>
          </a:p>
        </p:txBody>
      </p:sp>
      <p:sp>
        <p:nvSpPr>
          <p:cNvPr id="11" name="Text 9"/>
          <p:cNvSpPr txBox="1"/>
          <p:nvPr/>
        </p:nvSpPr>
        <p:spPr>
          <a:xfrm>
            <a:off x="6272784" y="1600200"/>
            <a:ext cx="2286000" cy="64008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«Eta beste modu batera azal badaiteke?»</a:t>
            </a:r>
            <a:endParaRPr lang="en-US" sz="1250" dirty="0"/>
          </a:p>
        </p:txBody>
      </p:sp>
      <p:sp>
        <p:nvSpPr>
          <p:cNvPr id="12" name="Text 10"/>
          <p:cNvSpPr txBox="1"/>
          <p:nvPr/>
        </p:nvSpPr>
        <p:spPr>
          <a:xfrm>
            <a:off x="457200" y="2423160"/>
            <a:ext cx="8229600" cy="274320"/>
          </a:xfrm>
          <a:prstGeom prst="rect">
            <a:avLst/>
          </a:prstGeom>
          <a:noFill/>
          <a:ln/>
        </p:spPr>
        <p:txBody>
          <a:bodyPr wrap="square" lIns="0" tIns="0" rIns="0" bIns="0" rtlCol="0" anchor="t"/>
          <a:lstStyle/>
          <a:p>
            <a:pPr indent="0" marL="0">
              <a:buNone/>
            </a:pPr>
            <a:r>
              <a:rPr lang="en-US" sz="1150" dirty="0">
                <a:solidFill>
                  <a:srgbClr val="5B6573"/>
                </a:solidFill>
                <a:latin typeface="Arial" pitchFamily="34" charset="0"/>
                <a:ea typeface="Arial" pitchFamily="34" charset="-122"/>
                <a:cs typeface="Arial" pitchFamily="34" charset="-120"/>
              </a:rPr>
              <a:t>Rolak S5ean txandakatzen dira. Hiruron artean idazten da.</a:t>
            </a:r>
            <a:endParaRPr lang="en-US" sz="1150" dirty="0"/>
          </a:p>
        </p:txBody>
      </p:sp>
      <p:sp>
        <p:nvSpPr>
          <p:cNvPr id="13" name="Shape 11"/>
          <p:cNvSpPr/>
          <p:nvPr/>
        </p:nvSpPr>
        <p:spPr>
          <a:xfrm>
            <a:off x="457200" y="2834640"/>
            <a:ext cx="4023360" cy="1645920"/>
          </a:xfrm>
          <a:prstGeom prst="roundRect">
            <a:avLst>
              <a:gd name="adj" fmla="val 6667"/>
            </a:avLst>
          </a:prstGeom>
          <a:solidFill>
            <a:srgbClr val="D6E8F7"/>
          </a:solidFill>
          <a:ln w="12700">
            <a:solidFill>
              <a:srgbClr val="D6E8F7"/>
            </a:solidFill>
            <a:prstDash val="solid"/>
          </a:ln>
        </p:spPr>
      </p:sp>
      <p:sp>
        <p:nvSpPr>
          <p:cNvPr id="14" name="Text 12"/>
          <p:cNvSpPr txBox="1"/>
          <p:nvPr/>
        </p:nvSpPr>
        <p:spPr>
          <a:xfrm>
            <a:off x="640080" y="2944368"/>
            <a:ext cx="3657600" cy="365760"/>
          </a:xfrm>
          <a:prstGeom prst="rect">
            <a:avLst/>
          </a:prstGeom>
          <a:noFill/>
          <a:ln/>
        </p:spPr>
        <p:txBody>
          <a:bodyPr wrap="square" lIns="0" tIns="0" rIns="0" bIns="0" rtlCol="0" anchor="t"/>
          <a:lstStyle/>
          <a:p>
            <a:pPr indent="0" marL="0">
              <a:buNone/>
            </a:pPr>
            <a:r>
              <a:rPr lang="en-US" sz="1600" b="1" dirty="0">
                <a:solidFill>
                  <a:srgbClr val="1B3A5C"/>
                </a:solidFill>
                <a:latin typeface="Arial" pitchFamily="34" charset="0"/>
                <a:ea typeface="Arial" pitchFamily="34" charset="-122"/>
                <a:cs typeface="Arial" pitchFamily="34" charset="-120"/>
              </a:rPr>
              <a:t>Emaitza ≠ interpretazioa</a:t>
            </a:r>
            <a:endParaRPr lang="en-US" sz="1600" dirty="0"/>
          </a:p>
        </p:txBody>
      </p:sp>
      <p:sp>
        <p:nvSpPr>
          <p:cNvPr id="15" name="Text 13"/>
          <p:cNvSpPr txBox="1"/>
          <p:nvPr/>
        </p:nvSpPr>
        <p:spPr>
          <a:xfrm>
            <a:off x="640080" y="3337560"/>
            <a:ext cx="3657600" cy="10515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Emaitza: «Haurren % 80k kopiatu zuen». Interpretazioa: «Haurrek uste dute helduaren ekintza guztiek badutela helburu bat». Beti bereizi.</a:t>
            </a:r>
            <a:endParaRPr lang="en-US" sz="1250" dirty="0"/>
          </a:p>
        </p:txBody>
      </p:sp>
      <p:sp>
        <p:nvSpPr>
          <p:cNvPr id="16" name="Shape 14"/>
          <p:cNvSpPr/>
          <p:nvPr/>
        </p:nvSpPr>
        <p:spPr>
          <a:xfrm>
            <a:off x="4663440" y="2834640"/>
            <a:ext cx="4023360" cy="1645920"/>
          </a:xfrm>
          <a:prstGeom prst="roundRect">
            <a:avLst>
              <a:gd name="adj" fmla="val 6667"/>
            </a:avLst>
          </a:prstGeom>
          <a:solidFill>
            <a:srgbClr val="EDD4ED"/>
          </a:solidFill>
          <a:ln w="12700">
            <a:solidFill>
              <a:srgbClr val="EDD4ED"/>
            </a:solidFill>
            <a:prstDash val="solid"/>
          </a:ln>
        </p:spPr>
      </p:sp>
      <p:sp>
        <p:nvSpPr>
          <p:cNvPr id="17" name="Text 15"/>
          <p:cNvSpPr txBox="1"/>
          <p:nvPr/>
        </p:nvSpPr>
        <p:spPr>
          <a:xfrm>
            <a:off x="4846320" y="2944368"/>
            <a:ext cx="3657600" cy="365760"/>
          </a:xfrm>
          <a:prstGeom prst="rect">
            <a:avLst/>
          </a:prstGeom>
          <a:noFill/>
          <a:ln/>
        </p:spPr>
        <p:txBody>
          <a:bodyPr wrap="square" lIns="0" tIns="0" rIns="0" bIns="0" rtlCol="0" anchor="t"/>
          <a:lstStyle/>
          <a:p>
            <a:pPr indent="0" marL="0">
              <a:buNone/>
            </a:pPr>
            <a:r>
              <a:rPr lang="en-US" sz="1600" b="1" dirty="0">
                <a:solidFill>
                  <a:srgbClr val="5C1A5C"/>
                </a:solidFill>
                <a:latin typeface="Arial" pitchFamily="34" charset="0"/>
                <a:ea typeface="Arial" pitchFamily="34" charset="-122"/>
                <a:cs typeface="Arial" pitchFamily="34" charset="-120"/>
              </a:rPr>
              <a:t>Fikzioa ez da froga</a:t>
            </a:r>
            <a:endParaRPr lang="en-US" sz="1600" dirty="0"/>
          </a:p>
        </p:txBody>
      </p:sp>
      <p:sp>
        <p:nvSpPr>
          <p:cNvPr id="18" name="Text 16"/>
          <p:cNvSpPr txBox="1"/>
          <p:nvPr/>
        </p:nvSpPr>
        <p:spPr>
          <a:xfrm>
            <a:off x="4846320" y="3337560"/>
            <a:ext cx="3657600" cy="10515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Filmek galderak pizten dituzte, baina ez dute ezer frogatzen. Filmak zerbait suposatzen badu, datuekin kontrastatu.</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D4ED"/>
        </a:solidFill>
      </p:bgPr>
    </p:bg>
    <p:spTree>
      <p:nvGrpSpPr>
        <p:cNvPr id="1" name=""/>
        <p:cNvGrpSpPr/>
        <p:nvPr/>
      </p:nvGrpSpPr>
      <p:grpSpPr>
        <a:xfrm>
          <a:off x="0" y="0"/>
          <a:ext cx="0" cy="0"/>
          <a:chOff x="0" y="0"/>
          <a:chExt cx="0" cy="0"/>
        </a:xfrm>
      </p:grpSpPr>
      <p:sp>
        <p:nvSpPr>
          <p:cNvPr id="2" name="Shape 0"/>
          <p:cNvSpPr/>
          <p:nvPr/>
        </p:nvSpPr>
        <p:spPr>
          <a:xfrm>
            <a:off x="548640" y="548640"/>
            <a:ext cx="822960" cy="457200"/>
          </a:xfrm>
          <a:prstGeom prst="roundRect">
            <a:avLst>
              <a:gd name="adj" fmla="val 20000"/>
            </a:avLst>
          </a:prstGeom>
          <a:solidFill>
            <a:srgbClr val="5C1A5C"/>
          </a:solidFill>
          <a:ln w="12700">
            <a:solidFill>
              <a:srgbClr val="5C1A5C"/>
            </a:solidFill>
            <a:prstDash val="solid"/>
          </a:ln>
        </p:spPr>
      </p:sp>
      <p:sp>
        <p:nvSpPr>
          <p:cNvPr id="3" name="Text 1"/>
          <p:cNvSpPr txBox="1"/>
          <p:nvPr/>
        </p:nvSpPr>
        <p:spPr>
          <a:xfrm>
            <a:off x="548640" y="548640"/>
            <a:ext cx="822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S1</a:t>
            </a:r>
            <a:endParaRPr lang="en-US" sz="1800" dirty="0"/>
          </a:p>
        </p:txBody>
      </p:sp>
      <p:sp>
        <p:nvSpPr>
          <p:cNvPr id="4" name="Text 2"/>
          <p:cNvSpPr txBox="1"/>
          <p:nvPr/>
        </p:nvSpPr>
        <p:spPr>
          <a:xfrm>
            <a:off x="1554480" y="548640"/>
            <a:ext cx="5029200" cy="457200"/>
          </a:xfrm>
          <a:prstGeom prst="rect">
            <a:avLst/>
          </a:prstGeom>
          <a:noFill/>
          <a:ln/>
        </p:spPr>
        <p:txBody>
          <a:bodyPr wrap="square" lIns="0" tIns="0" rIns="0" bIns="0" rtlCol="0" anchor="ctr"/>
          <a:lstStyle/>
          <a:p>
            <a:pPr indent="0" marL="0">
              <a:buNone/>
            </a:pPr>
            <a:r>
              <a:rPr lang="en-US" sz="1300" b="1" dirty="0">
                <a:solidFill>
                  <a:srgbClr val="5C1A5C"/>
                </a:solidFill>
                <a:latin typeface="Arial" pitchFamily="34" charset="0"/>
                <a:ea typeface="Arial" pitchFamily="34" charset="-122"/>
                <a:cs typeface="Arial" pitchFamily="34" charset="-120"/>
              </a:rPr>
              <a:t>Fenomenoa · 50 min</a:t>
            </a:r>
            <a:endParaRPr lang="en-US" sz="1300" dirty="0"/>
          </a:p>
        </p:txBody>
      </p:sp>
      <p:sp>
        <p:nvSpPr>
          <p:cNvPr id="5" name="Text 0"/>
          <p:cNvSpPr/>
          <p:nvPr>
            <p:ph idx="100" type="title" hasCustomPrompt="1"/>
          </p:nvPr>
        </p:nvSpPr>
        <p:spPr>
          <a:xfrm>
            <a:off x="548640" y="1234440"/>
            <a:ext cx="6035040" cy="914400"/>
          </a:xfrm>
          <a:prstGeom prst="rect">
            <a:avLst/>
          </a:prstGeom>
          <a:noFill/>
          <a:ln/>
        </p:spPr>
        <p:txBody>
          <a:bodyPr wrap="square" lIns="0" tIns="0" rIns="0" bIns="0" rtlCol="0" anchor="t"/>
          <a:lstStyle/>
          <a:p>
            <a:pPr algn="l" indent="0" marL="0">
              <a:buNone/>
            </a:pPr>
            <a:r>
              <a:rPr lang="en-US" sz="3600" b="1" dirty="0">
                <a:solidFill>
                  <a:srgbClr val="1B3A5C"/>
                </a:solidFill>
              </a:rPr>
              <a:t>Kutxa misteriotsua</a:t>
            </a:r>
            <a:endParaRPr lang="en-US" sz="3600" dirty="0"/>
          </a:p>
        </p:txBody>
      </p:sp>
      <p:sp>
        <p:nvSpPr>
          <p:cNvPr id="6" name="Text 0"/>
          <p:cNvSpPr/>
          <p:nvPr>
            <p:ph idx="101" type="body" hasCustomPrompt="1"/>
          </p:nvPr>
        </p:nvSpPr>
        <p:spPr>
          <a:xfrm>
            <a:off x="548640" y="2514600"/>
            <a:ext cx="6035040" cy="1463040"/>
          </a:xfrm>
          <a:prstGeom prst="rect">
            <a:avLst/>
          </a:prstGeom>
          <a:noFill/>
          <a:ln/>
        </p:spPr>
        <p:txBody>
          <a:bodyPr wrap="square" lIns="0" tIns="0" rIns="0" bIns="0" rtlCol="0" anchor="t"/>
          <a:lstStyle/>
          <a:p>
            <a:pPr algn="l" indent="0" marL="0">
              <a:buNone/>
            </a:pPr>
            <a:r>
              <a:rPr lang="en-US" sz="2200" b="1" dirty="0">
                <a:solidFill>
                  <a:srgbClr val="1B3A5C"/>
                </a:solidFill>
              </a:rPr>
              <a:t>Zergatik egiten dugu, edo ez dugu egiten, ezertarako balio ez duen ekintza bat?</a:t>
            </a:r>
            <a:endParaRPr lang="en-US" sz="2200" dirty="0"/>
          </a:p>
        </p:txBody>
      </p:sp>
      <p:sp>
        <p:nvSpPr>
          <p:cNvPr id="7" name="Shape 5"/>
          <p:cNvSpPr/>
          <p:nvPr/>
        </p:nvSpPr>
        <p:spPr>
          <a:xfrm>
            <a:off x="6720840" y="1325880"/>
            <a:ext cx="2011680" cy="20116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223760" y="1828800"/>
            <a:ext cx="1005840" cy="1005840"/>
          </a:xfrm>
          <a:prstGeom prst="rect">
            <a:avLst/>
          </a:prstGeom>
        </p:spPr>
      </p:pic>
      <p:sp>
        <p:nvSpPr>
          <p:cNvPr id="9" name="Text 6"/>
          <p:cNvSpPr txBox="1"/>
          <p:nvPr/>
        </p:nvSpPr>
        <p:spPr>
          <a:xfrm>
            <a:off x="548640" y="2240280"/>
            <a:ext cx="3657600" cy="274320"/>
          </a:xfrm>
          <a:prstGeom prst="rect">
            <a:avLst/>
          </a:prstGeom>
          <a:noFill/>
          <a:ln/>
        </p:spPr>
        <p:txBody>
          <a:bodyPr wrap="square" lIns="0" tIns="0" rIns="0" bIns="0" rtlCol="0" anchor="t"/>
          <a:lstStyle/>
          <a:p>
            <a:pPr indent="0" marL="0">
              <a:buNone/>
            </a:pPr>
            <a:r>
              <a:rPr lang="en-US" sz="1000" b="1" spc="200" kern="0" dirty="0">
                <a:solidFill>
                  <a:srgbClr val="5B6573"/>
                </a:solidFill>
                <a:latin typeface="Arial" pitchFamily="34" charset="0"/>
                <a:ea typeface="Arial" pitchFamily="34" charset="-122"/>
                <a:cs typeface="Arial" pitchFamily="34" charset="-120"/>
              </a:rPr>
              <a:t>GALDERA GIDARIA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Behatu eta erregistratu</a:t>
            </a:r>
            <a:endParaRPr lang="en-US" sz="2800" dirty="0"/>
          </a:p>
        </p:txBody>
      </p:sp>
      <p:sp>
        <p:nvSpPr>
          <p:cNvPr id="3" name="Shape 1"/>
          <p:cNvSpPr/>
          <p:nvPr/>
        </p:nvSpPr>
        <p:spPr>
          <a:xfrm>
            <a:off x="7635240" y="429768"/>
            <a:ext cx="1051560" cy="365760"/>
          </a:xfrm>
          <a:prstGeom prst="roundRect">
            <a:avLst>
              <a:gd name="adj" fmla="val 25000"/>
            </a:avLst>
          </a:prstGeom>
          <a:solidFill>
            <a:srgbClr val="5C1A5C"/>
          </a:solidFill>
          <a:ln w="12700">
            <a:solidFill>
              <a:srgbClr val="5C1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S1</a:t>
            </a:r>
            <a:endParaRPr lang="en-US" sz="1200" dirty="0"/>
          </a:p>
        </p:txBody>
      </p:sp>
      <p:sp>
        <p:nvSpPr>
          <p:cNvPr id="5" name="Shape 3"/>
          <p:cNvSpPr/>
          <p:nvPr/>
        </p:nvSpPr>
        <p:spPr>
          <a:xfrm>
            <a:off x="457200" y="1097280"/>
            <a:ext cx="2596896" cy="1463040"/>
          </a:xfrm>
          <a:prstGeom prst="roundRect">
            <a:avLst>
              <a:gd name="adj" fmla="val 7500"/>
            </a:avLst>
          </a:prstGeom>
          <a:solidFill>
            <a:srgbClr val="EDD4ED"/>
          </a:solidFill>
          <a:ln w="12700">
            <a:solidFill>
              <a:srgbClr val="EDD4ED"/>
            </a:solidFill>
            <a:prstDash val="solid"/>
          </a:ln>
        </p:spPr>
      </p:sp>
      <p:sp>
        <p:nvSpPr>
          <p:cNvPr id="6" name="Text 4"/>
          <p:cNvSpPr txBox="1"/>
          <p:nvPr/>
        </p:nvSpPr>
        <p:spPr>
          <a:xfrm>
            <a:off x="640080" y="1188720"/>
            <a:ext cx="548640" cy="548640"/>
          </a:xfrm>
          <a:prstGeom prst="rect">
            <a:avLst/>
          </a:prstGeom>
          <a:noFill/>
          <a:ln/>
        </p:spPr>
        <p:txBody>
          <a:bodyPr wrap="square" lIns="0" tIns="0" rIns="0" bIns="0" rtlCol="0" anchor="t"/>
          <a:lstStyle/>
          <a:p>
            <a:pPr indent="0" marL="0">
              <a:buNone/>
            </a:pPr>
            <a:r>
              <a:rPr lang="en-US" sz="3000" b="1" dirty="0">
                <a:solidFill>
                  <a:srgbClr val="5C1A5C"/>
                </a:solidFill>
                <a:latin typeface="Arial" pitchFamily="34" charset="0"/>
                <a:ea typeface="Arial" pitchFamily="34" charset="-122"/>
                <a:cs typeface="Arial" pitchFamily="34" charset="-120"/>
              </a:rPr>
              <a:t>A</a:t>
            </a:r>
            <a:endParaRPr lang="en-US" sz="3000" dirty="0"/>
          </a:p>
        </p:txBody>
      </p:sp>
      <p:sp>
        <p:nvSpPr>
          <p:cNvPr id="7" name="Text 5"/>
          <p:cNvSpPr txBox="1"/>
          <p:nvPr/>
        </p:nvSpPr>
        <p:spPr>
          <a:xfrm>
            <a:off x="1234440" y="1261872"/>
            <a:ext cx="1737360" cy="4114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Kutxa opakoa</a:t>
            </a:r>
            <a:endParaRPr lang="en-US" sz="1500" dirty="0"/>
          </a:p>
        </p:txBody>
      </p:sp>
      <p:sp>
        <p:nvSpPr>
          <p:cNvPr id="8" name="Text 6"/>
          <p:cNvSpPr txBox="1"/>
          <p:nvPr/>
        </p:nvSpPr>
        <p:spPr>
          <a:xfrm>
            <a:off x="640080" y="1828800"/>
            <a:ext cx="2286000" cy="640080"/>
          </a:xfrm>
          <a:prstGeom prst="rect">
            <a:avLst/>
          </a:prstGeom>
          <a:noFill/>
          <a:ln/>
        </p:spPr>
        <p:txBody>
          <a:bodyPr wrap="square" lIns="0" tIns="0" rIns="0" bIns="0" rtlCol="0" anchor="t"/>
          <a:lstStyle/>
          <a:p>
            <a:pPr indent="0" marL="0">
              <a:buNone/>
            </a:pPr>
            <a:r>
              <a:rPr lang="en-US" sz="1200" dirty="0">
                <a:solidFill>
                  <a:srgbClr val="5B6573"/>
                </a:solidFill>
                <a:latin typeface="Arial" pitchFamily="34" charset="0"/>
                <a:ea typeface="Arial" pitchFamily="34" charset="-122"/>
                <a:cs typeface="Arial" pitchFamily="34" charset="-120"/>
              </a:rPr>
              <a:t>Erakustaldia ikusten du, gero bere txanda</a:t>
            </a:r>
            <a:endParaRPr lang="en-US" sz="1200" dirty="0"/>
          </a:p>
        </p:txBody>
      </p:sp>
      <p:sp>
        <p:nvSpPr>
          <p:cNvPr id="9" name="Shape 7"/>
          <p:cNvSpPr/>
          <p:nvPr/>
        </p:nvSpPr>
        <p:spPr>
          <a:xfrm>
            <a:off x="3273552" y="1097280"/>
            <a:ext cx="2596896" cy="1463040"/>
          </a:xfrm>
          <a:prstGeom prst="roundRect">
            <a:avLst>
              <a:gd name="adj" fmla="val 7500"/>
            </a:avLst>
          </a:prstGeom>
          <a:solidFill>
            <a:srgbClr val="EDD4ED"/>
          </a:solidFill>
          <a:ln w="12700">
            <a:solidFill>
              <a:srgbClr val="EDD4ED"/>
            </a:solidFill>
            <a:prstDash val="solid"/>
          </a:ln>
        </p:spPr>
      </p:sp>
      <p:sp>
        <p:nvSpPr>
          <p:cNvPr id="10" name="Text 8"/>
          <p:cNvSpPr txBox="1"/>
          <p:nvPr/>
        </p:nvSpPr>
        <p:spPr>
          <a:xfrm>
            <a:off x="3456432" y="1188720"/>
            <a:ext cx="548640" cy="548640"/>
          </a:xfrm>
          <a:prstGeom prst="rect">
            <a:avLst/>
          </a:prstGeom>
          <a:noFill/>
          <a:ln/>
        </p:spPr>
        <p:txBody>
          <a:bodyPr wrap="square" lIns="0" tIns="0" rIns="0" bIns="0" rtlCol="0" anchor="t"/>
          <a:lstStyle/>
          <a:p>
            <a:pPr indent="0" marL="0">
              <a:buNone/>
            </a:pPr>
            <a:r>
              <a:rPr lang="en-US" sz="3000" b="1" dirty="0">
                <a:solidFill>
                  <a:srgbClr val="5C1A5C"/>
                </a:solidFill>
                <a:latin typeface="Arial" pitchFamily="34" charset="0"/>
                <a:ea typeface="Arial" pitchFamily="34" charset="-122"/>
                <a:cs typeface="Arial" pitchFamily="34" charset="-120"/>
              </a:rPr>
              <a:t>B</a:t>
            </a:r>
            <a:endParaRPr lang="en-US" sz="3000" dirty="0"/>
          </a:p>
        </p:txBody>
      </p:sp>
      <p:sp>
        <p:nvSpPr>
          <p:cNvPr id="11" name="Text 9"/>
          <p:cNvSpPr txBox="1"/>
          <p:nvPr/>
        </p:nvSpPr>
        <p:spPr>
          <a:xfrm>
            <a:off x="4050792" y="1261872"/>
            <a:ext cx="1737360" cy="4114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Kutxa gardena</a:t>
            </a:r>
            <a:endParaRPr lang="en-US" sz="1500" dirty="0"/>
          </a:p>
        </p:txBody>
      </p:sp>
      <p:sp>
        <p:nvSpPr>
          <p:cNvPr id="12" name="Text 10"/>
          <p:cNvSpPr txBox="1"/>
          <p:nvPr/>
        </p:nvSpPr>
        <p:spPr>
          <a:xfrm>
            <a:off x="3456432" y="1828800"/>
            <a:ext cx="2286000" cy="640080"/>
          </a:xfrm>
          <a:prstGeom prst="rect">
            <a:avLst/>
          </a:prstGeom>
          <a:noFill/>
          <a:ln/>
        </p:spPr>
        <p:txBody>
          <a:bodyPr wrap="square" lIns="0" tIns="0" rIns="0" bIns="0" rtlCol="0" anchor="t"/>
          <a:lstStyle/>
          <a:p>
            <a:pPr indent="0" marL="0">
              <a:buNone/>
            </a:pPr>
            <a:r>
              <a:rPr lang="en-US" sz="1200" dirty="0">
                <a:solidFill>
                  <a:srgbClr val="5B6573"/>
                </a:solidFill>
                <a:latin typeface="Arial" pitchFamily="34" charset="0"/>
                <a:ea typeface="Arial" pitchFamily="34" charset="-122"/>
                <a:cs typeface="Arial" pitchFamily="34" charset="-120"/>
              </a:rPr>
              <a:t>Erakustaldia ikusten du, gero bere txanda</a:t>
            </a:r>
            <a:endParaRPr lang="en-US" sz="1200" dirty="0"/>
          </a:p>
        </p:txBody>
      </p:sp>
      <p:sp>
        <p:nvSpPr>
          <p:cNvPr id="13" name="Shape 11"/>
          <p:cNvSpPr/>
          <p:nvPr/>
        </p:nvSpPr>
        <p:spPr>
          <a:xfrm>
            <a:off x="6089904" y="1097280"/>
            <a:ext cx="2596896" cy="1463040"/>
          </a:xfrm>
          <a:prstGeom prst="roundRect">
            <a:avLst>
              <a:gd name="adj" fmla="val 7500"/>
            </a:avLst>
          </a:prstGeom>
          <a:solidFill>
            <a:srgbClr val="EDD4ED"/>
          </a:solidFill>
          <a:ln w="12700">
            <a:solidFill>
              <a:srgbClr val="EDD4ED"/>
            </a:solidFill>
            <a:prstDash val="solid"/>
          </a:ln>
        </p:spPr>
      </p:sp>
      <p:sp>
        <p:nvSpPr>
          <p:cNvPr id="14" name="Text 12"/>
          <p:cNvSpPr txBox="1"/>
          <p:nvPr/>
        </p:nvSpPr>
        <p:spPr>
          <a:xfrm>
            <a:off x="6272784" y="1188720"/>
            <a:ext cx="548640" cy="548640"/>
          </a:xfrm>
          <a:prstGeom prst="rect">
            <a:avLst/>
          </a:prstGeom>
          <a:noFill/>
          <a:ln/>
        </p:spPr>
        <p:txBody>
          <a:bodyPr wrap="square" lIns="0" tIns="0" rIns="0" bIns="0" rtlCol="0" anchor="t"/>
          <a:lstStyle/>
          <a:p>
            <a:pPr indent="0" marL="0">
              <a:buNone/>
            </a:pPr>
            <a:r>
              <a:rPr lang="en-US" sz="3000" b="1" dirty="0">
                <a:solidFill>
                  <a:srgbClr val="5C1A5C"/>
                </a:solidFill>
                <a:latin typeface="Arial" pitchFamily="34" charset="0"/>
                <a:ea typeface="Arial" pitchFamily="34" charset="-122"/>
                <a:cs typeface="Arial" pitchFamily="34" charset="-120"/>
              </a:rPr>
              <a:t>C</a:t>
            </a:r>
            <a:endParaRPr lang="en-US" sz="3000" dirty="0"/>
          </a:p>
        </p:txBody>
      </p:sp>
      <p:sp>
        <p:nvSpPr>
          <p:cNvPr id="15" name="Text 13"/>
          <p:cNvSpPr txBox="1"/>
          <p:nvPr/>
        </p:nvSpPr>
        <p:spPr>
          <a:xfrm>
            <a:off x="6867144" y="1261872"/>
            <a:ext cx="1737360" cy="4114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Erakustaldirik gabe</a:t>
            </a:r>
            <a:endParaRPr lang="en-US" sz="1500" dirty="0"/>
          </a:p>
        </p:txBody>
      </p:sp>
      <p:sp>
        <p:nvSpPr>
          <p:cNvPr id="16" name="Text 14"/>
          <p:cNvSpPr txBox="1"/>
          <p:nvPr/>
        </p:nvSpPr>
        <p:spPr>
          <a:xfrm>
            <a:off x="6272784" y="1828800"/>
            <a:ext cx="2286000" cy="640080"/>
          </a:xfrm>
          <a:prstGeom prst="rect">
            <a:avLst/>
          </a:prstGeom>
          <a:noFill/>
          <a:ln/>
        </p:spPr>
        <p:txBody>
          <a:bodyPr wrap="square" lIns="0" tIns="0" rIns="0" bIns="0" rtlCol="0" anchor="t"/>
          <a:lstStyle/>
          <a:p>
            <a:pPr indent="0" marL="0">
              <a:buNone/>
            </a:pPr>
            <a:r>
              <a:rPr lang="en-US" sz="1200" dirty="0">
                <a:solidFill>
                  <a:srgbClr val="5B6573"/>
                </a:solidFill>
                <a:latin typeface="Arial" pitchFamily="34" charset="0"/>
                <a:ea typeface="Arial" pitchFamily="34" charset="-122"/>
                <a:cs typeface="Arial" pitchFamily="34" charset="-120"/>
              </a:rPr>
              <a:t>Zuzenean saiatzen da</a:t>
            </a:r>
            <a:endParaRPr lang="en-US" sz="1200" dirty="0"/>
          </a:p>
        </p:txBody>
      </p:sp>
      <p:sp>
        <p:nvSpPr>
          <p:cNvPr id="17" name="Shape 15"/>
          <p:cNvSpPr/>
          <p:nvPr/>
        </p:nvSpPr>
        <p:spPr>
          <a:xfrm>
            <a:off x="457200" y="2788920"/>
            <a:ext cx="8229600" cy="868680"/>
          </a:xfrm>
          <a:prstGeom prst="roundRect">
            <a:avLst>
              <a:gd name="adj" fmla="val 12632"/>
            </a:avLst>
          </a:prstGeom>
          <a:solidFill>
            <a:srgbClr val="D4EDE1"/>
          </a:solidFill>
          <a:ln w="12700">
            <a:solidFill>
              <a:srgbClr val="D4EDE1"/>
            </a:solidFill>
            <a:prstDash val="solid"/>
          </a:ln>
        </p:spPr>
      </p:sp>
      <p:sp>
        <p:nvSpPr>
          <p:cNvPr id="18" name="Shape 16"/>
          <p:cNvSpPr/>
          <p:nvPr/>
        </p:nvSpPr>
        <p:spPr>
          <a:xfrm>
            <a:off x="594360" y="3058668"/>
            <a:ext cx="329184" cy="329184"/>
          </a:xfrm>
          <a:prstGeom prst="ellipse">
            <a:avLst/>
          </a:prstGeom>
          <a:solidFill>
            <a:srgbClr val="1B3A5C"/>
          </a:solidFill>
          <a:ln w="12700">
            <a:solidFill>
              <a:srgbClr val="1B3A5C"/>
            </a:solidFill>
            <a:prstDash val="solid"/>
          </a:ln>
        </p:spPr>
      </p:sp>
      <p:sp>
        <p:nvSpPr>
          <p:cNvPr id="19" name="Text 17"/>
          <p:cNvSpPr txBox="1"/>
          <p:nvPr/>
        </p:nvSpPr>
        <p:spPr>
          <a:xfrm>
            <a:off x="594360" y="30586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0" name="Text 18"/>
          <p:cNvSpPr txBox="1"/>
          <p:nvPr/>
        </p:nvSpPr>
        <p:spPr>
          <a:xfrm>
            <a:off x="1051560" y="2843784"/>
            <a:ext cx="6400800" cy="758952"/>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Idatzi irakasleak egiten dituen ekintza GUZTIAK, ordenan. Gero markatu A, B eta C ikaskideek zein errepikatu dituzten (✓/✗) eta zenbat denbora behar izan duten.</a:t>
            </a:r>
            <a:endParaRPr lang="en-US" sz="1400" dirty="0"/>
          </a:p>
        </p:txBody>
      </p:sp>
      <p:sp>
        <p:nvSpPr>
          <p:cNvPr id="21" name="Text 19"/>
          <p:cNvSpPr txBox="1"/>
          <p:nvPr/>
        </p:nvSpPr>
        <p:spPr>
          <a:xfrm>
            <a:off x="7543800" y="2843784"/>
            <a:ext cx="1005840" cy="758952"/>
          </a:xfrm>
          <a:prstGeom prst="rect">
            <a:avLst/>
          </a:prstGeom>
          <a:noFill/>
          <a:ln/>
        </p:spPr>
        <p:txBody>
          <a:bodyPr wrap="square" lIns="0" tIns="0" rIns="0" bIns="0" rtlCol="0" anchor="ctr"/>
          <a:lstStyle/>
          <a:p>
            <a:pPr algn="r" indent="0" marL="0">
              <a:buNone/>
            </a:pPr>
            <a:r>
              <a:rPr lang="en-US" sz="900" b="1" dirty="0">
                <a:solidFill>
                  <a:srgbClr val="1A5C3A"/>
                </a:solidFill>
                <a:latin typeface="Arial" pitchFamily="34" charset="0"/>
                <a:ea typeface="Arial" pitchFamily="34" charset="-122"/>
                <a:cs typeface="Arial" pitchFamily="34" charset="-120"/>
              </a:rPr>
              <a:t>BAKARKA</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15 min</a:t>
            </a:r>
            <a:endParaRPr lang="en-US" sz="900" dirty="0"/>
          </a:p>
        </p:txBody>
      </p:sp>
      <p:sp>
        <p:nvSpPr>
          <p:cNvPr id="22" name="Text 20"/>
          <p:cNvSpPr txBox="1"/>
          <p:nvPr/>
        </p:nvSpPr>
        <p:spPr>
          <a:xfrm>
            <a:off x="457200" y="3840480"/>
            <a:ext cx="8229600" cy="365760"/>
          </a:xfrm>
          <a:prstGeom prst="rect">
            <a:avLst/>
          </a:prstGeom>
          <a:noFill/>
          <a:ln/>
        </p:spPr>
        <p:txBody>
          <a:bodyPr wrap="square" lIns="0" tIns="0" rIns="0" bIns="0" rtlCol="0" anchor="t"/>
          <a:lstStyle/>
          <a:p>
            <a:pPr indent="0" marL="0">
              <a:buNone/>
            </a:pPr>
            <a:r>
              <a:rPr lang="en-US" sz="1300" i="1" dirty="0">
                <a:solidFill>
                  <a:srgbClr val="5B6573"/>
                </a:solidFill>
                <a:latin typeface="Arial" pitchFamily="34" charset="0"/>
                <a:ea typeface="Arial" pitchFamily="34" charset="-122"/>
                <a:cs typeface="Arial" pitchFamily="34" charset="-120"/>
              </a:rPr>
              <a:t>Txanda egin dutenak isilik geratzen dira. Behatzaileok ere bai.</a:t>
            </a:r>
            <a:endParaRPr lang="en-US" sz="13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Hipotesiak eta aurreikuspena</a:t>
            </a:r>
            <a:endParaRPr lang="en-US" sz="2800" dirty="0"/>
          </a:p>
        </p:txBody>
      </p:sp>
      <p:sp>
        <p:nvSpPr>
          <p:cNvPr id="3" name="Shape 1"/>
          <p:cNvSpPr/>
          <p:nvPr/>
        </p:nvSpPr>
        <p:spPr>
          <a:xfrm>
            <a:off x="7635240" y="429768"/>
            <a:ext cx="1051560" cy="365760"/>
          </a:xfrm>
          <a:prstGeom prst="roundRect">
            <a:avLst>
              <a:gd name="adj" fmla="val 25000"/>
            </a:avLst>
          </a:prstGeom>
          <a:solidFill>
            <a:srgbClr val="5C1A5C"/>
          </a:solidFill>
          <a:ln w="12700">
            <a:solidFill>
              <a:srgbClr val="5C1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S1</a:t>
            </a:r>
            <a:endParaRPr lang="en-US" sz="1200" dirty="0"/>
          </a:p>
        </p:txBody>
      </p:sp>
      <p:sp>
        <p:nvSpPr>
          <p:cNvPr id="5" name="Shape 3"/>
          <p:cNvSpPr/>
          <p:nvPr/>
        </p:nvSpPr>
        <p:spPr>
          <a:xfrm>
            <a:off x="457200" y="1097280"/>
            <a:ext cx="8229600" cy="713232"/>
          </a:xfrm>
          <a:prstGeom prst="roundRect">
            <a:avLst>
              <a:gd name="adj" fmla="val 15385"/>
            </a:avLst>
          </a:prstGeom>
          <a:solidFill>
            <a:srgbClr val="FAE5D3"/>
          </a:solidFill>
          <a:ln w="12700">
            <a:solidFill>
              <a:srgbClr val="FAE5D3"/>
            </a:solidFill>
            <a:prstDash val="solid"/>
          </a:ln>
        </p:spPr>
      </p:sp>
      <p:sp>
        <p:nvSpPr>
          <p:cNvPr id="6" name="Shape 4"/>
          <p:cNvSpPr/>
          <p:nvPr/>
        </p:nvSpPr>
        <p:spPr>
          <a:xfrm>
            <a:off x="594360" y="1289304"/>
            <a:ext cx="329184" cy="329184"/>
          </a:xfrm>
          <a:prstGeom prst="ellipse">
            <a:avLst/>
          </a:prstGeom>
          <a:solidFill>
            <a:srgbClr val="1B3A5C"/>
          </a:solidFill>
          <a:ln w="12700">
            <a:solidFill>
              <a:srgbClr val="1B3A5C"/>
            </a:solidFill>
            <a:prstDash val="solid"/>
          </a:ln>
        </p:spPr>
      </p:sp>
      <p:sp>
        <p:nvSpPr>
          <p:cNvPr id="7" name="Text 5"/>
          <p:cNvSpPr txBox="1"/>
          <p:nvPr/>
        </p:nvSpPr>
        <p:spPr>
          <a:xfrm>
            <a:off x="594360" y="12893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051560" y="1152144"/>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Osatu hirukotea eta banatu rolak</a:t>
            </a:r>
            <a:endParaRPr lang="en-US" sz="1400" dirty="0"/>
          </a:p>
        </p:txBody>
      </p:sp>
      <p:sp>
        <p:nvSpPr>
          <p:cNvPr id="9" name="Text 7"/>
          <p:cNvSpPr txBox="1"/>
          <p:nvPr/>
        </p:nvSpPr>
        <p:spPr>
          <a:xfrm>
            <a:off x="7543800" y="1152144"/>
            <a:ext cx="1005840" cy="603504"/>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3 min</a:t>
            </a:r>
            <a:endParaRPr lang="en-US" sz="900" dirty="0"/>
          </a:p>
        </p:txBody>
      </p:sp>
      <p:sp>
        <p:nvSpPr>
          <p:cNvPr id="10" name="Shape 8"/>
          <p:cNvSpPr/>
          <p:nvPr/>
        </p:nvSpPr>
        <p:spPr>
          <a:xfrm>
            <a:off x="457200" y="1938528"/>
            <a:ext cx="8229600" cy="713232"/>
          </a:xfrm>
          <a:prstGeom prst="roundRect">
            <a:avLst>
              <a:gd name="adj" fmla="val 15385"/>
            </a:avLst>
          </a:prstGeom>
          <a:solidFill>
            <a:srgbClr val="FAE5D3"/>
          </a:solidFill>
          <a:ln w="12700">
            <a:solidFill>
              <a:srgbClr val="FAE5D3"/>
            </a:solidFill>
            <a:prstDash val="solid"/>
          </a:ln>
        </p:spPr>
      </p:sp>
      <p:sp>
        <p:nvSpPr>
          <p:cNvPr id="11" name="Shape 9"/>
          <p:cNvSpPr/>
          <p:nvPr/>
        </p:nvSpPr>
        <p:spPr>
          <a:xfrm>
            <a:off x="594360" y="2130552"/>
            <a:ext cx="329184" cy="329184"/>
          </a:xfrm>
          <a:prstGeom prst="ellipse">
            <a:avLst/>
          </a:prstGeom>
          <a:solidFill>
            <a:srgbClr val="1B3A5C"/>
          </a:solidFill>
          <a:ln w="12700">
            <a:solidFill>
              <a:srgbClr val="1B3A5C"/>
            </a:solidFill>
            <a:prstDash val="solid"/>
          </a:ln>
        </p:spPr>
      </p:sp>
      <p:sp>
        <p:nvSpPr>
          <p:cNvPr id="12" name="Text 10"/>
          <p:cNvSpPr txBox="1"/>
          <p:nvPr/>
        </p:nvSpPr>
        <p:spPr>
          <a:xfrm>
            <a:off x="594360" y="21305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1051560" y="1993392"/>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Hiru hipotesi lehiakide: zer gertatu den · zergatik · zer behaketak frogatuko lukeen</a:t>
            </a:r>
            <a:endParaRPr lang="en-US" sz="1400" dirty="0"/>
          </a:p>
        </p:txBody>
      </p:sp>
      <p:sp>
        <p:nvSpPr>
          <p:cNvPr id="14" name="Text 12"/>
          <p:cNvSpPr txBox="1"/>
          <p:nvPr/>
        </p:nvSpPr>
        <p:spPr>
          <a:xfrm>
            <a:off x="7543800" y="1993392"/>
            <a:ext cx="1005840" cy="603504"/>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12 min</a:t>
            </a:r>
            <a:endParaRPr lang="en-US" sz="900" dirty="0"/>
          </a:p>
        </p:txBody>
      </p:sp>
      <p:sp>
        <p:nvSpPr>
          <p:cNvPr id="15" name="Shape 13"/>
          <p:cNvSpPr/>
          <p:nvPr/>
        </p:nvSpPr>
        <p:spPr>
          <a:xfrm>
            <a:off x="457200" y="2779776"/>
            <a:ext cx="8229600" cy="713232"/>
          </a:xfrm>
          <a:prstGeom prst="roundRect">
            <a:avLst>
              <a:gd name="adj" fmla="val 15385"/>
            </a:avLst>
          </a:prstGeom>
          <a:solidFill>
            <a:srgbClr val="FAE5D3"/>
          </a:solidFill>
          <a:ln w="12700">
            <a:solidFill>
              <a:srgbClr val="FAE5D3"/>
            </a:solidFill>
            <a:prstDash val="solid"/>
          </a:ln>
        </p:spPr>
      </p:sp>
      <p:sp>
        <p:nvSpPr>
          <p:cNvPr id="16" name="Shape 14"/>
          <p:cNvSpPr/>
          <p:nvPr/>
        </p:nvSpPr>
        <p:spPr>
          <a:xfrm>
            <a:off x="594360" y="2971800"/>
            <a:ext cx="329184" cy="329184"/>
          </a:xfrm>
          <a:prstGeom prst="ellipse">
            <a:avLst/>
          </a:prstGeom>
          <a:solidFill>
            <a:srgbClr val="1B3A5C"/>
          </a:solidFill>
          <a:ln w="12700">
            <a:solidFill>
              <a:srgbClr val="1B3A5C"/>
            </a:solidFill>
            <a:prstDash val="solid"/>
          </a:ln>
        </p:spPr>
      </p:sp>
      <p:sp>
        <p:nvSpPr>
          <p:cNvPr id="17" name="Text 15"/>
          <p:cNvSpPr txBox="1"/>
          <p:nvPr/>
        </p:nvSpPr>
        <p:spPr>
          <a:xfrm>
            <a:off x="594360"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1051560" y="2834640"/>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Aurreikuspena: 2005ean, txinpantzeek (2-6 urte) eta haurrek (3-4 urte) antzeko kutxa bat. Zer egin zuten opakoarekin? Eta gardenarekin?</a:t>
            </a:r>
            <a:endParaRPr lang="en-US" sz="1400" dirty="0"/>
          </a:p>
        </p:txBody>
      </p:sp>
      <p:sp>
        <p:nvSpPr>
          <p:cNvPr id="19" name="Text 17"/>
          <p:cNvSpPr txBox="1"/>
          <p:nvPr/>
        </p:nvSpPr>
        <p:spPr>
          <a:xfrm>
            <a:off x="7543800" y="2834640"/>
            <a:ext cx="1005840" cy="603504"/>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8 min</a:t>
            </a:r>
            <a:endParaRPr lang="en-US" sz="900" dirty="0"/>
          </a:p>
        </p:txBody>
      </p:sp>
      <p:sp>
        <p:nvSpPr>
          <p:cNvPr id="20" name="Shape 18"/>
          <p:cNvSpPr/>
          <p:nvPr/>
        </p:nvSpPr>
        <p:spPr>
          <a:xfrm>
            <a:off x="457200" y="3794760"/>
            <a:ext cx="8229600" cy="731520"/>
          </a:xfrm>
          <a:prstGeom prst="roundRect">
            <a:avLst>
              <a:gd name="adj" fmla="val 12500"/>
            </a:avLst>
          </a:prstGeom>
          <a:solidFill>
            <a:srgbClr val="FFFFFF"/>
          </a:solidFill>
          <a:ln w="19050">
            <a:solidFill>
              <a:srgbClr val="1B3A5C"/>
            </a:solidFill>
            <a:prstDash val="dash"/>
          </a:ln>
        </p:spPr>
      </p:sp>
      <p:sp>
        <p:nvSpPr>
          <p:cNvPr id="21" name="Text 19"/>
          <p:cNvSpPr txBox="1"/>
          <p:nvPr/>
        </p:nvSpPr>
        <p:spPr>
          <a:xfrm>
            <a:off x="640080" y="3867912"/>
            <a:ext cx="7863840" cy="585216"/>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IRTEERA-TXARTELA · 4 MIN   </a:t>
            </a:r>
            <a:pPr indent="0" marL="0">
              <a:buNone/>
            </a:pPr>
            <a:r>
              <a:rPr lang="en-US" sz="1300" dirty="0">
                <a:solidFill>
                  <a:srgbClr val="1A1A1A"/>
                </a:solidFill>
                <a:latin typeface="Arial" pitchFamily="34" charset="0"/>
                <a:ea typeface="Arial" pitchFamily="34" charset="-122"/>
                <a:cs typeface="Arial" pitchFamily="34" charset="-120"/>
              </a:rPr>
              <a:t>Zer alde dago ekintza bat errepikatzearen eta hura ulertzearen artean? Adibide bat zure ikasle-bizitzatik.</a:t>
            </a:r>
            <a:endParaRPr lang="en-US" sz="10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5FC"/>
        </a:solidFill>
      </p:bgPr>
    </p:bg>
    <p:spTree>
      <p:nvGrpSpPr>
        <p:cNvPr id="1" name=""/>
        <p:cNvGrpSpPr/>
        <p:nvPr/>
      </p:nvGrpSpPr>
      <p:grpSpPr>
        <a:xfrm>
          <a:off x="0" y="0"/>
          <a:ext cx="0" cy="0"/>
          <a:chOff x="0" y="0"/>
          <a:chExt cx="0" cy="0"/>
        </a:xfrm>
      </p:grpSpPr>
      <p:sp>
        <p:nvSpPr>
          <p:cNvPr id="2" name="Shape 0"/>
          <p:cNvSpPr/>
          <p:nvPr/>
        </p:nvSpPr>
        <p:spPr>
          <a:xfrm>
            <a:off x="548640" y="548640"/>
            <a:ext cx="822960" cy="457200"/>
          </a:xfrm>
          <a:prstGeom prst="roundRect">
            <a:avLst>
              <a:gd name="adj" fmla="val 20000"/>
            </a:avLst>
          </a:prstGeom>
          <a:solidFill>
            <a:srgbClr val="1B3A5C"/>
          </a:solidFill>
          <a:ln w="12700">
            <a:solidFill>
              <a:srgbClr val="1B3A5C"/>
            </a:solidFill>
            <a:prstDash val="solid"/>
          </a:ln>
        </p:spPr>
      </p:sp>
      <p:sp>
        <p:nvSpPr>
          <p:cNvPr id="3" name="Text 1"/>
          <p:cNvSpPr txBox="1"/>
          <p:nvPr/>
        </p:nvSpPr>
        <p:spPr>
          <a:xfrm>
            <a:off x="548640" y="548640"/>
            <a:ext cx="822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S2</a:t>
            </a:r>
            <a:endParaRPr lang="en-US" sz="1800" dirty="0"/>
          </a:p>
        </p:txBody>
      </p:sp>
      <p:sp>
        <p:nvSpPr>
          <p:cNvPr id="4" name="Text 2"/>
          <p:cNvSpPr txBox="1"/>
          <p:nvPr/>
        </p:nvSpPr>
        <p:spPr>
          <a:xfrm>
            <a:off x="1554480" y="548640"/>
            <a:ext cx="5029200" cy="457200"/>
          </a:xfrm>
          <a:prstGeom prst="rect">
            <a:avLst/>
          </a:prstGeom>
          <a:noFill/>
          <a:ln/>
        </p:spPr>
        <p:txBody>
          <a:bodyPr wrap="square" lIns="0" tIns="0" rIns="0" bIns="0" rtlCol="0" anchor="ctr"/>
          <a:lstStyle/>
          <a:p>
            <a:pPr indent="0" marL="0">
              <a:buNone/>
            </a:pPr>
            <a:r>
              <a:rPr lang="en-US" sz="1300" b="1" dirty="0">
                <a:solidFill>
                  <a:srgbClr val="1B3A5C"/>
                </a:solidFill>
                <a:latin typeface="Arial" pitchFamily="34" charset="0"/>
                <a:ea typeface="Arial" pitchFamily="34" charset="-122"/>
                <a:cs typeface="Arial" pitchFamily="34" charset="-120"/>
              </a:rPr>
              <a:t>Kondizionamendu operantea · 50 min</a:t>
            </a:r>
            <a:endParaRPr lang="en-US" sz="1300" dirty="0"/>
          </a:p>
        </p:txBody>
      </p:sp>
      <p:sp>
        <p:nvSpPr>
          <p:cNvPr id="5" name="Text 0"/>
          <p:cNvSpPr/>
          <p:nvPr>
            <p:ph idx="100" type="title" hasCustomPrompt="1"/>
          </p:nvPr>
        </p:nvSpPr>
        <p:spPr>
          <a:xfrm>
            <a:off x="548640" y="1234440"/>
            <a:ext cx="6035040" cy="914400"/>
          </a:xfrm>
          <a:prstGeom prst="rect">
            <a:avLst/>
          </a:prstGeom>
          <a:noFill/>
          <a:ln/>
        </p:spPr>
        <p:txBody>
          <a:bodyPr wrap="square" lIns="0" tIns="0" rIns="0" bIns="0" rtlCol="0" anchor="t"/>
          <a:lstStyle/>
          <a:p>
            <a:pPr algn="l" indent="0" marL="0">
              <a:buNone/>
            </a:pPr>
            <a:r>
              <a:rPr lang="en-US" sz="3600" b="1" dirty="0">
                <a:solidFill>
                  <a:srgbClr val="1B3A5C"/>
                </a:solidFill>
              </a:rPr>
              <a:t>Moldaketa-jokoa</a:t>
            </a:r>
            <a:endParaRPr lang="en-US" sz="3600" dirty="0"/>
          </a:p>
        </p:txBody>
      </p:sp>
      <p:sp>
        <p:nvSpPr>
          <p:cNvPr id="6" name="Text 0"/>
          <p:cNvSpPr/>
          <p:nvPr>
            <p:ph idx="101" type="body" hasCustomPrompt="1"/>
          </p:nvPr>
        </p:nvSpPr>
        <p:spPr>
          <a:xfrm>
            <a:off x="548640" y="2514600"/>
            <a:ext cx="6035040" cy="1463040"/>
          </a:xfrm>
          <a:prstGeom prst="rect">
            <a:avLst/>
          </a:prstGeom>
          <a:noFill/>
          <a:ln/>
        </p:spPr>
        <p:txBody>
          <a:bodyPr wrap="square" lIns="0" tIns="0" rIns="0" bIns="0" rtlCol="0" anchor="t"/>
          <a:lstStyle/>
          <a:p>
            <a:pPr algn="l" indent="0" marL="0">
              <a:buNone/>
            </a:pPr>
            <a:r>
              <a:rPr lang="en-US" sz="2200" b="1" dirty="0">
                <a:solidFill>
                  <a:srgbClr val="1B3A5C"/>
                </a:solidFill>
              </a:rPr>
              <a:t>Ikasi al du? Ulertu al du? Gauza bera al da?</a:t>
            </a:r>
            <a:endParaRPr lang="en-US" sz="2200" dirty="0"/>
          </a:p>
        </p:txBody>
      </p:sp>
      <p:sp>
        <p:nvSpPr>
          <p:cNvPr id="7" name="Shape 5"/>
          <p:cNvSpPr/>
          <p:nvPr/>
        </p:nvSpPr>
        <p:spPr>
          <a:xfrm>
            <a:off x="6720840" y="1325880"/>
            <a:ext cx="2011680" cy="20116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223760" y="1828800"/>
            <a:ext cx="1005840" cy="1005840"/>
          </a:xfrm>
          <a:prstGeom prst="rect">
            <a:avLst/>
          </a:prstGeom>
        </p:spPr>
      </p:pic>
      <p:sp>
        <p:nvSpPr>
          <p:cNvPr id="9" name="Text 6"/>
          <p:cNvSpPr txBox="1"/>
          <p:nvPr/>
        </p:nvSpPr>
        <p:spPr>
          <a:xfrm>
            <a:off x="548640" y="2240280"/>
            <a:ext cx="3657600" cy="274320"/>
          </a:xfrm>
          <a:prstGeom prst="rect">
            <a:avLst/>
          </a:prstGeom>
          <a:noFill/>
          <a:ln/>
        </p:spPr>
        <p:txBody>
          <a:bodyPr wrap="square" lIns="0" tIns="0" rIns="0" bIns="0" rtlCol="0" anchor="t"/>
          <a:lstStyle/>
          <a:p>
            <a:pPr indent="0" marL="0">
              <a:buNone/>
            </a:pPr>
            <a:r>
              <a:rPr lang="en-US" sz="1000" b="1" spc="200" kern="0" dirty="0">
                <a:solidFill>
                  <a:srgbClr val="5B6573"/>
                </a:solidFill>
                <a:latin typeface="Arial" pitchFamily="34" charset="0"/>
                <a:ea typeface="Arial" pitchFamily="34" charset="-122"/>
                <a:cs typeface="Arial" pitchFamily="34" charset="-120"/>
              </a:rPr>
              <a:t>GALDERA GIDARIA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Jokoaren arauak</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S2</a:t>
            </a:r>
            <a:endParaRPr lang="en-US" sz="1200" dirty="0"/>
          </a:p>
        </p:txBody>
      </p:sp>
      <p:sp>
        <p:nvSpPr>
          <p:cNvPr id="5" name="Shape 3"/>
          <p:cNvSpPr/>
          <p:nvPr/>
        </p:nvSpPr>
        <p:spPr>
          <a:xfrm>
            <a:off x="457200" y="1097280"/>
            <a:ext cx="4023360" cy="2514600"/>
          </a:xfrm>
          <a:prstGeom prst="roundRect">
            <a:avLst>
              <a:gd name="adj" fmla="val 4364"/>
            </a:avLst>
          </a:prstGeom>
          <a:solidFill>
            <a:srgbClr val="D6E8F7"/>
          </a:solidFill>
          <a:ln w="12700">
            <a:solidFill>
              <a:srgbClr val="D6E8F7"/>
            </a:solidFill>
            <a:prstDash val="solid"/>
          </a:ln>
        </p:spPr>
      </p:sp>
      <p:sp>
        <p:nvSpPr>
          <p:cNvPr id="6" name="Text 4"/>
          <p:cNvSpPr txBox="1"/>
          <p:nvPr/>
        </p:nvSpPr>
        <p:spPr>
          <a:xfrm>
            <a:off x="640080" y="1188720"/>
            <a:ext cx="3657600" cy="365760"/>
          </a:xfrm>
          <a:prstGeom prst="rect">
            <a:avLst/>
          </a:prstGeom>
          <a:noFill/>
          <a:ln/>
        </p:spPr>
        <p:txBody>
          <a:bodyPr wrap="square" lIns="0" tIns="0" rIns="0" bIns="0" rtlCol="0" anchor="t"/>
          <a:lstStyle/>
          <a:p>
            <a:pPr indent="0" marL="0">
              <a:buNone/>
            </a:pPr>
            <a:r>
              <a:rPr lang="en-US" sz="1600" b="1" dirty="0">
                <a:solidFill>
                  <a:srgbClr val="1B3A5C"/>
                </a:solidFill>
                <a:latin typeface="Arial" pitchFamily="34" charset="0"/>
                <a:ea typeface="Arial" pitchFamily="34" charset="-122"/>
                <a:cs typeface="Arial" pitchFamily="34" charset="-120"/>
              </a:rPr>
              <a:t>Nola jokatzen den</a:t>
            </a:r>
            <a:endParaRPr lang="en-US" sz="1600" dirty="0"/>
          </a:p>
        </p:txBody>
      </p:sp>
      <p:sp>
        <p:nvSpPr>
          <p:cNvPr id="7" name="Text 5"/>
          <p:cNvSpPr txBox="1"/>
          <p:nvPr/>
        </p:nvSpPr>
        <p:spPr>
          <a:xfrm>
            <a:off x="685800" y="1600200"/>
            <a:ext cx="3657600" cy="19202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50" dirty="0">
                <a:solidFill>
                  <a:srgbClr val="1A1A1A"/>
                </a:solidFill>
                <a:latin typeface="Arial" pitchFamily="34" charset="0"/>
                <a:ea typeface="Arial" pitchFamily="34" charset="-122"/>
                <a:cs typeface="Arial" pitchFamily="34" charset="-120"/>
              </a:rPr>
              <a:t>Boluntario bat kanpora</a:t>
            </a:r>
            <a:endParaRPr lang="en-US" sz="1350" dirty="0"/>
          </a:p>
          <a:p>
            <a:pPr marL="342900" indent="-342900">
              <a:spcAft>
                <a:spcPts val="600"/>
              </a:spcAft>
              <a:buSzPct val="100000"/>
              <a:buFont typeface="+mj-lt"/>
              <a:buAutoNum type="arabicPeriod" startAt="1"/>
            </a:pPr>
            <a:r>
              <a:rPr lang="en-US" sz="1350" dirty="0">
                <a:solidFill>
                  <a:srgbClr val="1A1A1A"/>
                </a:solidFill>
                <a:latin typeface="Arial" pitchFamily="34" charset="0"/>
                <a:ea typeface="Arial" pitchFamily="34" charset="-122"/>
                <a:cs typeface="Arial" pitchFamily="34" charset="-120"/>
              </a:rPr>
              <a:t>Gelak jokabide sinple, seguru eta duin bat aukeratzen du</a:t>
            </a:r>
            <a:endParaRPr lang="en-US" sz="1350" dirty="0"/>
          </a:p>
          <a:p>
            <a:pPr marL="342900" indent="-342900">
              <a:spcAft>
                <a:spcPts val="600"/>
              </a:spcAft>
              <a:buSzPct val="100000"/>
              <a:buFont typeface="+mj-lt"/>
              <a:buAutoNum type="arabicPeriod" startAt="1"/>
            </a:pPr>
            <a:r>
              <a:rPr lang="en-US" sz="1350" dirty="0">
                <a:solidFill>
                  <a:srgbClr val="1A1A1A"/>
                </a:solidFill>
                <a:latin typeface="Arial" pitchFamily="34" charset="0"/>
                <a:ea typeface="Arial" pitchFamily="34" charset="-122"/>
                <a:cs typeface="Arial" pitchFamily="34" charset="-120"/>
              </a:rPr>
              <a:t>Arau bakarra: «Txaloak entzuten badituzu, ondo zoaz»</a:t>
            </a:r>
            <a:endParaRPr lang="en-US" sz="1350" dirty="0"/>
          </a:p>
          <a:p>
            <a:pPr marL="342900" indent="-342900">
              <a:spcAft>
                <a:spcPts val="600"/>
              </a:spcAft>
              <a:buSzPct val="100000"/>
              <a:buFont typeface="+mj-lt"/>
              <a:buAutoNum type="arabicPeriod" startAt="1"/>
            </a:pPr>
            <a:r>
              <a:rPr lang="en-US" sz="1350" dirty="0">
                <a:solidFill>
                  <a:srgbClr val="1A1A1A"/>
                </a:solidFill>
                <a:latin typeface="Arial" pitchFamily="34" charset="0"/>
                <a:ea typeface="Arial" pitchFamily="34" charset="-122"/>
                <a:cs typeface="Arial" pitchFamily="34" charset="-120"/>
              </a:rPr>
              <a:t>Txalo bat, hurbiltzen den bakoitzean</a:t>
            </a:r>
            <a:endParaRPr lang="en-US" sz="1350" dirty="0"/>
          </a:p>
        </p:txBody>
      </p:sp>
      <p:sp>
        <p:nvSpPr>
          <p:cNvPr id="8" name="Shape 6"/>
          <p:cNvSpPr/>
          <p:nvPr/>
        </p:nvSpPr>
        <p:spPr>
          <a:xfrm>
            <a:off x="4663440" y="1097280"/>
            <a:ext cx="4023360" cy="1143000"/>
          </a:xfrm>
          <a:prstGeom prst="roundRect">
            <a:avLst>
              <a:gd name="adj" fmla="val 9600"/>
            </a:avLst>
          </a:prstGeom>
          <a:solidFill>
            <a:srgbClr val="F6E3E3"/>
          </a:solidFill>
          <a:ln w="12700">
            <a:solidFill>
              <a:srgbClr val="F6E3E3"/>
            </a:solidFill>
            <a:prstDash val="solid"/>
          </a:ln>
        </p:spPr>
      </p:sp>
      <p:sp>
        <p:nvSpPr>
          <p:cNvPr id="9" name="Text 7"/>
          <p:cNvSpPr txBox="1"/>
          <p:nvPr/>
        </p:nvSpPr>
        <p:spPr>
          <a:xfrm>
            <a:off x="4846320" y="1188720"/>
            <a:ext cx="3657600" cy="320040"/>
          </a:xfrm>
          <a:prstGeom prst="rect">
            <a:avLst/>
          </a:prstGeom>
          <a:noFill/>
          <a:ln/>
        </p:spPr>
        <p:txBody>
          <a:bodyPr wrap="square" lIns="0" tIns="0" rIns="0" bIns="0" rtlCol="0" anchor="t"/>
          <a:lstStyle/>
          <a:p>
            <a:pPr indent="0" marL="0">
              <a:buNone/>
            </a:pPr>
            <a:r>
              <a:rPr lang="en-US" sz="1500" b="1" dirty="0">
                <a:solidFill>
                  <a:srgbClr val="8A2B2B"/>
                </a:solidFill>
                <a:latin typeface="Arial" pitchFamily="34" charset="0"/>
                <a:ea typeface="Arial" pitchFamily="34" charset="-122"/>
                <a:cs typeface="Arial" pitchFamily="34" charset="-120"/>
              </a:rPr>
              <a:t>Debekatuta</a:t>
            </a:r>
            <a:endParaRPr lang="en-US" sz="1500" dirty="0"/>
          </a:p>
        </p:txBody>
      </p:sp>
      <p:sp>
        <p:nvSpPr>
          <p:cNvPr id="10" name="Text 8"/>
          <p:cNvSpPr txBox="1"/>
          <p:nvPr/>
        </p:nvSpPr>
        <p:spPr>
          <a:xfrm>
            <a:off x="4846320" y="1572768"/>
            <a:ext cx="3657600" cy="457200"/>
          </a:xfrm>
          <a:prstGeom prst="rect">
            <a:avLst/>
          </a:prstGeom>
          <a:noFill/>
          <a:ln/>
        </p:spPr>
        <p:txBody>
          <a:bodyPr wrap="square" lIns="0" tIns="0" rIns="0" bIns="0" rtlCol="0" anchor="t"/>
          <a:lstStyle/>
          <a:p>
            <a:pPr indent="0" marL="0">
              <a:buNone/>
            </a:pPr>
            <a:r>
              <a:rPr lang="en-US" sz="1400" dirty="0">
                <a:solidFill>
                  <a:srgbClr val="1A1A1A"/>
                </a:solidFill>
                <a:latin typeface="Arial" pitchFamily="34" charset="0"/>
                <a:ea typeface="Arial" pitchFamily="34" charset="-122"/>
                <a:cs typeface="Arial" pitchFamily="34" charset="-120"/>
              </a:rPr>
              <a:t>Hitzak · keinuak · barreak</a:t>
            </a:r>
            <a:endParaRPr lang="en-US" sz="1400" dirty="0"/>
          </a:p>
        </p:txBody>
      </p:sp>
      <p:sp>
        <p:nvSpPr>
          <p:cNvPr id="11" name="Shape 9"/>
          <p:cNvSpPr/>
          <p:nvPr/>
        </p:nvSpPr>
        <p:spPr>
          <a:xfrm>
            <a:off x="4663440" y="2377440"/>
            <a:ext cx="4023360" cy="1234440"/>
          </a:xfrm>
          <a:prstGeom prst="roundRect">
            <a:avLst>
              <a:gd name="adj" fmla="val 8889"/>
            </a:avLst>
          </a:prstGeom>
          <a:solidFill>
            <a:srgbClr val="FAE5D3"/>
          </a:solidFill>
          <a:ln w="12700">
            <a:solidFill>
              <a:srgbClr val="FAE5D3"/>
            </a:solidFill>
            <a:prstDash val="solid"/>
          </a:ln>
        </p:spPr>
      </p:sp>
      <p:sp>
        <p:nvSpPr>
          <p:cNvPr id="12" name="Text 10"/>
          <p:cNvSpPr txBox="1"/>
          <p:nvPr/>
        </p:nvSpPr>
        <p:spPr>
          <a:xfrm>
            <a:off x="4846320" y="2468880"/>
            <a:ext cx="3657600" cy="320040"/>
          </a:xfrm>
          <a:prstGeom prst="rect">
            <a:avLst/>
          </a:prstGeom>
          <a:noFill/>
          <a:ln/>
        </p:spPr>
        <p:txBody>
          <a:bodyPr wrap="square" lIns="0" tIns="0" rIns="0" bIns="0" rtlCol="0" anchor="t"/>
          <a:lstStyle/>
          <a:p>
            <a:pPr indent="0" marL="0">
              <a:buNone/>
            </a:pPr>
            <a:r>
              <a:rPr lang="en-US" sz="1500" b="1" dirty="0">
                <a:solidFill>
                  <a:srgbClr val="8C3A00"/>
                </a:solidFill>
                <a:latin typeface="Arial" pitchFamily="34" charset="0"/>
                <a:ea typeface="Arial" pitchFamily="34" charset="-122"/>
                <a:cs typeface="Arial" pitchFamily="34" charset="-120"/>
              </a:rPr>
              <a:t>Behatzaileok erregistratu</a:t>
            </a:r>
            <a:endParaRPr lang="en-US" sz="1500" dirty="0"/>
          </a:p>
        </p:txBody>
      </p:sp>
      <p:sp>
        <p:nvSpPr>
          <p:cNvPr id="13" name="Text 11"/>
          <p:cNvSpPr txBox="1"/>
          <p:nvPr/>
        </p:nvSpPr>
        <p:spPr>
          <a:xfrm>
            <a:off x="4846320" y="2816352"/>
            <a:ext cx="3657600" cy="731520"/>
          </a:xfrm>
          <a:prstGeom prst="rect">
            <a:avLst/>
          </a:prstGeom>
          <a:noFill/>
          <a:ln/>
        </p:spPr>
        <p:txBody>
          <a:bodyPr wrap="square" lIns="0" tIns="0" rIns="0" bIns="0" rtlCol="0" anchor="t"/>
          <a:lstStyle/>
          <a:p>
            <a:pPr indent="0" marL="0">
              <a:buNone/>
            </a:pPr>
            <a:r>
              <a:rPr lang="en-US" sz="1300" dirty="0">
                <a:solidFill>
                  <a:srgbClr val="1A1A1A"/>
                </a:solidFill>
                <a:latin typeface="Arial" pitchFamily="34" charset="0"/>
                <a:ea typeface="Arial" pitchFamily="34" charset="-122"/>
                <a:cs typeface="Arial" pitchFamily="34" charset="-120"/>
              </a:rPr>
              <a:t>Zenbat txalo? Zenbat minutu? Noiz aldatu da jokabidea nabarmen?</a:t>
            </a:r>
            <a:endParaRPr lang="en-US" sz="1300" dirty="0"/>
          </a:p>
        </p:txBody>
      </p:sp>
      <p:sp>
        <p:nvSpPr>
          <p:cNvPr id="14" name="Shape 12"/>
          <p:cNvSpPr/>
          <p:nvPr/>
        </p:nvSpPr>
        <p:spPr>
          <a:xfrm>
            <a:off x="457200" y="3794760"/>
            <a:ext cx="8229600" cy="731520"/>
          </a:xfrm>
          <a:prstGeom prst="roundRect">
            <a:avLst>
              <a:gd name="adj" fmla="val 15000"/>
            </a:avLst>
          </a:prstGeom>
          <a:solidFill>
            <a:srgbClr val="F7F7F5"/>
          </a:solidFill>
          <a:ln w="12700">
            <a:solidFill>
              <a:srgbClr val="F7F7F5"/>
            </a:solidFill>
            <a:prstDash val="solid"/>
          </a:ln>
        </p:spPr>
      </p:sp>
      <p:sp>
        <p:nvSpPr>
          <p:cNvPr id="15" name="Text 13"/>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400" b="1" dirty="0">
                <a:solidFill>
                  <a:srgbClr val="1B3A5C"/>
                </a:solidFill>
                <a:latin typeface="Arial" pitchFamily="34" charset="0"/>
                <a:ea typeface="Arial" pitchFamily="34" charset="-122"/>
                <a:cs typeface="Arial" pitchFamily="34" charset="-120"/>
              </a:rPr>
              <a:t>Amaieran, boluntarioari:  </a:t>
            </a:r>
            <a:pPr indent="0" marL="0">
              <a:buNone/>
            </a:pPr>
            <a:r>
              <a:rPr lang="en-US" sz="1400" i="1" dirty="0">
                <a:solidFill>
                  <a:srgbClr val="1A1A1A"/>
                </a:solidFill>
                <a:latin typeface="Arial" pitchFamily="34" charset="0"/>
                <a:ea typeface="Arial" pitchFamily="34" charset="-122"/>
                <a:cs typeface="Arial" pitchFamily="34" charset="-120"/>
              </a:rPr>
              <a:t>Zer ikasi duzu? Zein zen araua? Noiz konturatu zara?</a:t>
            </a:r>
            <a:endParaRPr lang="en-US" sz="14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Ondorioek moldatzen dute jokabidea</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S2</a:t>
            </a:r>
            <a:endParaRPr lang="en-US" sz="1200" dirty="0"/>
          </a:p>
        </p:txBody>
      </p:sp>
      <p:sp>
        <p:nvSpPr>
          <p:cNvPr id="5" name="Text 3"/>
          <p:cNvSpPr txBox="1"/>
          <p:nvPr/>
        </p:nvSpPr>
        <p:spPr>
          <a:xfrm>
            <a:off x="457200" y="1024128"/>
            <a:ext cx="8229600" cy="548640"/>
          </a:xfrm>
          <a:prstGeom prst="rect">
            <a:avLst/>
          </a:prstGeom>
          <a:noFill/>
          <a:ln/>
        </p:spPr>
        <p:txBody>
          <a:bodyPr wrap="square" lIns="0" tIns="0" rIns="0" bIns="0" rtlCol="0" anchor="t"/>
          <a:lstStyle/>
          <a:p>
            <a:pPr indent="0" marL="0">
              <a:buNone/>
            </a:pPr>
            <a:r>
              <a:rPr lang="en-US" sz="1300" dirty="0">
                <a:solidFill>
                  <a:srgbClr val="5B6573"/>
                </a:solidFill>
                <a:latin typeface="Arial" pitchFamily="34" charset="0"/>
                <a:ea typeface="Arial" pitchFamily="34" charset="-122"/>
                <a:cs typeface="Arial" pitchFamily="34" charset="-120"/>
              </a:rPr>
              <a:t>Thorndike (1898): katuek pixkanaka ikasten zuten kutxatik irteten → efektuaren legea, saiakera-errorea. Skinner: kondizionamendu operantea.</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914400"/>
        </p:xfrm>
        <a:graphic>
          <a:graphicData uri="http://schemas.openxmlformats.org/drawingml/2006/table">
            <a:tbl>
              <a:tblPr/>
              <a:tblGrid>
                <a:gridCol w="2194560"/>
                <a:gridCol w="3017520"/>
                <a:gridCol w="3017520"/>
              </a:tblGrid>
              <a:tr h="411480">
                <a:tc>
                  <a:txBody>
                    <a:bodyPr/>
                    <a:lstStyle/>
                    <a:p>
                      <a:pPr indent="0" marL="0">
                        <a:buNone/>
                      </a:pPr>
                      <a:endParaRPr lang="en-US" sz="1300" dirty="0">
                        <a:latin typeface="Arial" charset="0"/>
                        <a:ea typeface="Arial" charset="0"/>
                        <a:cs typeface="Arial"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1B3A5C"/>
                          </a:solidFill>
                          <a:latin typeface="Arial" pitchFamily="34" charset="0"/>
                          <a:ea typeface="Arial" pitchFamily="34" charset="-122"/>
                          <a:cs typeface="Arial" pitchFamily="34" charset="-120"/>
                        </a:rPr>
                        <a:t>Zerbait GEHITZEN da</a:t>
                      </a:r>
                      <a:endParaRPr lang="en-US" sz="1300" dirty="0">
                        <a:latin typeface="Arial" charset="0"/>
                        <a:ea typeface="Arial" charset="0"/>
                        <a:cs typeface="Arial"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8F7"/>
                    </a:solidFill>
                  </a:tcPr>
                </a:tc>
                <a:tc>
                  <a:txBody>
                    <a:bodyPr/>
                    <a:lstStyle/>
                    <a:p>
                      <a:pPr indent="0" marL="0">
                        <a:buNone/>
                      </a:pPr>
                      <a:r>
                        <a:rPr lang="en-US" sz="1300" b="1" dirty="0">
                          <a:solidFill>
                            <a:srgbClr val="1B3A5C"/>
                          </a:solidFill>
                          <a:latin typeface="Arial" pitchFamily="34" charset="0"/>
                          <a:ea typeface="Arial" pitchFamily="34" charset="-122"/>
                          <a:cs typeface="Arial" pitchFamily="34" charset="-120"/>
                        </a:rPr>
                        <a:t>Zerbait KENTZEN da</a:t>
                      </a:r>
                      <a:endParaRPr lang="en-US" sz="1300" dirty="0">
                        <a:latin typeface="Arial" charset="0"/>
                        <a:ea typeface="Arial" charset="0"/>
                        <a:cs typeface="Arial"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8F7"/>
                    </a:solidFill>
                  </a:tcPr>
                </a:tc>
              </a:tr>
              <a:tr h="777240">
                <a:tc>
                  <a:txBody>
                    <a:bodyPr/>
                    <a:lstStyle/>
                    <a:p>
                      <a:pPr indent="0" marL="0">
                        <a:buNone/>
                      </a:pPr>
                      <a:r>
                        <a:rPr lang="en-US" sz="1300" b="1" dirty="0">
                          <a:solidFill>
                            <a:srgbClr val="1B3A5C"/>
                          </a:solidFill>
                          <a:latin typeface="Arial" pitchFamily="34" charset="0"/>
                          <a:ea typeface="Arial" pitchFamily="34" charset="-122"/>
                          <a:cs typeface="Arial" pitchFamily="34" charset="-120"/>
                        </a:rPr>
                        <a:t>Jokabidea HANDITZEN da</a:t>
                      </a:r>
                      <a:endParaRPr lang="en-US" sz="1300" dirty="0">
                        <a:latin typeface="Arial" charset="0"/>
                        <a:ea typeface="Arial" charset="0"/>
                        <a:cs typeface="Arial"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8F7"/>
                    </a:solidFill>
                  </a:tcPr>
                </a:tc>
                <a:tc>
                  <a:txBody>
                    <a:bodyPr/>
                    <a:lstStyle/>
                    <a:p>
                      <a:pPr indent="0" marL="0">
                        <a:buNone/>
                      </a:pPr>
                      <a:r>
                        <a:rPr lang="en-US" sz="1300" b="1" dirty="0">
                          <a:solidFill>
                            <a:srgbClr val="1A1A1A"/>
                          </a:solidFill>
                          <a:latin typeface="Arial" pitchFamily="34" charset="0"/>
                          <a:ea typeface="Arial" pitchFamily="34" charset="-122"/>
                          <a:cs typeface="Arial" pitchFamily="34" charset="-120"/>
                        </a:rPr>
                        <a:t>Errefortzu positiboa</a:t>
                      </a:r>
                      <a:endParaRPr lang="en-US" sz="1300" dirty="0">
                        <a:latin typeface="Arial" charset="0"/>
                        <a:ea typeface="Arial" charset="0"/>
                        <a:cs typeface="Arial" charset="0"/>
                      </a:endParaRPr>
                    </a:p>
                    <a:p>
                      <a:pPr indent="0" marL="0">
                        <a:buNone/>
                      </a:pPr>
                      <a:r>
                        <a:rPr lang="en-US" sz="1300" dirty="0">
                          <a:solidFill>
                            <a:srgbClr val="1A1A1A"/>
                          </a:solidFill>
                          <a:latin typeface="Arial" pitchFamily="34" charset="0"/>
                          <a:ea typeface="Arial" pitchFamily="34" charset="-122"/>
                          <a:cs typeface="Arial" pitchFamily="34" charset="-120"/>
                        </a:rPr>
                        <a:t>txaloa, nota ona, «like» bat</a:t>
                      </a:r>
                      <a:endParaRPr lang="en-US" sz="1300" dirty="0">
                        <a:latin typeface="Arial" charset="0"/>
                        <a:ea typeface="Arial" charset="0"/>
                        <a:cs typeface="Arial"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DE1"/>
                    </a:solidFill>
                  </a:tcPr>
                </a:tc>
                <a:tc>
                  <a:txBody>
                    <a:bodyPr/>
                    <a:lstStyle/>
                    <a:p>
                      <a:pPr indent="0" marL="0">
                        <a:buNone/>
                      </a:pPr>
                      <a:r>
                        <a:rPr lang="en-US" sz="1300" b="1" dirty="0">
                          <a:solidFill>
                            <a:srgbClr val="1A1A1A"/>
                          </a:solidFill>
                          <a:latin typeface="Arial" pitchFamily="34" charset="0"/>
                          <a:ea typeface="Arial" pitchFamily="34" charset="-122"/>
                          <a:cs typeface="Arial" pitchFamily="34" charset="-120"/>
                        </a:rPr>
                        <a:t>Errefortzu negatiboa</a:t>
                      </a:r>
                      <a:endParaRPr lang="en-US" sz="1300" dirty="0">
                        <a:latin typeface="Arial" charset="0"/>
                        <a:ea typeface="Arial" charset="0"/>
                        <a:cs typeface="Arial" charset="0"/>
                      </a:endParaRPr>
                    </a:p>
                    <a:p>
                      <a:pPr indent="0" marL="0">
                        <a:buNone/>
                      </a:pPr>
                      <a:r>
                        <a:rPr lang="en-US" sz="1300" dirty="0">
                          <a:solidFill>
                            <a:srgbClr val="1A1A1A"/>
                          </a:solidFill>
                          <a:latin typeface="Arial" pitchFamily="34" charset="0"/>
                          <a:ea typeface="Arial" pitchFamily="34" charset="-122"/>
                          <a:cs typeface="Arial" pitchFamily="34" charset="-120"/>
                        </a:rPr>
                        <a:t>alarma isiltzen da gerrikoa lotzean</a:t>
                      </a:r>
                      <a:endParaRPr lang="en-US" sz="1300" dirty="0">
                        <a:latin typeface="Arial" charset="0"/>
                        <a:ea typeface="Arial" charset="0"/>
                        <a:cs typeface="Arial"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DE1"/>
                    </a:solidFill>
                  </a:tcPr>
                </a:tc>
              </a:tr>
              <a:tr h="777240">
                <a:tc>
                  <a:txBody>
                    <a:bodyPr/>
                    <a:lstStyle/>
                    <a:p>
                      <a:pPr indent="0" marL="0">
                        <a:buNone/>
                      </a:pPr>
                      <a:r>
                        <a:rPr lang="en-US" sz="1300" b="1" dirty="0">
                          <a:solidFill>
                            <a:srgbClr val="1B3A5C"/>
                          </a:solidFill>
                          <a:latin typeface="Arial" pitchFamily="34" charset="0"/>
                          <a:ea typeface="Arial" pitchFamily="34" charset="-122"/>
                          <a:cs typeface="Arial" pitchFamily="34" charset="-120"/>
                        </a:rPr>
                        <a:t>Jokabidea GUTXITZEN da</a:t>
                      </a:r>
                      <a:endParaRPr lang="en-US" sz="1300" dirty="0">
                        <a:latin typeface="Arial" charset="0"/>
                        <a:ea typeface="Arial" charset="0"/>
                        <a:cs typeface="Arial"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8F7"/>
                    </a:solidFill>
                  </a:tcPr>
                </a:tc>
                <a:tc>
                  <a:txBody>
                    <a:bodyPr/>
                    <a:lstStyle/>
                    <a:p>
                      <a:pPr indent="0" marL="0">
                        <a:buNone/>
                      </a:pPr>
                      <a:r>
                        <a:rPr lang="en-US" sz="1300" b="1" dirty="0">
                          <a:solidFill>
                            <a:srgbClr val="1A1A1A"/>
                          </a:solidFill>
                          <a:latin typeface="Arial" pitchFamily="34" charset="0"/>
                          <a:ea typeface="Arial" pitchFamily="34" charset="-122"/>
                          <a:cs typeface="Arial" pitchFamily="34" charset="-120"/>
                        </a:rPr>
                        <a:t>Zigor positiboa</a:t>
                      </a:r>
                      <a:endParaRPr lang="en-US" sz="1300" dirty="0">
                        <a:latin typeface="Arial" charset="0"/>
                        <a:ea typeface="Arial" charset="0"/>
                        <a:cs typeface="Arial" charset="0"/>
                      </a:endParaRPr>
                    </a:p>
                    <a:p>
                      <a:pPr indent="0" marL="0">
                        <a:buNone/>
                      </a:pPr>
                      <a:r>
                        <a:rPr lang="en-US" sz="1300" dirty="0">
                          <a:solidFill>
                            <a:srgbClr val="1A1A1A"/>
                          </a:solidFill>
                          <a:latin typeface="Arial" pitchFamily="34" charset="0"/>
                          <a:ea typeface="Arial" pitchFamily="34" charset="-122"/>
                          <a:cs typeface="Arial" pitchFamily="34" charset="-120"/>
                        </a:rPr>
                        <a:t>isuna, errieta</a:t>
                      </a:r>
                      <a:endParaRPr lang="en-US" sz="1300" dirty="0">
                        <a:latin typeface="Arial" charset="0"/>
                        <a:ea typeface="Arial" charset="0"/>
                        <a:cs typeface="Arial"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E3"/>
                    </a:solidFill>
                  </a:tcPr>
                </a:tc>
                <a:tc>
                  <a:txBody>
                    <a:bodyPr/>
                    <a:lstStyle/>
                    <a:p>
                      <a:pPr indent="0" marL="0">
                        <a:buNone/>
                      </a:pPr>
                      <a:r>
                        <a:rPr lang="en-US" sz="1300" b="1" dirty="0">
                          <a:solidFill>
                            <a:srgbClr val="1A1A1A"/>
                          </a:solidFill>
                          <a:latin typeface="Arial" pitchFamily="34" charset="0"/>
                          <a:ea typeface="Arial" pitchFamily="34" charset="-122"/>
                          <a:cs typeface="Arial" pitchFamily="34" charset="-120"/>
                        </a:rPr>
                        <a:t>Zigor negatiboa</a:t>
                      </a:r>
                      <a:endParaRPr lang="en-US" sz="1300" dirty="0">
                        <a:latin typeface="Arial" charset="0"/>
                        <a:ea typeface="Arial" charset="0"/>
                        <a:cs typeface="Arial" charset="0"/>
                      </a:endParaRPr>
                    </a:p>
                    <a:p>
                      <a:pPr indent="0" marL="0">
                        <a:buNone/>
                      </a:pPr>
                      <a:r>
                        <a:rPr lang="en-US" sz="1300" dirty="0">
                          <a:solidFill>
                            <a:srgbClr val="1A1A1A"/>
                          </a:solidFill>
                          <a:latin typeface="Arial" pitchFamily="34" charset="0"/>
                          <a:ea typeface="Arial" pitchFamily="34" charset="-122"/>
                          <a:cs typeface="Arial" pitchFamily="34" charset="-120"/>
                        </a:rPr>
                        <a:t>mugikorrik gabe asteburuan</a:t>
                      </a:r>
                      <a:endParaRPr lang="en-US" sz="1300" dirty="0">
                        <a:latin typeface="Arial" charset="0"/>
                        <a:ea typeface="Arial" charset="0"/>
                        <a:cs typeface="Arial"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E3"/>
                    </a:solidFill>
                  </a:tcPr>
                </a:tc>
              </a:tr>
            </a:tbl>
          </a:graphicData>
        </a:graphic>
      </p:graphicFrame>
      <p:sp>
        <p:nvSpPr>
          <p:cNvPr id="7" name="Text 4"/>
          <p:cNvSpPr txBox="1"/>
          <p:nvPr/>
        </p:nvSpPr>
        <p:spPr>
          <a:xfrm>
            <a:off x="457200" y="3931920"/>
            <a:ext cx="8229600" cy="640080"/>
          </a:xfrm>
          <a:prstGeom prst="rect">
            <a:avLst/>
          </a:prstGeom>
          <a:noFill/>
          <a:ln/>
        </p:spPr>
        <p:txBody>
          <a:bodyPr wrap="square" lIns="0" tIns="0" rIns="0" bIns="0" rtlCol="0" anchor="t"/>
          <a:lstStyle/>
          <a:p>
            <a:pPr indent="0" marL="0">
              <a:buNone/>
            </a:pPr>
            <a:r>
              <a:rPr lang="en-US" sz="1250" b="1" dirty="0">
                <a:solidFill>
                  <a:srgbClr val="1B3A5C"/>
                </a:solidFill>
                <a:latin typeface="Arial" pitchFamily="34" charset="0"/>
                <a:ea typeface="Arial" pitchFamily="34" charset="-122"/>
                <a:cs typeface="Arial" pitchFamily="34" charset="-120"/>
              </a:rPr>
              <a:t>Moldaketa: </a:t>
            </a:r>
            <a:pPr indent="0" marL="0">
              <a:buNone/>
            </a:pPr>
            <a:r>
              <a:rPr lang="en-US" sz="1250" dirty="0">
                <a:solidFill>
                  <a:srgbClr val="1A1A1A"/>
                </a:solidFill>
                <a:latin typeface="Arial" pitchFamily="34" charset="0"/>
                <a:ea typeface="Arial" pitchFamily="34" charset="-122"/>
                <a:cs typeface="Arial" pitchFamily="34" charset="-120"/>
              </a:rPr>
              <a:t>xedera hurbiltzen diren urratsak indartzea.   </a:t>
            </a:r>
            <a:pPr indent="0" marL="0">
              <a:buNone/>
            </a:pPr>
            <a:r>
              <a:rPr lang="en-US" sz="1250" b="1" dirty="0">
                <a:solidFill>
                  <a:srgbClr val="1B3A5C"/>
                </a:solidFill>
                <a:latin typeface="Arial" pitchFamily="34" charset="0"/>
                <a:ea typeface="Arial" pitchFamily="34" charset="-122"/>
                <a:cs typeface="Arial" pitchFamily="34" charset="-120"/>
              </a:rPr>
              <a:t>Iraungitzea: </a:t>
            </a:r>
            <a:pPr indent="0" marL="0">
              <a:buNone/>
            </a:pPr>
            <a:r>
              <a:rPr lang="en-US" sz="1250" dirty="0">
                <a:solidFill>
                  <a:srgbClr val="1A1A1A"/>
                </a:solidFill>
                <a:latin typeface="Arial" pitchFamily="34" charset="0"/>
                <a:ea typeface="Arial" pitchFamily="34" charset="-122"/>
                <a:cs typeface="Arial" pitchFamily="34" charset="-120"/>
              </a:rPr>
              <a:t>errefortzurik gabe, jokabidea itzaltzen da.   </a:t>
            </a:r>
            <a:pPr indent="0" marL="0">
              <a:buNone/>
            </a:pPr>
            <a:r>
              <a:rPr lang="en-US" sz="1250" b="1" dirty="0">
                <a:solidFill>
                  <a:srgbClr val="1B3A5C"/>
                </a:solidFill>
                <a:latin typeface="Arial" pitchFamily="34" charset="0"/>
                <a:ea typeface="Arial" pitchFamily="34" charset="-122"/>
                <a:cs typeface="Arial" pitchFamily="34" charset="-120"/>
              </a:rPr>
              <a:t>Errefortzu aldakorra: </a:t>
            </a:r>
            <a:pPr indent="0" marL="0">
              <a:buNone/>
            </a:pPr>
            <a:r>
              <a:rPr lang="en-US" sz="1250" dirty="0">
                <a:solidFill>
                  <a:srgbClr val="1A1A1A"/>
                </a:solidFill>
                <a:latin typeface="Arial" pitchFamily="34" charset="0"/>
                <a:ea typeface="Arial" pitchFamily="34" charset="-122"/>
                <a:cs typeface="Arial" pitchFamily="34" charset="-120"/>
              </a:rPr>
              <a:t>noizean behin → oso iraunkorra.</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Aplikatu</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S2</a:t>
            </a:r>
            <a:endParaRPr lang="en-US" sz="1200" dirty="0"/>
          </a:p>
        </p:txBody>
      </p:sp>
      <p:sp>
        <p:nvSpPr>
          <p:cNvPr id="5" name="Shape 3"/>
          <p:cNvSpPr/>
          <p:nvPr/>
        </p:nvSpPr>
        <p:spPr>
          <a:xfrm>
            <a:off x="457200" y="1097280"/>
            <a:ext cx="8229600" cy="713232"/>
          </a:xfrm>
          <a:prstGeom prst="roundRect">
            <a:avLst>
              <a:gd name="adj" fmla="val 15385"/>
            </a:avLst>
          </a:prstGeom>
          <a:solidFill>
            <a:srgbClr val="D4EDE1"/>
          </a:solidFill>
          <a:ln w="12700">
            <a:solidFill>
              <a:srgbClr val="D4EDE1"/>
            </a:solidFill>
            <a:prstDash val="solid"/>
          </a:ln>
        </p:spPr>
      </p:sp>
      <p:sp>
        <p:nvSpPr>
          <p:cNvPr id="6" name="Shape 4"/>
          <p:cNvSpPr/>
          <p:nvPr/>
        </p:nvSpPr>
        <p:spPr>
          <a:xfrm>
            <a:off x="594360" y="1289304"/>
            <a:ext cx="329184" cy="329184"/>
          </a:xfrm>
          <a:prstGeom prst="ellipse">
            <a:avLst/>
          </a:prstGeom>
          <a:solidFill>
            <a:srgbClr val="1B3A5C"/>
          </a:solidFill>
          <a:ln w="12700">
            <a:solidFill>
              <a:srgbClr val="1B3A5C"/>
            </a:solidFill>
            <a:prstDash val="solid"/>
          </a:ln>
        </p:spPr>
      </p:sp>
      <p:sp>
        <p:nvSpPr>
          <p:cNvPr id="7" name="Text 5"/>
          <p:cNvSpPr txBox="1"/>
          <p:nvPr/>
        </p:nvSpPr>
        <p:spPr>
          <a:xfrm>
            <a:off x="594360" y="12893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051560" y="1152144"/>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Irakurri dosierra (koadernoa, S2)</a:t>
            </a:r>
            <a:endParaRPr lang="en-US" sz="1400" dirty="0"/>
          </a:p>
        </p:txBody>
      </p:sp>
      <p:sp>
        <p:nvSpPr>
          <p:cNvPr id="9" name="Text 7"/>
          <p:cNvSpPr txBox="1"/>
          <p:nvPr/>
        </p:nvSpPr>
        <p:spPr>
          <a:xfrm>
            <a:off x="7543800" y="1152144"/>
            <a:ext cx="1005840" cy="603504"/>
          </a:xfrm>
          <a:prstGeom prst="rect">
            <a:avLst/>
          </a:prstGeom>
          <a:noFill/>
          <a:ln/>
        </p:spPr>
        <p:txBody>
          <a:bodyPr wrap="square" lIns="0" tIns="0" rIns="0" bIns="0" rtlCol="0" anchor="ctr"/>
          <a:lstStyle/>
          <a:p>
            <a:pPr algn="r" indent="0" marL="0">
              <a:buNone/>
            </a:pPr>
            <a:r>
              <a:rPr lang="en-US" sz="900" b="1" dirty="0">
                <a:solidFill>
                  <a:srgbClr val="1A5C3A"/>
                </a:solidFill>
                <a:latin typeface="Arial" pitchFamily="34" charset="0"/>
                <a:ea typeface="Arial" pitchFamily="34" charset="-122"/>
                <a:cs typeface="Arial" pitchFamily="34" charset="-120"/>
              </a:rPr>
              <a:t>BAKARKA</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8 min</a:t>
            </a:r>
            <a:endParaRPr lang="en-US" sz="900" dirty="0"/>
          </a:p>
        </p:txBody>
      </p:sp>
      <p:sp>
        <p:nvSpPr>
          <p:cNvPr id="10" name="Shape 8"/>
          <p:cNvSpPr/>
          <p:nvPr/>
        </p:nvSpPr>
        <p:spPr>
          <a:xfrm>
            <a:off x="457200" y="1938528"/>
            <a:ext cx="8229600" cy="713232"/>
          </a:xfrm>
          <a:prstGeom prst="roundRect">
            <a:avLst>
              <a:gd name="adj" fmla="val 15385"/>
            </a:avLst>
          </a:prstGeom>
          <a:solidFill>
            <a:srgbClr val="FAE5D3"/>
          </a:solidFill>
          <a:ln w="12700">
            <a:solidFill>
              <a:srgbClr val="FAE5D3"/>
            </a:solidFill>
            <a:prstDash val="solid"/>
          </a:ln>
        </p:spPr>
      </p:sp>
      <p:sp>
        <p:nvSpPr>
          <p:cNvPr id="11" name="Shape 9"/>
          <p:cNvSpPr/>
          <p:nvPr/>
        </p:nvSpPr>
        <p:spPr>
          <a:xfrm>
            <a:off x="594360" y="2130552"/>
            <a:ext cx="329184" cy="329184"/>
          </a:xfrm>
          <a:prstGeom prst="ellipse">
            <a:avLst/>
          </a:prstGeom>
          <a:solidFill>
            <a:srgbClr val="1B3A5C"/>
          </a:solidFill>
          <a:ln w="12700">
            <a:solidFill>
              <a:srgbClr val="1B3A5C"/>
            </a:solidFill>
            <a:prstDash val="solid"/>
          </a:ln>
        </p:spPr>
      </p:sp>
      <p:sp>
        <p:nvSpPr>
          <p:cNvPr id="12" name="Text 10"/>
          <p:cNvSpPr txBox="1"/>
          <p:nvPr/>
        </p:nvSpPr>
        <p:spPr>
          <a:xfrm>
            <a:off x="594360" y="21305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1051560" y="1993392"/>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Deskribatu jokoa kontzeptuekin: zein izan da errefortzua? Zer moldatu da? Eta txaloak geldituko balira?</a:t>
            </a:r>
            <a:endParaRPr lang="en-US" sz="1400" dirty="0"/>
          </a:p>
        </p:txBody>
      </p:sp>
      <p:sp>
        <p:nvSpPr>
          <p:cNvPr id="14" name="Text 12"/>
          <p:cNvSpPr txBox="1"/>
          <p:nvPr/>
        </p:nvSpPr>
        <p:spPr>
          <a:xfrm>
            <a:off x="7543800" y="1993392"/>
            <a:ext cx="1005840" cy="603504"/>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10 min</a:t>
            </a:r>
            <a:endParaRPr lang="en-US" sz="900" dirty="0"/>
          </a:p>
        </p:txBody>
      </p:sp>
      <p:sp>
        <p:nvSpPr>
          <p:cNvPr id="15" name="Shape 13"/>
          <p:cNvSpPr/>
          <p:nvPr/>
        </p:nvSpPr>
        <p:spPr>
          <a:xfrm>
            <a:off x="457200" y="2779776"/>
            <a:ext cx="8229600" cy="713232"/>
          </a:xfrm>
          <a:prstGeom prst="roundRect">
            <a:avLst>
              <a:gd name="adj" fmla="val 15385"/>
            </a:avLst>
          </a:prstGeom>
          <a:solidFill>
            <a:srgbClr val="D4EDE1"/>
          </a:solidFill>
          <a:ln w="12700">
            <a:solidFill>
              <a:srgbClr val="D4EDE1"/>
            </a:solidFill>
            <a:prstDash val="solid"/>
          </a:ln>
        </p:spPr>
      </p:sp>
      <p:sp>
        <p:nvSpPr>
          <p:cNvPr id="16" name="Shape 14"/>
          <p:cNvSpPr/>
          <p:nvPr/>
        </p:nvSpPr>
        <p:spPr>
          <a:xfrm>
            <a:off x="594360" y="2971800"/>
            <a:ext cx="329184" cy="329184"/>
          </a:xfrm>
          <a:prstGeom prst="ellipse">
            <a:avLst/>
          </a:prstGeom>
          <a:solidFill>
            <a:srgbClr val="1B3A5C"/>
          </a:solidFill>
          <a:ln w="12700">
            <a:solidFill>
              <a:srgbClr val="1B3A5C"/>
            </a:solidFill>
            <a:prstDash val="solid"/>
          </a:ln>
        </p:spPr>
      </p:sp>
      <p:sp>
        <p:nvSpPr>
          <p:cNvPr id="17" name="Text 15"/>
          <p:cNvSpPr txBox="1"/>
          <p:nvPr/>
        </p:nvSpPr>
        <p:spPr>
          <a:xfrm>
            <a:off x="594360"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1051560" y="2834640"/>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Bete 2×2 taula ZURE adibideekin (ez dosierrekoak). Gero, alderatu hirukotean</a:t>
            </a:r>
            <a:endParaRPr lang="en-US" sz="1400" dirty="0"/>
          </a:p>
        </p:txBody>
      </p:sp>
      <p:sp>
        <p:nvSpPr>
          <p:cNvPr id="19" name="Text 17"/>
          <p:cNvSpPr txBox="1"/>
          <p:nvPr/>
        </p:nvSpPr>
        <p:spPr>
          <a:xfrm>
            <a:off x="7543800" y="2834640"/>
            <a:ext cx="1005840" cy="603504"/>
          </a:xfrm>
          <a:prstGeom prst="rect">
            <a:avLst/>
          </a:prstGeom>
          <a:noFill/>
          <a:ln/>
        </p:spPr>
        <p:txBody>
          <a:bodyPr wrap="square" lIns="0" tIns="0" rIns="0" bIns="0" rtlCol="0" anchor="ctr"/>
          <a:lstStyle/>
          <a:p>
            <a:pPr algn="r" indent="0" marL="0">
              <a:buNone/>
            </a:pPr>
            <a:r>
              <a:rPr lang="en-US" sz="900" b="1" dirty="0">
                <a:solidFill>
                  <a:srgbClr val="1A5C3A"/>
                </a:solidFill>
                <a:latin typeface="Arial" pitchFamily="34" charset="0"/>
                <a:ea typeface="Arial" pitchFamily="34" charset="-122"/>
                <a:cs typeface="Arial" pitchFamily="34" charset="-120"/>
              </a:rPr>
              <a:t>BAKARKA</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13 min</a:t>
            </a:r>
            <a:endParaRPr lang="en-US" sz="900" dirty="0"/>
          </a:p>
        </p:txBody>
      </p:sp>
      <p:sp>
        <p:nvSpPr>
          <p:cNvPr id="20" name="Shape 18"/>
          <p:cNvSpPr/>
          <p:nvPr/>
        </p:nvSpPr>
        <p:spPr>
          <a:xfrm>
            <a:off x="457200" y="3794760"/>
            <a:ext cx="8229600" cy="731520"/>
          </a:xfrm>
          <a:prstGeom prst="roundRect">
            <a:avLst>
              <a:gd name="adj" fmla="val 12500"/>
            </a:avLst>
          </a:prstGeom>
          <a:solidFill>
            <a:srgbClr val="FFFFFF"/>
          </a:solidFill>
          <a:ln w="19050">
            <a:solidFill>
              <a:srgbClr val="1B3A5C"/>
            </a:solidFill>
            <a:prstDash val="dash"/>
          </a:ln>
        </p:spPr>
      </p:sp>
      <p:sp>
        <p:nvSpPr>
          <p:cNvPr id="21" name="Text 19"/>
          <p:cNvSpPr txBox="1"/>
          <p:nvPr/>
        </p:nvSpPr>
        <p:spPr>
          <a:xfrm>
            <a:off x="640080" y="3867912"/>
            <a:ext cx="7863840" cy="585216"/>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IRTEERA-TXARTELA · 4 MIN   </a:t>
            </a:r>
            <a:pPr indent="0" marL="0">
              <a:buNone/>
            </a:pPr>
            <a:r>
              <a:rPr lang="en-US" sz="1300" dirty="0">
                <a:solidFill>
                  <a:srgbClr val="1A1A1A"/>
                </a:solidFill>
                <a:latin typeface="Arial" pitchFamily="34" charset="0"/>
                <a:ea typeface="Arial" pitchFamily="34" charset="-122"/>
                <a:cs typeface="Arial" pitchFamily="34" charset="-120"/>
              </a:rPr>
              <a:t>1) Errefortzu negatiboa ≠ zigorra: zergatik? 2) Boluntarioak araua ulertu zuen ikasi aurretik ala ondoren?</a:t>
            </a:r>
            <a:endParaRPr lang="en-US" sz="10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5FC"/>
        </a:solidFill>
      </p:bgPr>
    </p:bg>
    <p:spTree>
      <p:nvGrpSpPr>
        <p:cNvPr id="1" name=""/>
        <p:cNvGrpSpPr/>
        <p:nvPr/>
      </p:nvGrpSpPr>
      <p:grpSpPr>
        <a:xfrm>
          <a:off x="0" y="0"/>
          <a:ext cx="0" cy="0"/>
          <a:chOff x="0" y="0"/>
          <a:chExt cx="0" cy="0"/>
        </a:xfrm>
      </p:grpSpPr>
      <p:sp>
        <p:nvSpPr>
          <p:cNvPr id="2" name="Shape 0"/>
          <p:cNvSpPr/>
          <p:nvPr/>
        </p:nvSpPr>
        <p:spPr>
          <a:xfrm>
            <a:off x="548640" y="548640"/>
            <a:ext cx="822960" cy="457200"/>
          </a:xfrm>
          <a:prstGeom prst="roundRect">
            <a:avLst>
              <a:gd name="adj" fmla="val 20000"/>
            </a:avLst>
          </a:prstGeom>
          <a:solidFill>
            <a:srgbClr val="1B3A5C"/>
          </a:solidFill>
          <a:ln w="12700">
            <a:solidFill>
              <a:srgbClr val="1B3A5C"/>
            </a:solidFill>
            <a:prstDash val="solid"/>
          </a:ln>
        </p:spPr>
      </p:sp>
      <p:sp>
        <p:nvSpPr>
          <p:cNvPr id="3" name="Text 1"/>
          <p:cNvSpPr txBox="1"/>
          <p:nvPr/>
        </p:nvSpPr>
        <p:spPr>
          <a:xfrm>
            <a:off x="548640" y="548640"/>
            <a:ext cx="822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S3</a:t>
            </a:r>
            <a:endParaRPr lang="en-US" sz="1800" dirty="0"/>
          </a:p>
        </p:txBody>
      </p:sp>
      <p:sp>
        <p:nvSpPr>
          <p:cNvPr id="4" name="Text 2"/>
          <p:cNvSpPr txBox="1"/>
          <p:nvPr/>
        </p:nvSpPr>
        <p:spPr>
          <a:xfrm>
            <a:off x="1554480" y="548640"/>
            <a:ext cx="5029200" cy="457200"/>
          </a:xfrm>
          <a:prstGeom prst="rect">
            <a:avLst/>
          </a:prstGeom>
          <a:noFill/>
          <a:ln/>
        </p:spPr>
        <p:txBody>
          <a:bodyPr wrap="square" lIns="0" tIns="0" rIns="0" bIns="0" rtlCol="0" anchor="ctr"/>
          <a:lstStyle/>
          <a:p>
            <a:pPr indent="0" marL="0">
              <a:buNone/>
            </a:pPr>
            <a:r>
              <a:rPr lang="en-US" sz="1300" b="1" dirty="0">
                <a:solidFill>
                  <a:srgbClr val="1B3A5C"/>
                </a:solidFill>
                <a:latin typeface="Arial" pitchFamily="34" charset="0"/>
                <a:ea typeface="Arial" pitchFamily="34" charset="-122"/>
                <a:cs typeface="Arial" pitchFamily="34" charset="-120"/>
              </a:rPr>
              <a:t>1. kasua · Ikaskuntza kognitiboa · 50 min</a:t>
            </a:r>
            <a:endParaRPr lang="en-US" sz="1300" dirty="0"/>
          </a:p>
        </p:txBody>
      </p:sp>
      <p:sp>
        <p:nvSpPr>
          <p:cNvPr id="5" name="Text 0"/>
          <p:cNvSpPr/>
          <p:nvPr>
            <p:ph idx="100" type="title" hasCustomPrompt="1"/>
          </p:nvPr>
        </p:nvSpPr>
        <p:spPr>
          <a:xfrm>
            <a:off x="548640" y="1234440"/>
            <a:ext cx="6035040" cy="914400"/>
          </a:xfrm>
          <a:prstGeom prst="rect">
            <a:avLst/>
          </a:prstGeom>
          <a:noFill/>
          <a:ln/>
        </p:spPr>
        <p:txBody>
          <a:bodyPr wrap="square" lIns="0" tIns="0" rIns="0" bIns="0" rtlCol="0" anchor="t"/>
          <a:lstStyle/>
          <a:p>
            <a:pPr algn="l" indent="0" marL="0">
              <a:buNone/>
            </a:pPr>
            <a:r>
              <a:rPr lang="en-US" sz="3600" b="1" dirty="0">
                <a:solidFill>
                  <a:srgbClr val="1B3A5C"/>
                </a:solidFill>
              </a:rPr>
              <a:t>Sultan eta kaxak</a:t>
            </a:r>
            <a:endParaRPr lang="en-US" sz="3600" dirty="0"/>
          </a:p>
        </p:txBody>
      </p:sp>
      <p:sp>
        <p:nvSpPr>
          <p:cNvPr id="6" name="Text 0"/>
          <p:cNvSpPr/>
          <p:nvPr>
            <p:ph idx="101" type="body" hasCustomPrompt="1"/>
          </p:nvPr>
        </p:nvSpPr>
        <p:spPr>
          <a:xfrm>
            <a:off x="548640" y="2514600"/>
            <a:ext cx="6035040" cy="1463040"/>
          </a:xfrm>
          <a:prstGeom prst="rect">
            <a:avLst/>
          </a:prstGeom>
          <a:noFill/>
          <a:ln/>
        </p:spPr>
        <p:txBody>
          <a:bodyPr wrap="square" lIns="0" tIns="0" rIns="0" bIns="0" rtlCol="0" anchor="t"/>
          <a:lstStyle/>
          <a:p>
            <a:pPr algn="l" indent="0" marL="0">
              <a:buNone/>
            </a:pPr>
            <a:r>
              <a:rPr lang="en-US" sz="2200" b="1" dirty="0">
                <a:solidFill>
                  <a:srgbClr val="1B3A5C"/>
                </a:solidFill>
              </a:rPr>
              <a:t>Ikasteko beti saiatu eta huts egin behar al da, ala bat-batean uler daiteke?</a:t>
            </a:r>
            <a:endParaRPr lang="en-US" sz="2200" dirty="0"/>
          </a:p>
        </p:txBody>
      </p:sp>
      <p:sp>
        <p:nvSpPr>
          <p:cNvPr id="7" name="Shape 5"/>
          <p:cNvSpPr/>
          <p:nvPr/>
        </p:nvSpPr>
        <p:spPr>
          <a:xfrm>
            <a:off x="6720840" y="1325880"/>
            <a:ext cx="2011680" cy="20116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223760" y="1828800"/>
            <a:ext cx="1005840" cy="1005840"/>
          </a:xfrm>
          <a:prstGeom prst="rect">
            <a:avLst/>
          </a:prstGeom>
        </p:spPr>
      </p:pic>
      <p:sp>
        <p:nvSpPr>
          <p:cNvPr id="9" name="Text 6"/>
          <p:cNvSpPr txBox="1"/>
          <p:nvPr/>
        </p:nvSpPr>
        <p:spPr>
          <a:xfrm>
            <a:off x="548640" y="2240280"/>
            <a:ext cx="3657600" cy="274320"/>
          </a:xfrm>
          <a:prstGeom prst="rect">
            <a:avLst/>
          </a:prstGeom>
          <a:noFill/>
          <a:ln/>
        </p:spPr>
        <p:txBody>
          <a:bodyPr wrap="square" lIns="0" tIns="0" rIns="0" bIns="0" rtlCol="0" anchor="t"/>
          <a:lstStyle/>
          <a:p>
            <a:pPr indent="0" marL="0">
              <a:buNone/>
            </a:pPr>
            <a:r>
              <a:rPr lang="en-US" sz="1000" b="1" spc="200" kern="0" dirty="0">
                <a:solidFill>
                  <a:srgbClr val="5B6573"/>
                </a:solidFill>
                <a:latin typeface="Arial" pitchFamily="34" charset="0"/>
                <a:ea typeface="Arial" pitchFamily="34" charset="-122"/>
                <a:cs typeface="Arial" pitchFamily="34" charset="-120"/>
              </a:rPr>
              <a:t>GALDERA GIDARIA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Bederatzi puntu, lau lerro</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S3</a:t>
            </a:r>
            <a:endParaRPr lang="en-US" sz="1200" dirty="0"/>
          </a:p>
        </p:txBody>
      </p:sp>
      <p:sp>
        <p:nvSpPr>
          <p:cNvPr id="5" name="Shape 3"/>
          <p:cNvSpPr/>
          <p:nvPr/>
        </p:nvSpPr>
        <p:spPr>
          <a:xfrm>
            <a:off x="1280160" y="1417320"/>
            <a:ext cx="274320" cy="274320"/>
          </a:xfrm>
          <a:prstGeom prst="ellipse">
            <a:avLst/>
          </a:prstGeom>
          <a:solidFill>
            <a:srgbClr val="1B3A5C"/>
          </a:solidFill>
          <a:ln w="12700">
            <a:solidFill>
              <a:srgbClr val="1B3A5C"/>
            </a:solidFill>
            <a:prstDash val="solid"/>
          </a:ln>
        </p:spPr>
      </p:sp>
      <p:sp>
        <p:nvSpPr>
          <p:cNvPr id="6" name="Shape 4"/>
          <p:cNvSpPr/>
          <p:nvPr/>
        </p:nvSpPr>
        <p:spPr>
          <a:xfrm>
            <a:off x="2103120" y="1417320"/>
            <a:ext cx="274320" cy="274320"/>
          </a:xfrm>
          <a:prstGeom prst="ellipse">
            <a:avLst/>
          </a:prstGeom>
          <a:solidFill>
            <a:srgbClr val="1B3A5C"/>
          </a:solidFill>
          <a:ln w="12700">
            <a:solidFill>
              <a:srgbClr val="1B3A5C"/>
            </a:solidFill>
            <a:prstDash val="solid"/>
          </a:ln>
        </p:spPr>
      </p:sp>
      <p:sp>
        <p:nvSpPr>
          <p:cNvPr id="7" name="Shape 5"/>
          <p:cNvSpPr/>
          <p:nvPr/>
        </p:nvSpPr>
        <p:spPr>
          <a:xfrm>
            <a:off x="2926080" y="1417320"/>
            <a:ext cx="274320" cy="274320"/>
          </a:xfrm>
          <a:prstGeom prst="ellipse">
            <a:avLst/>
          </a:prstGeom>
          <a:solidFill>
            <a:srgbClr val="1B3A5C"/>
          </a:solidFill>
          <a:ln w="12700">
            <a:solidFill>
              <a:srgbClr val="1B3A5C"/>
            </a:solidFill>
            <a:prstDash val="solid"/>
          </a:ln>
        </p:spPr>
      </p:sp>
      <p:sp>
        <p:nvSpPr>
          <p:cNvPr id="8" name="Shape 6"/>
          <p:cNvSpPr/>
          <p:nvPr/>
        </p:nvSpPr>
        <p:spPr>
          <a:xfrm>
            <a:off x="1280160" y="2240280"/>
            <a:ext cx="274320" cy="274320"/>
          </a:xfrm>
          <a:prstGeom prst="ellipse">
            <a:avLst/>
          </a:prstGeom>
          <a:solidFill>
            <a:srgbClr val="1B3A5C"/>
          </a:solidFill>
          <a:ln w="12700">
            <a:solidFill>
              <a:srgbClr val="1B3A5C"/>
            </a:solidFill>
            <a:prstDash val="solid"/>
          </a:ln>
        </p:spPr>
      </p:sp>
      <p:sp>
        <p:nvSpPr>
          <p:cNvPr id="9" name="Shape 7"/>
          <p:cNvSpPr/>
          <p:nvPr/>
        </p:nvSpPr>
        <p:spPr>
          <a:xfrm>
            <a:off x="2103120" y="2240280"/>
            <a:ext cx="274320" cy="274320"/>
          </a:xfrm>
          <a:prstGeom prst="ellipse">
            <a:avLst/>
          </a:prstGeom>
          <a:solidFill>
            <a:srgbClr val="1B3A5C"/>
          </a:solidFill>
          <a:ln w="12700">
            <a:solidFill>
              <a:srgbClr val="1B3A5C"/>
            </a:solidFill>
            <a:prstDash val="solid"/>
          </a:ln>
        </p:spPr>
      </p:sp>
      <p:sp>
        <p:nvSpPr>
          <p:cNvPr id="10" name="Shape 8"/>
          <p:cNvSpPr/>
          <p:nvPr/>
        </p:nvSpPr>
        <p:spPr>
          <a:xfrm>
            <a:off x="2926080" y="2240280"/>
            <a:ext cx="274320" cy="274320"/>
          </a:xfrm>
          <a:prstGeom prst="ellipse">
            <a:avLst/>
          </a:prstGeom>
          <a:solidFill>
            <a:srgbClr val="1B3A5C"/>
          </a:solidFill>
          <a:ln w="12700">
            <a:solidFill>
              <a:srgbClr val="1B3A5C"/>
            </a:solidFill>
            <a:prstDash val="solid"/>
          </a:ln>
        </p:spPr>
      </p:sp>
      <p:sp>
        <p:nvSpPr>
          <p:cNvPr id="11" name="Shape 9"/>
          <p:cNvSpPr/>
          <p:nvPr/>
        </p:nvSpPr>
        <p:spPr>
          <a:xfrm>
            <a:off x="1280160" y="3063240"/>
            <a:ext cx="274320" cy="274320"/>
          </a:xfrm>
          <a:prstGeom prst="ellipse">
            <a:avLst/>
          </a:prstGeom>
          <a:solidFill>
            <a:srgbClr val="1B3A5C"/>
          </a:solidFill>
          <a:ln w="12700">
            <a:solidFill>
              <a:srgbClr val="1B3A5C"/>
            </a:solidFill>
            <a:prstDash val="solid"/>
          </a:ln>
        </p:spPr>
      </p:sp>
      <p:sp>
        <p:nvSpPr>
          <p:cNvPr id="12" name="Shape 10"/>
          <p:cNvSpPr/>
          <p:nvPr/>
        </p:nvSpPr>
        <p:spPr>
          <a:xfrm>
            <a:off x="2103120" y="3063240"/>
            <a:ext cx="274320" cy="274320"/>
          </a:xfrm>
          <a:prstGeom prst="ellipse">
            <a:avLst/>
          </a:prstGeom>
          <a:solidFill>
            <a:srgbClr val="1B3A5C"/>
          </a:solidFill>
          <a:ln w="12700">
            <a:solidFill>
              <a:srgbClr val="1B3A5C"/>
            </a:solidFill>
            <a:prstDash val="solid"/>
          </a:ln>
        </p:spPr>
      </p:sp>
      <p:sp>
        <p:nvSpPr>
          <p:cNvPr id="13" name="Shape 11"/>
          <p:cNvSpPr/>
          <p:nvPr/>
        </p:nvSpPr>
        <p:spPr>
          <a:xfrm>
            <a:off x="2926080" y="3063240"/>
            <a:ext cx="274320" cy="274320"/>
          </a:xfrm>
          <a:prstGeom prst="ellipse">
            <a:avLst/>
          </a:prstGeom>
          <a:solidFill>
            <a:srgbClr val="1B3A5C"/>
          </a:solidFill>
          <a:ln w="12700">
            <a:solidFill>
              <a:srgbClr val="1B3A5C"/>
            </a:solidFill>
            <a:prstDash val="solid"/>
          </a:ln>
        </p:spPr>
      </p:sp>
      <p:sp>
        <p:nvSpPr>
          <p:cNvPr id="14" name="Shape 12"/>
          <p:cNvSpPr/>
          <p:nvPr/>
        </p:nvSpPr>
        <p:spPr>
          <a:xfrm>
            <a:off x="4206240" y="1188720"/>
            <a:ext cx="4480560" cy="2103120"/>
          </a:xfrm>
          <a:prstGeom prst="roundRect">
            <a:avLst>
              <a:gd name="adj" fmla="val 5217"/>
            </a:avLst>
          </a:prstGeom>
          <a:solidFill>
            <a:srgbClr val="D6E8F7"/>
          </a:solidFill>
          <a:ln w="12700">
            <a:solidFill>
              <a:srgbClr val="D6E8F7"/>
            </a:solidFill>
            <a:prstDash val="solid"/>
          </a:ln>
        </p:spPr>
      </p:sp>
      <p:sp>
        <p:nvSpPr>
          <p:cNvPr id="15" name="Text 13"/>
          <p:cNvSpPr txBox="1"/>
          <p:nvPr/>
        </p:nvSpPr>
        <p:spPr>
          <a:xfrm>
            <a:off x="4434840" y="1325880"/>
            <a:ext cx="4069080" cy="182880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Lotu bederatzi puntuak lau lerro zuzenekin</a:t>
            </a:r>
            <a:endParaRPr lang="en-US" sz="1500" dirty="0"/>
          </a:p>
          <a:p>
            <a:pPr indent="0" marL="0">
              <a:buNone/>
            </a:pPr>
            <a:r>
              <a:rPr lang="en-US" sz="1500" dirty="0">
                <a:solidFill>
                  <a:srgbClr val="1A1A1A"/>
                </a:solidFill>
                <a:latin typeface="Arial" pitchFamily="34" charset="0"/>
                <a:ea typeface="Arial" pitchFamily="34" charset="-122"/>
                <a:cs typeface="Arial" pitchFamily="34" charset="-120"/>
              </a:rPr>
              <a:t>arkatza altxatu gabe eta lerro batetik bitan pasatu gabe.</a:t>
            </a:r>
            <a:endParaRPr lang="en-US" sz="1500" dirty="0"/>
          </a:p>
          <a:p>
            <a:pPr indent="0" marL="0">
              <a:buNone/>
            </a:pPr>
            <a:r>
              <a:rPr lang="en-US" sz="800" dirty="0">
                <a:solidFill>
                  <a:srgbClr val="1A1A1A"/>
                </a:solidFill>
                <a:latin typeface="Arial" pitchFamily="34" charset="0"/>
                <a:ea typeface="Arial" pitchFamily="34" charset="-122"/>
                <a:cs typeface="Arial" pitchFamily="34" charset="-120"/>
              </a:rPr>
              <a:t> </a:t>
            </a:r>
            <a:endParaRPr lang="en-US" sz="1500" dirty="0"/>
          </a:p>
          <a:p>
            <a:pPr indent="0" marL="0">
              <a:buNone/>
            </a:pPr>
            <a:r>
              <a:rPr lang="en-US" sz="1500" b="1" dirty="0">
                <a:solidFill>
                  <a:srgbClr val="1B3A5C"/>
                </a:solidFill>
                <a:latin typeface="Arial" pitchFamily="34" charset="0"/>
                <a:ea typeface="Arial" pitchFamily="34" charset="-122"/>
                <a:cs typeface="Arial" pitchFamily="34" charset="-120"/>
              </a:rPr>
              <a:t>4 minutu, bakarka.</a:t>
            </a:r>
            <a:endParaRPr lang="en-US" sz="1500" dirty="0"/>
          </a:p>
        </p:txBody>
      </p:sp>
      <p:sp>
        <p:nvSpPr>
          <p:cNvPr id="16" name="Shape 14"/>
          <p:cNvSpPr/>
          <p:nvPr/>
        </p:nvSpPr>
        <p:spPr>
          <a:xfrm>
            <a:off x="457200" y="3657600"/>
            <a:ext cx="8229600" cy="868680"/>
          </a:xfrm>
          <a:prstGeom prst="roundRect">
            <a:avLst>
              <a:gd name="adj" fmla="val 12632"/>
            </a:avLst>
          </a:prstGeom>
          <a:solidFill>
            <a:srgbClr val="F7F7F5"/>
          </a:solidFill>
          <a:ln w="12700">
            <a:solidFill>
              <a:srgbClr val="F7F7F5"/>
            </a:solidFill>
            <a:prstDash val="solid"/>
          </a:ln>
        </p:spPr>
      </p:sp>
      <p:sp>
        <p:nvSpPr>
          <p:cNvPr id="17" name="Text 15"/>
          <p:cNvSpPr txBox="1"/>
          <p:nvPr/>
        </p:nvSpPr>
        <p:spPr>
          <a:xfrm>
            <a:off x="640080" y="3657600"/>
            <a:ext cx="7863840" cy="868680"/>
          </a:xfrm>
          <a:prstGeom prst="rect">
            <a:avLst/>
          </a:prstGeom>
          <a:noFill/>
          <a:ln/>
        </p:spPr>
        <p:txBody>
          <a:bodyPr wrap="square" lIns="0" tIns="0" rIns="0" bIns="0" rtlCol="0" anchor="ctr"/>
          <a:lstStyle/>
          <a:p>
            <a:pPr indent="0" marL="0">
              <a:buNone/>
            </a:pPr>
            <a:r>
              <a:rPr lang="en-US" sz="1500" i="1" dirty="0">
                <a:solidFill>
                  <a:srgbClr val="1A1A1A"/>
                </a:solidFill>
                <a:latin typeface="Arial" pitchFamily="34" charset="0"/>
                <a:ea typeface="Arial" pitchFamily="34" charset="-122"/>
                <a:cs typeface="Arial" pitchFamily="34" charset="-120"/>
              </a:rPr>
              <a:t>Konpondu baduzu: nola etorri zaizu soluzioa?  Ez baduzu: zerk blokeatu zaitu?</a:t>
            </a:r>
            <a:endParaRPr lang="en-US" sz="15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Katuak ala Sultan?</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S3</a:t>
            </a:r>
            <a:endParaRPr lang="en-US" sz="1200" dirty="0"/>
          </a:p>
        </p:txBody>
      </p:sp>
      <p:sp>
        <p:nvSpPr>
          <p:cNvPr id="5" name="Shape 3"/>
          <p:cNvSpPr/>
          <p:nvPr/>
        </p:nvSpPr>
        <p:spPr>
          <a:xfrm>
            <a:off x="457200" y="1097280"/>
            <a:ext cx="4023360" cy="2514600"/>
          </a:xfrm>
          <a:prstGeom prst="roundRect">
            <a:avLst>
              <a:gd name="adj" fmla="val 4364"/>
            </a:avLst>
          </a:prstGeom>
          <a:solidFill>
            <a:srgbClr val="F7F7F5"/>
          </a:solidFill>
          <a:ln w="12700">
            <a:solidFill>
              <a:srgbClr val="F7F7F5"/>
            </a:solidFill>
            <a:prstDash val="solid"/>
          </a:ln>
        </p:spPr>
      </p:sp>
      <p:sp>
        <p:nvSpPr>
          <p:cNvPr id="6" name="Text 4"/>
          <p:cNvSpPr txBox="1"/>
          <p:nvPr/>
        </p:nvSpPr>
        <p:spPr>
          <a:xfrm>
            <a:off x="640080" y="1188720"/>
            <a:ext cx="3657600" cy="365760"/>
          </a:xfrm>
          <a:prstGeom prst="rect">
            <a:avLst/>
          </a:prstGeom>
          <a:noFill/>
          <a:ln/>
        </p:spPr>
        <p:txBody>
          <a:bodyPr wrap="square" lIns="0" tIns="0" rIns="0" bIns="0" rtlCol="0" anchor="t"/>
          <a:lstStyle/>
          <a:p>
            <a:pPr indent="0" marL="0">
              <a:buNone/>
            </a:pPr>
            <a:r>
              <a:rPr lang="en-US" sz="1600" b="1" dirty="0">
                <a:solidFill>
                  <a:srgbClr val="1B3A5C"/>
                </a:solidFill>
                <a:latin typeface="Arial" pitchFamily="34" charset="0"/>
                <a:ea typeface="Arial" pitchFamily="34" charset="-122"/>
                <a:cs typeface="Arial" pitchFamily="34" charset="-120"/>
              </a:rPr>
              <a:t>Thorndike (1898)</a:t>
            </a:r>
            <a:endParaRPr lang="en-US" sz="1600" dirty="0"/>
          </a:p>
        </p:txBody>
      </p:sp>
      <p:sp>
        <p:nvSpPr>
          <p:cNvPr id="7" name="Text 5"/>
          <p:cNvSpPr txBox="1"/>
          <p:nvPr/>
        </p:nvSpPr>
        <p:spPr>
          <a:xfrm>
            <a:off x="685800" y="1645920"/>
            <a:ext cx="365760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Katuak kutxan, palanka bat irteteko</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Irteteko denbora pixkanaka jaisten da</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Saiakera-errorea: ondorio onek ekintza sendotzen dute</a:t>
            </a:r>
            <a:endParaRPr lang="en-US" sz="1350" dirty="0"/>
          </a:p>
        </p:txBody>
      </p:sp>
      <p:sp>
        <p:nvSpPr>
          <p:cNvPr id="8" name="Shape 6"/>
          <p:cNvSpPr/>
          <p:nvPr/>
        </p:nvSpPr>
        <p:spPr>
          <a:xfrm>
            <a:off x="4663440" y="1097280"/>
            <a:ext cx="4023360" cy="2514600"/>
          </a:xfrm>
          <a:prstGeom prst="roundRect">
            <a:avLst>
              <a:gd name="adj" fmla="val 4364"/>
            </a:avLst>
          </a:prstGeom>
          <a:solidFill>
            <a:srgbClr val="D6E8F7"/>
          </a:solidFill>
          <a:ln w="12700">
            <a:solidFill>
              <a:srgbClr val="D6E8F7"/>
            </a:solidFill>
            <a:prstDash val="solid"/>
          </a:ln>
        </p:spPr>
      </p:sp>
      <p:sp>
        <p:nvSpPr>
          <p:cNvPr id="9" name="Text 7"/>
          <p:cNvSpPr txBox="1"/>
          <p:nvPr/>
        </p:nvSpPr>
        <p:spPr>
          <a:xfrm>
            <a:off x="4846320" y="1188720"/>
            <a:ext cx="3749040" cy="365760"/>
          </a:xfrm>
          <a:prstGeom prst="rect">
            <a:avLst/>
          </a:prstGeom>
          <a:noFill/>
          <a:ln/>
        </p:spPr>
        <p:txBody>
          <a:bodyPr wrap="square" lIns="0" tIns="0" rIns="0" bIns="0" rtlCol="0" anchor="t"/>
          <a:lstStyle/>
          <a:p>
            <a:pPr indent="0" marL="0">
              <a:buNone/>
            </a:pPr>
            <a:r>
              <a:rPr lang="en-US" sz="1600" b="1" dirty="0">
                <a:solidFill>
                  <a:srgbClr val="1B3A5C"/>
                </a:solidFill>
                <a:latin typeface="Arial" pitchFamily="34" charset="0"/>
                <a:ea typeface="Arial" pitchFamily="34" charset="-122"/>
                <a:cs typeface="Arial" pitchFamily="34" charset="-120"/>
              </a:rPr>
              <a:t>Köhler, Tenerife (1914-1920)</a:t>
            </a:r>
            <a:endParaRPr lang="en-US" sz="1600" dirty="0"/>
          </a:p>
        </p:txBody>
      </p:sp>
      <p:sp>
        <p:nvSpPr>
          <p:cNvPr id="10" name="Text 8"/>
          <p:cNvSpPr txBox="1"/>
          <p:nvPr/>
        </p:nvSpPr>
        <p:spPr>
          <a:xfrm>
            <a:off x="4892040" y="1645920"/>
            <a:ext cx="365760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Sultanek bi makila elkartu zituen, eta berehala erakarri zuen banana</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Kaxak pilatu; kaxarik gabe, aulkia</a:t>
            </a:r>
            <a:endParaRPr lang="en-US" sz="1350" dirty="0"/>
          </a:p>
          <a:p>
            <a:pPr marL="342900" indent="-342900">
              <a:spcAft>
                <a:spcPts val="600"/>
              </a:spcAft>
              <a:buSzPct val="100000"/>
              <a:buChar char="•"/>
            </a:pPr>
            <a:r>
              <a:rPr lang="en-US" sz="1350" dirty="0">
                <a:solidFill>
                  <a:srgbClr val="1A1A1A"/>
                </a:solidFill>
                <a:latin typeface="Arial" pitchFamily="34" charset="0"/>
                <a:ea typeface="Arial" pitchFamily="34" charset="-122"/>
                <a:cs typeface="Arial" pitchFamily="34" charset="-120"/>
              </a:rPr>
              <a:t>Bat-bateko ulermena: bat-batekoa, hutsik gabe errepikatzen da, transferitzen da</a:t>
            </a:r>
            <a:endParaRPr lang="en-US" sz="1350" dirty="0"/>
          </a:p>
        </p:txBody>
      </p:sp>
      <p:sp>
        <p:nvSpPr>
          <p:cNvPr id="11" name="Shape 9"/>
          <p:cNvSpPr/>
          <p:nvPr/>
        </p:nvSpPr>
        <p:spPr>
          <a:xfrm>
            <a:off x="457200" y="3749040"/>
            <a:ext cx="8229600" cy="777240"/>
          </a:xfrm>
          <a:prstGeom prst="roundRect">
            <a:avLst>
              <a:gd name="adj" fmla="val 14118"/>
            </a:avLst>
          </a:prstGeom>
          <a:solidFill>
            <a:srgbClr val="FAE5D3"/>
          </a:solidFill>
          <a:ln w="12700">
            <a:solidFill>
              <a:srgbClr val="FAE5D3"/>
            </a:solidFill>
            <a:prstDash val="solid"/>
          </a:ln>
        </p:spPr>
      </p:sp>
      <p:sp>
        <p:nvSpPr>
          <p:cNvPr id="12" name="Text 10"/>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250" b="1" dirty="0">
                <a:solidFill>
                  <a:srgbClr val="8C3A00"/>
                </a:solidFill>
                <a:latin typeface="Arial" pitchFamily="34" charset="0"/>
                <a:ea typeface="Arial" pitchFamily="34" charset="-122"/>
                <a:cs typeface="Arial" pitchFamily="34" charset="-120"/>
              </a:rPr>
              <a:t>Muga · Birch (1945): </a:t>
            </a:r>
            <a:pPr indent="0" marL="0">
              <a:buNone/>
            </a:pPr>
            <a:r>
              <a:rPr lang="en-US" sz="1250" dirty="0">
                <a:solidFill>
                  <a:srgbClr val="1A1A1A"/>
                </a:solidFill>
                <a:latin typeface="Arial" pitchFamily="34" charset="0"/>
                <a:ea typeface="Arial" pitchFamily="34" charset="-122"/>
                <a:cs typeface="Arial" pitchFamily="34" charset="-120"/>
              </a:rPr>
              <a:t>makilekin inoiz jolastu ez zuten txinpantze gehienek ez zuten arazoa ebatzi. Egun batzuk jolastu ondoren, bai. Ulermena aurretik ikasitakoaren gainean eraikitzen da.</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Lehen ebidentzia-orria</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S3</a:t>
            </a:r>
            <a:endParaRPr lang="en-US" sz="1200" dirty="0"/>
          </a:p>
        </p:txBody>
      </p:sp>
      <p:sp>
        <p:nvSpPr>
          <p:cNvPr id="5" name="Shape 3"/>
          <p:cNvSpPr/>
          <p:nvPr/>
        </p:nvSpPr>
        <p:spPr>
          <a:xfrm>
            <a:off x="457200" y="1097280"/>
            <a:ext cx="8229600" cy="713232"/>
          </a:xfrm>
          <a:prstGeom prst="roundRect">
            <a:avLst>
              <a:gd name="adj" fmla="val 15385"/>
            </a:avLst>
          </a:prstGeom>
          <a:solidFill>
            <a:srgbClr val="D4EDE1"/>
          </a:solidFill>
          <a:ln w="12700">
            <a:solidFill>
              <a:srgbClr val="D4EDE1"/>
            </a:solidFill>
            <a:prstDash val="solid"/>
          </a:ln>
        </p:spPr>
      </p:sp>
      <p:sp>
        <p:nvSpPr>
          <p:cNvPr id="6" name="Shape 4"/>
          <p:cNvSpPr/>
          <p:nvPr/>
        </p:nvSpPr>
        <p:spPr>
          <a:xfrm>
            <a:off x="594360" y="1289304"/>
            <a:ext cx="329184" cy="329184"/>
          </a:xfrm>
          <a:prstGeom prst="ellipse">
            <a:avLst/>
          </a:prstGeom>
          <a:solidFill>
            <a:srgbClr val="1B3A5C"/>
          </a:solidFill>
          <a:ln w="12700">
            <a:solidFill>
              <a:srgbClr val="1B3A5C"/>
            </a:solidFill>
            <a:prstDash val="solid"/>
          </a:ln>
        </p:spPr>
      </p:sp>
      <p:sp>
        <p:nvSpPr>
          <p:cNvPr id="7" name="Text 5"/>
          <p:cNvSpPr txBox="1"/>
          <p:nvPr/>
        </p:nvSpPr>
        <p:spPr>
          <a:xfrm>
            <a:off x="594360" y="12893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051560" y="1152144"/>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Irakurri dosierra. Markatu hiru koloretan: zer egin zuten / zer ikusi zuten / zer interpretatu zuten</a:t>
            </a:r>
            <a:endParaRPr lang="en-US" sz="1400" dirty="0"/>
          </a:p>
        </p:txBody>
      </p:sp>
      <p:sp>
        <p:nvSpPr>
          <p:cNvPr id="9" name="Text 7"/>
          <p:cNvSpPr txBox="1"/>
          <p:nvPr/>
        </p:nvSpPr>
        <p:spPr>
          <a:xfrm>
            <a:off x="7543800" y="1152144"/>
            <a:ext cx="1005840" cy="603504"/>
          </a:xfrm>
          <a:prstGeom prst="rect">
            <a:avLst/>
          </a:prstGeom>
          <a:noFill/>
          <a:ln/>
        </p:spPr>
        <p:txBody>
          <a:bodyPr wrap="square" lIns="0" tIns="0" rIns="0" bIns="0" rtlCol="0" anchor="ctr"/>
          <a:lstStyle/>
          <a:p>
            <a:pPr algn="r" indent="0" marL="0">
              <a:buNone/>
            </a:pPr>
            <a:r>
              <a:rPr lang="en-US" sz="900" b="1" dirty="0">
                <a:solidFill>
                  <a:srgbClr val="1A5C3A"/>
                </a:solidFill>
                <a:latin typeface="Arial" pitchFamily="34" charset="0"/>
                <a:ea typeface="Arial" pitchFamily="34" charset="-122"/>
                <a:cs typeface="Arial" pitchFamily="34" charset="-120"/>
              </a:rPr>
              <a:t>BAKARKA</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10 min</a:t>
            </a:r>
            <a:endParaRPr lang="en-US" sz="900" dirty="0"/>
          </a:p>
        </p:txBody>
      </p:sp>
      <p:sp>
        <p:nvSpPr>
          <p:cNvPr id="10" name="Shape 8"/>
          <p:cNvSpPr/>
          <p:nvPr/>
        </p:nvSpPr>
        <p:spPr>
          <a:xfrm>
            <a:off x="457200" y="1938528"/>
            <a:ext cx="8229600" cy="713232"/>
          </a:xfrm>
          <a:prstGeom prst="roundRect">
            <a:avLst>
              <a:gd name="adj" fmla="val 15385"/>
            </a:avLst>
          </a:prstGeom>
          <a:solidFill>
            <a:srgbClr val="D4EDE1"/>
          </a:solidFill>
          <a:ln w="12700">
            <a:solidFill>
              <a:srgbClr val="D4EDE1"/>
            </a:solidFill>
            <a:prstDash val="solid"/>
          </a:ln>
        </p:spPr>
      </p:sp>
      <p:sp>
        <p:nvSpPr>
          <p:cNvPr id="11" name="Shape 9"/>
          <p:cNvSpPr/>
          <p:nvPr/>
        </p:nvSpPr>
        <p:spPr>
          <a:xfrm>
            <a:off x="594360" y="2130552"/>
            <a:ext cx="329184" cy="329184"/>
          </a:xfrm>
          <a:prstGeom prst="ellipse">
            <a:avLst/>
          </a:prstGeom>
          <a:solidFill>
            <a:srgbClr val="1B3A5C"/>
          </a:solidFill>
          <a:ln w="12700">
            <a:solidFill>
              <a:srgbClr val="1B3A5C"/>
            </a:solidFill>
            <a:prstDash val="solid"/>
          </a:ln>
        </p:spPr>
      </p:sp>
      <p:sp>
        <p:nvSpPr>
          <p:cNvPr id="12" name="Text 10"/>
          <p:cNvSpPr txBox="1"/>
          <p:nvPr/>
        </p:nvSpPr>
        <p:spPr>
          <a:xfrm>
            <a:off x="594360" y="21305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1051560" y="1993392"/>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Bete 1. ebidentzia-orria (koadernoaren amaieran)</a:t>
            </a:r>
            <a:endParaRPr lang="en-US" sz="1400" dirty="0"/>
          </a:p>
        </p:txBody>
      </p:sp>
      <p:sp>
        <p:nvSpPr>
          <p:cNvPr id="14" name="Text 12"/>
          <p:cNvSpPr txBox="1"/>
          <p:nvPr/>
        </p:nvSpPr>
        <p:spPr>
          <a:xfrm>
            <a:off x="7543800" y="1993392"/>
            <a:ext cx="1005840" cy="603504"/>
          </a:xfrm>
          <a:prstGeom prst="rect">
            <a:avLst/>
          </a:prstGeom>
          <a:noFill/>
          <a:ln/>
        </p:spPr>
        <p:txBody>
          <a:bodyPr wrap="square" lIns="0" tIns="0" rIns="0" bIns="0" rtlCol="0" anchor="ctr"/>
          <a:lstStyle/>
          <a:p>
            <a:pPr algn="r" indent="0" marL="0">
              <a:buNone/>
            </a:pPr>
            <a:r>
              <a:rPr lang="en-US" sz="900" b="1" dirty="0">
                <a:solidFill>
                  <a:srgbClr val="1A5C3A"/>
                </a:solidFill>
                <a:latin typeface="Arial" pitchFamily="34" charset="0"/>
                <a:ea typeface="Arial" pitchFamily="34" charset="-122"/>
                <a:cs typeface="Arial" pitchFamily="34" charset="-120"/>
              </a:rPr>
              <a:t>BAKARKA</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15 min</a:t>
            </a:r>
            <a:endParaRPr lang="en-US" sz="900" dirty="0"/>
          </a:p>
        </p:txBody>
      </p:sp>
      <p:sp>
        <p:nvSpPr>
          <p:cNvPr id="15" name="Shape 13"/>
          <p:cNvSpPr/>
          <p:nvPr/>
        </p:nvSpPr>
        <p:spPr>
          <a:xfrm>
            <a:off x="457200" y="2779776"/>
            <a:ext cx="8229600" cy="713232"/>
          </a:xfrm>
          <a:prstGeom prst="roundRect">
            <a:avLst>
              <a:gd name="adj" fmla="val 15385"/>
            </a:avLst>
          </a:prstGeom>
          <a:solidFill>
            <a:srgbClr val="FAE5D3"/>
          </a:solidFill>
          <a:ln w="12700">
            <a:solidFill>
              <a:srgbClr val="FAE5D3"/>
            </a:solidFill>
            <a:prstDash val="solid"/>
          </a:ln>
        </p:spPr>
      </p:sp>
      <p:sp>
        <p:nvSpPr>
          <p:cNvPr id="16" name="Shape 14"/>
          <p:cNvSpPr/>
          <p:nvPr/>
        </p:nvSpPr>
        <p:spPr>
          <a:xfrm>
            <a:off x="594360" y="2971800"/>
            <a:ext cx="329184" cy="329184"/>
          </a:xfrm>
          <a:prstGeom prst="ellipse">
            <a:avLst/>
          </a:prstGeom>
          <a:solidFill>
            <a:srgbClr val="1B3A5C"/>
          </a:solidFill>
          <a:ln w="12700">
            <a:solidFill>
              <a:srgbClr val="1B3A5C"/>
            </a:solidFill>
            <a:prstDash val="solid"/>
          </a:ln>
        </p:spPr>
      </p:sp>
      <p:sp>
        <p:nvSpPr>
          <p:cNvPr id="17" name="Text 15"/>
          <p:cNvSpPr txBox="1"/>
          <p:nvPr/>
        </p:nvSpPr>
        <p:spPr>
          <a:xfrm>
            <a:off x="594360"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1051560" y="2834640"/>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Adostu 3 irizpide: zer froga behar da esateko norbaitek ULERTU duela, eta ez soilik ikasi?</a:t>
            </a:r>
            <a:endParaRPr lang="en-US" sz="1400" dirty="0"/>
          </a:p>
        </p:txBody>
      </p:sp>
      <p:sp>
        <p:nvSpPr>
          <p:cNvPr id="19" name="Text 17"/>
          <p:cNvSpPr txBox="1"/>
          <p:nvPr/>
        </p:nvSpPr>
        <p:spPr>
          <a:xfrm>
            <a:off x="7543800" y="2834640"/>
            <a:ext cx="1005840" cy="603504"/>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15 min</a:t>
            </a:r>
            <a:endParaRPr lang="en-US" sz="900" dirty="0"/>
          </a:p>
        </p:txBody>
      </p:sp>
      <p:sp>
        <p:nvSpPr>
          <p:cNvPr id="20" name="Shape 18"/>
          <p:cNvSpPr/>
          <p:nvPr/>
        </p:nvSpPr>
        <p:spPr>
          <a:xfrm>
            <a:off x="457200" y="3794760"/>
            <a:ext cx="8229600" cy="731520"/>
          </a:xfrm>
          <a:prstGeom prst="roundRect">
            <a:avLst>
              <a:gd name="adj" fmla="val 12500"/>
            </a:avLst>
          </a:prstGeom>
          <a:solidFill>
            <a:srgbClr val="FFFFFF"/>
          </a:solidFill>
          <a:ln w="19050">
            <a:solidFill>
              <a:srgbClr val="1B3A5C"/>
            </a:solidFill>
            <a:prstDash val="dash"/>
          </a:ln>
        </p:spPr>
      </p:sp>
      <p:sp>
        <p:nvSpPr>
          <p:cNvPr id="21" name="Text 19"/>
          <p:cNvSpPr txBox="1"/>
          <p:nvPr/>
        </p:nvSpPr>
        <p:spPr>
          <a:xfrm>
            <a:off x="640080" y="3867912"/>
            <a:ext cx="7863840" cy="585216"/>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IRTEERA-TXARTELA · 4 MIN   </a:t>
            </a:r>
            <a:pPr indent="0" marL="0">
              <a:buNone/>
            </a:pPr>
            <a:r>
              <a:rPr lang="en-US" sz="1300" dirty="0">
                <a:solidFill>
                  <a:srgbClr val="1A1A1A"/>
                </a:solidFill>
                <a:latin typeface="Arial" pitchFamily="34" charset="0"/>
                <a:ea typeface="Arial" pitchFamily="34" charset="-122"/>
                <a:cs typeface="Arial" pitchFamily="34" charset="-120"/>
              </a:rPr>
              <a:t>Marraztu bi ikaskuntza-kurba (X: saiakerak · Y: denbora): katuena eta Sultanena. Zertan dira desberdinak?</a:t>
            </a:r>
            <a:endParaRPr lang="en-US" sz="10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5FC"/>
        </a:solidFill>
      </p:bgPr>
    </p:bg>
    <p:spTree>
      <p:nvGrpSpPr>
        <p:cNvPr id="1" name=""/>
        <p:cNvGrpSpPr/>
        <p:nvPr/>
      </p:nvGrpSpPr>
      <p:grpSpPr>
        <a:xfrm>
          <a:off x="0" y="0"/>
          <a:ext cx="0" cy="0"/>
          <a:chOff x="0" y="0"/>
          <a:chExt cx="0" cy="0"/>
        </a:xfrm>
      </p:grpSpPr>
      <p:sp>
        <p:nvSpPr>
          <p:cNvPr id="2" name="Shape 0"/>
          <p:cNvSpPr/>
          <p:nvPr/>
        </p:nvSpPr>
        <p:spPr>
          <a:xfrm>
            <a:off x="548640" y="548640"/>
            <a:ext cx="822960" cy="457200"/>
          </a:xfrm>
          <a:prstGeom prst="roundRect">
            <a:avLst>
              <a:gd name="adj" fmla="val 20000"/>
            </a:avLst>
          </a:prstGeom>
          <a:solidFill>
            <a:srgbClr val="1B3A5C"/>
          </a:solidFill>
          <a:ln w="12700">
            <a:solidFill>
              <a:srgbClr val="1B3A5C"/>
            </a:solidFill>
            <a:prstDash val="solid"/>
          </a:ln>
        </p:spPr>
      </p:sp>
      <p:sp>
        <p:nvSpPr>
          <p:cNvPr id="3" name="Text 1"/>
          <p:cNvSpPr txBox="1"/>
          <p:nvPr/>
        </p:nvSpPr>
        <p:spPr>
          <a:xfrm>
            <a:off x="548640" y="548640"/>
            <a:ext cx="822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S4</a:t>
            </a:r>
            <a:endParaRPr lang="en-US" sz="1800" dirty="0"/>
          </a:p>
        </p:txBody>
      </p:sp>
      <p:sp>
        <p:nvSpPr>
          <p:cNvPr id="4" name="Text 2"/>
          <p:cNvSpPr txBox="1"/>
          <p:nvPr/>
        </p:nvSpPr>
        <p:spPr>
          <a:xfrm>
            <a:off x="1554480" y="548640"/>
            <a:ext cx="5029200" cy="457200"/>
          </a:xfrm>
          <a:prstGeom prst="rect">
            <a:avLst/>
          </a:prstGeom>
          <a:noFill/>
          <a:ln/>
        </p:spPr>
        <p:txBody>
          <a:bodyPr wrap="square" lIns="0" tIns="0" rIns="0" bIns="0" rtlCol="0" anchor="ctr"/>
          <a:lstStyle/>
          <a:p>
            <a:pPr indent="0" marL="0">
              <a:buNone/>
            </a:pPr>
            <a:r>
              <a:rPr lang="en-US" sz="1300" b="1" dirty="0">
                <a:solidFill>
                  <a:srgbClr val="1B3A5C"/>
                </a:solidFill>
                <a:latin typeface="Arial" pitchFamily="34" charset="0"/>
                <a:ea typeface="Arial" pitchFamily="34" charset="-122"/>
                <a:cs typeface="Arial" pitchFamily="34" charset="-120"/>
              </a:rPr>
              <a:t>2. kasua · Kondizionamendu operantea · 50 min</a:t>
            </a:r>
            <a:endParaRPr lang="en-US" sz="1300" dirty="0"/>
          </a:p>
        </p:txBody>
      </p:sp>
      <p:sp>
        <p:nvSpPr>
          <p:cNvPr id="5" name="Text 0"/>
          <p:cNvSpPr/>
          <p:nvPr>
            <p:ph idx="100" type="title" hasCustomPrompt="1"/>
          </p:nvPr>
        </p:nvSpPr>
        <p:spPr>
          <a:xfrm>
            <a:off x="548640" y="1234440"/>
            <a:ext cx="6035040" cy="914400"/>
          </a:xfrm>
          <a:prstGeom prst="rect">
            <a:avLst/>
          </a:prstGeom>
          <a:noFill/>
          <a:ln/>
        </p:spPr>
        <p:txBody>
          <a:bodyPr wrap="square" lIns="0" tIns="0" rIns="0" bIns="0" rtlCol="0" anchor="t"/>
          <a:lstStyle/>
          <a:p>
            <a:pPr algn="l" indent="0" marL="0">
              <a:buNone/>
            </a:pPr>
            <a:r>
              <a:rPr lang="en-US" sz="3600" b="1" dirty="0">
                <a:solidFill>
                  <a:srgbClr val="1B3A5C"/>
                </a:solidFill>
              </a:rPr>
              <a:t>Nim Chimpsky</a:t>
            </a:r>
            <a:endParaRPr lang="en-US" sz="3600" dirty="0"/>
          </a:p>
        </p:txBody>
      </p:sp>
      <p:sp>
        <p:nvSpPr>
          <p:cNvPr id="6" name="Text 0"/>
          <p:cNvSpPr/>
          <p:nvPr>
            <p:ph idx="101" type="body" hasCustomPrompt="1"/>
          </p:nvPr>
        </p:nvSpPr>
        <p:spPr>
          <a:xfrm>
            <a:off x="548640" y="2514600"/>
            <a:ext cx="6035040" cy="1463040"/>
          </a:xfrm>
          <a:prstGeom prst="rect">
            <a:avLst/>
          </a:prstGeom>
          <a:noFill/>
          <a:ln/>
        </p:spPr>
        <p:txBody>
          <a:bodyPr wrap="square" lIns="0" tIns="0" rIns="0" bIns="0" rtlCol="0" anchor="t"/>
          <a:lstStyle/>
          <a:p>
            <a:pPr algn="l" indent="0" marL="0">
              <a:buNone/>
            </a:pPr>
            <a:r>
              <a:rPr lang="en-US" sz="2200" b="1" dirty="0">
                <a:solidFill>
                  <a:srgbClr val="1B3A5C"/>
                </a:solidFill>
              </a:rPr>
              <a:t>Errefortzuz ikas daiteke hizkuntza bat?</a:t>
            </a:r>
            <a:endParaRPr lang="en-US" sz="2200" dirty="0"/>
          </a:p>
        </p:txBody>
      </p:sp>
      <p:sp>
        <p:nvSpPr>
          <p:cNvPr id="7" name="Shape 5"/>
          <p:cNvSpPr/>
          <p:nvPr/>
        </p:nvSpPr>
        <p:spPr>
          <a:xfrm>
            <a:off x="6720840" y="1325880"/>
            <a:ext cx="2011680" cy="20116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223760" y="1828800"/>
            <a:ext cx="1005840" cy="1005840"/>
          </a:xfrm>
          <a:prstGeom prst="rect">
            <a:avLst/>
          </a:prstGeom>
        </p:spPr>
      </p:pic>
      <p:sp>
        <p:nvSpPr>
          <p:cNvPr id="9" name="Text 6"/>
          <p:cNvSpPr txBox="1"/>
          <p:nvPr/>
        </p:nvSpPr>
        <p:spPr>
          <a:xfrm>
            <a:off x="548640" y="2240280"/>
            <a:ext cx="3657600" cy="274320"/>
          </a:xfrm>
          <a:prstGeom prst="rect">
            <a:avLst/>
          </a:prstGeom>
          <a:noFill/>
          <a:ln/>
        </p:spPr>
        <p:txBody>
          <a:bodyPr wrap="square" lIns="0" tIns="0" rIns="0" bIns="0" rtlCol="0" anchor="t"/>
          <a:lstStyle/>
          <a:p>
            <a:pPr indent="0" marL="0">
              <a:buNone/>
            </a:pPr>
            <a:r>
              <a:rPr lang="en-US" sz="1000" b="1" spc="200" kern="0" dirty="0">
                <a:solidFill>
                  <a:srgbClr val="5B6573"/>
                </a:solidFill>
                <a:latin typeface="Arial" pitchFamily="34" charset="0"/>
                <a:ea typeface="Arial" pitchFamily="34" charset="-122"/>
                <a:cs typeface="Arial" pitchFamily="34" charset="-120"/>
              </a:rPr>
              <a:t>GALDERA GIDARIA</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Esaldi bat al da?</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S4</a:t>
            </a:r>
            <a:endParaRPr lang="en-US" sz="1200" dirty="0"/>
          </a:p>
        </p:txBody>
      </p:sp>
      <p:sp>
        <p:nvSpPr>
          <p:cNvPr id="5" name="Shape 3"/>
          <p:cNvSpPr/>
          <p:nvPr/>
        </p:nvSpPr>
        <p:spPr>
          <a:xfrm>
            <a:off x="457200" y="1143000"/>
            <a:ext cx="8229600" cy="1737360"/>
          </a:xfrm>
          <a:prstGeom prst="roundRect">
            <a:avLst>
              <a:gd name="adj" fmla="val 6316"/>
            </a:avLst>
          </a:prstGeom>
          <a:solidFill>
            <a:srgbClr val="D6E8F7"/>
          </a:solidFill>
          <a:ln w="12700">
            <a:solidFill>
              <a:srgbClr val="D6E8F7"/>
            </a:solidFill>
            <a:prstDash val="solid"/>
          </a:ln>
        </p:spPr>
      </p:sp>
      <p:sp>
        <p:nvSpPr>
          <p:cNvPr id="6" name="Text 4"/>
          <p:cNvSpPr txBox="1"/>
          <p:nvPr/>
        </p:nvSpPr>
        <p:spPr>
          <a:xfrm>
            <a:off x="731520" y="1280160"/>
            <a:ext cx="7680960" cy="914400"/>
          </a:xfrm>
          <a:prstGeom prst="rect">
            <a:avLst/>
          </a:prstGeom>
          <a:noFill/>
          <a:ln/>
        </p:spPr>
        <p:txBody>
          <a:bodyPr wrap="square" lIns="0" tIns="0" rIns="0" bIns="0" rtlCol="0" anchor="ctr"/>
          <a:lstStyle/>
          <a:p>
            <a:pPr algn="ctr" indent="0" marL="0">
              <a:buNone/>
            </a:pPr>
            <a:r>
              <a:rPr lang="en-US" sz="2200" b="1" dirty="0">
                <a:solidFill>
                  <a:srgbClr val="1B3A5C"/>
                </a:solidFill>
                <a:latin typeface="Arial" pitchFamily="34" charset="0"/>
                <a:ea typeface="Arial" pitchFamily="34" charset="-122"/>
                <a:cs typeface="Arial" pitchFamily="34" charset="-120"/>
              </a:rPr>
              <a:t>«Give orange me give eat orange me eat orange give me eat orange give me you»</a:t>
            </a:r>
            <a:endParaRPr lang="en-US" sz="2200" dirty="0"/>
          </a:p>
        </p:txBody>
      </p:sp>
      <p:sp>
        <p:nvSpPr>
          <p:cNvPr id="7" name="Text 5"/>
          <p:cNvSpPr txBox="1"/>
          <p:nvPr/>
        </p:nvSpPr>
        <p:spPr>
          <a:xfrm>
            <a:off x="731520" y="2240280"/>
            <a:ext cx="7680960" cy="502920"/>
          </a:xfrm>
          <a:prstGeom prst="rect">
            <a:avLst/>
          </a:prstGeom>
          <a:noFill/>
          <a:ln/>
        </p:spPr>
        <p:txBody>
          <a:bodyPr wrap="square" lIns="0" tIns="0" rIns="0" bIns="0" rtlCol="0" anchor="ctr"/>
          <a:lstStyle/>
          <a:p>
            <a:pPr algn="ctr" indent="0" marL="0">
              <a:buNone/>
            </a:pPr>
            <a:r>
              <a:rPr lang="en-US" sz="1400" i="1" dirty="0">
                <a:solidFill>
                  <a:srgbClr val="5B6573"/>
                </a:solidFill>
                <a:latin typeface="Arial" pitchFamily="34" charset="0"/>
                <a:ea typeface="Arial" pitchFamily="34" charset="-122"/>
                <a:cs typeface="Arial" pitchFamily="34" charset="-120"/>
              </a:rPr>
              <a:t>Eman laranja ni eman jan laranja ni jan laranja eman ni jan laranja eman ni zu</a:t>
            </a:r>
            <a:endParaRPr lang="en-US" sz="1400" dirty="0"/>
          </a:p>
        </p:txBody>
      </p:sp>
      <p:sp>
        <p:nvSpPr>
          <p:cNvPr id="8" name="Text 6"/>
          <p:cNvSpPr txBox="1"/>
          <p:nvPr/>
        </p:nvSpPr>
        <p:spPr>
          <a:xfrm>
            <a:off x="457200" y="3017520"/>
            <a:ext cx="8229600" cy="320040"/>
          </a:xfrm>
          <a:prstGeom prst="rect">
            <a:avLst/>
          </a:prstGeom>
          <a:noFill/>
          <a:ln/>
        </p:spPr>
        <p:txBody>
          <a:bodyPr wrap="square" lIns="0" tIns="0" rIns="0" bIns="0" rtlCol="0" anchor="t"/>
          <a:lstStyle/>
          <a:p>
            <a:pPr algn="ctr" indent="0" marL="0">
              <a:buNone/>
            </a:pPr>
            <a:r>
              <a:rPr lang="en-US" sz="1300" dirty="0">
                <a:solidFill>
                  <a:srgbClr val="5B6573"/>
                </a:solidFill>
                <a:latin typeface="Arial" pitchFamily="34" charset="0"/>
                <a:ea typeface="Arial" pitchFamily="34" charset="-122"/>
                <a:cs typeface="Arial" pitchFamily="34" charset="-120"/>
              </a:rPr>
              <a:t>Nimen segidarik luzeena: 16 zeinu</a:t>
            </a:r>
            <a:endParaRPr lang="en-US" sz="1300" dirty="0"/>
          </a:p>
        </p:txBody>
      </p:sp>
      <p:sp>
        <p:nvSpPr>
          <p:cNvPr id="9" name="Shape 7"/>
          <p:cNvSpPr/>
          <p:nvPr/>
        </p:nvSpPr>
        <p:spPr>
          <a:xfrm>
            <a:off x="457200" y="3520440"/>
            <a:ext cx="8229600" cy="640080"/>
          </a:xfrm>
          <a:prstGeom prst="roundRect">
            <a:avLst>
              <a:gd name="adj" fmla="val 17143"/>
            </a:avLst>
          </a:prstGeom>
          <a:solidFill>
            <a:srgbClr val="FAE5D3"/>
          </a:solidFill>
          <a:ln w="12700">
            <a:solidFill>
              <a:srgbClr val="FAE5D3"/>
            </a:solidFill>
            <a:prstDash val="solid"/>
          </a:ln>
        </p:spPr>
      </p:sp>
      <p:sp>
        <p:nvSpPr>
          <p:cNvPr id="10" name="Shape 8"/>
          <p:cNvSpPr/>
          <p:nvPr/>
        </p:nvSpPr>
        <p:spPr>
          <a:xfrm>
            <a:off x="594360" y="3675888"/>
            <a:ext cx="329184" cy="329184"/>
          </a:xfrm>
          <a:prstGeom prst="ellipse">
            <a:avLst/>
          </a:prstGeom>
          <a:solidFill>
            <a:srgbClr val="1B3A5C"/>
          </a:solidFill>
          <a:ln w="12700">
            <a:solidFill>
              <a:srgbClr val="1B3A5C"/>
            </a:solidFill>
            <a:prstDash val="solid"/>
          </a:ln>
        </p:spPr>
      </p:sp>
      <p:sp>
        <p:nvSpPr>
          <p:cNvPr id="11" name="Text 9"/>
          <p:cNvSpPr txBox="1"/>
          <p:nvPr/>
        </p:nvSpPr>
        <p:spPr>
          <a:xfrm>
            <a:off x="594360" y="36758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2" name="Text 10"/>
          <p:cNvSpPr txBox="1"/>
          <p:nvPr/>
        </p:nvSpPr>
        <p:spPr>
          <a:xfrm>
            <a:off x="1051560" y="3575304"/>
            <a:ext cx="6400800" cy="530352"/>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Esaldi bat al da? Zer behar du zeinu-segida batek esaldi bat izateko?</a:t>
            </a:r>
            <a:endParaRPr lang="en-US" sz="1400" dirty="0"/>
          </a:p>
        </p:txBody>
      </p:sp>
      <p:sp>
        <p:nvSpPr>
          <p:cNvPr id="13" name="Text 11"/>
          <p:cNvSpPr txBox="1"/>
          <p:nvPr/>
        </p:nvSpPr>
        <p:spPr>
          <a:xfrm>
            <a:off x="7543800" y="3575304"/>
            <a:ext cx="1005840" cy="530352"/>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5 min</a:t>
            </a:r>
            <a:endParaRPr lang="en-US" sz="9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Skinner ala Chomsky?</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S4</a:t>
            </a:r>
            <a:endParaRPr lang="en-US" sz="1200" dirty="0"/>
          </a:p>
        </p:txBody>
      </p:sp>
      <p:sp>
        <p:nvSpPr>
          <p:cNvPr id="5" name="Shape 3"/>
          <p:cNvSpPr/>
          <p:nvPr/>
        </p:nvSpPr>
        <p:spPr>
          <a:xfrm>
            <a:off x="457200" y="1097280"/>
            <a:ext cx="4023360" cy="2103120"/>
          </a:xfrm>
          <a:prstGeom prst="roundRect">
            <a:avLst>
              <a:gd name="adj" fmla="val 5217"/>
            </a:avLst>
          </a:prstGeom>
          <a:solidFill>
            <a:srgbClr val="D6E8F7"/>
          </a:solidFill>
          <a:ln w="12700">
            <a:solidFill>
              <a:srgbClr val="D6E8F7"/>
            </a:solidFill>
            <a:prstDash val="solid"/>
          </a:ln>
        </p:spPr>
      </p:sp>
      <p:sp>
        <p:nvSpPr>
          <p:cNvPr id="6" name="Text 4"/>
          <p:cNvSpPr txBox="1"/>
          <p:nvPr/>
        </p:nvSpPr>
        <p:spPr>
          <a:xfrm>
            <a:off x="640080" y="1188720"/>
            <a:ext cx="3657600" cy="365760"/>
          </a:xfrm>
          <a:prstGeom prst="rect">
            <a:avLst/>
          </a:prstGeom>
          <a:noFill/>
          <a:ln/>
        </p:spPr>
        <p:txBody>
          <a:bodyPr wrap="square" lIns="0" tIns="0" rIns="0" bIns="0" rtlCol="0" anchor="t"/>
          <a:lstStyle/>
          <a:p>
            <a:pPr indent="0" marL="0">
              <a:buNone/>
            </a:pPr>
            <a:r>
              <a:rPr lang="en-US" sz="1700" b="1" dirty="0">
                <a:solidFill>
                  <a:srgbClr val="1B3A5C"/>
                </a:solidFill>
                <a:latin typeface="Arial" pitchFamily="34" charset="0"/>
                <a:ea typeface="Arial" pitchFamily="34" charset="-122"/>
                <a:cs typeface="Arial" pitchFamily="34" charset="-120"/>
              </a:rPr>
              <a:t>Skinner (1957)</a:t>
            </a:r>
            <a:endParaRPr lang="en-US" sz="1700" dirty="0"/>
          </a:p>
        </p:txBody>
      </p:sp>
      <p:sp>
        <p:nvSpPr>
          <p:cNvPr id="7" name="Text 5"/>
          <p:cNvSpPr txBox="1"/>
          <p:nvPr/>
        </p:nvSpPr>
        <p:spPr>
          <a:xfrm>
            <a:off x="640080" y="1645920"/>
            <a:ext cx="3657600" cy="1371600"/>
          </a:xfrm>
          <a:prstGeom prst="rect">
            <a:avLst/>
          </a:prstGeom>
          <a:noFill/>
          <a:ln/>
        </p:spPr>
        <p:txBody>
          <a:bodyPr wrap="square" lIns="0" tIns="0" rIns="0" bIns="0" rtlCol="0" anchor="t"/>
          <a:lstStyle/>
          <a:p>
            <a:pPr indent="0" marL="0">
              <a:buNone/>
            </a:pPr>
            <a:r>
              <a:rPr lang="en-US" sz="1500" dirty="0">
                <a:solidFill>
                  <a:srgbClr val="1A1A1A"/>
                </a:solidFill>
                <a:latin typeface="Arial" pitchFamily="34" charset="0"/>
                <a:ea typeface="Arial" pitchFamily="34" charset="-122"/>
                <a:cs typeface="Arial" pitchFamily="34" charset="-120"/>
              </a:rPr>
              <a:t>Hizkuntza beste jokabide bat da, eta errefortzuz ikasten da.</a:t>
            </a:r>
            <a:endParaRPr lang="en-US" sz="1500" dirty="0"/>
          </a:p>
        </p:txBody>
      </p:sp>
      <p:sp>
        <p:nvSpPr>
          <p:cNvPr id="8" name="Shape 6"/>
          <p:cNvSpPr/>
          <p:nvPr/>
        </p:nvSpPr>
        <p:spPr>
          <a:xfrm>
            <a:off x="4663440" y="1097280"/>
            <a:ext cx="4023360" cy="2103120"/>
          </a:xfrm>
          <a:prstGeom prst="roundRect">
            <a:avLst>
              <a:gd name="adj" fmla="val 5217"/>
            </a:avLst>
          </a:prstGeom>
          <a:solidFill>
            <a:srgbClr val="EDD4ED"/>
          </a:solidFill>
          <a:ln w="12700">
            <a:solidFill>
              <a:srgbClr val="EDD4ED"/>
            </a:solidFill>
            <a:prstDash val="solid"/>
          </a:ln>
        </p:spPr>
      </p:sp>
      <p:sp>
        <p:nvSpPr>
          <p:cNvPr id="9" name="Text 7"/>
          <p:cNvSpPr txBox="1"/>
          <p:nvPr/>
        </p:nvSpPr>
        <p:spPr>
          <a:xfrm>
            <a:off x="4846320" y="1188720"/>
            <a:ext cx="3657600" cy="365760"/>
          </a:xfrm>
          <a:prstGeom prst="rect">
            <a:avLst/>
          </a:prstGeom>
          <a:noFill/>
          <a:ln/>
        </p:spPr>
        <p:txBody>
          <a:bodyPr wrap="square" lIns="0" tIns="0" rIns="0" bIns="0" rtlCol="0" anchor="t"/>
          <a:lstStyle/>
          <a:p>
            <a:pPr indent="0" marL="0">
              <a:buNone/>
            </a:pPr>
            <a:r>
              <a:rPr lang="en-US" sz="1700" b="1" dirty="0">
                <a:solidFill>
                  <a:srgbClr val="5C1A5C"/>
                </a:solidFill>
                <a:latin typeface="Arial" pitchFamily="34" charset="0"/>
                <a:ea typeface="Arial" pitchFamily="34" charset="-122"/>
                <a:cs typeface="Arial" pitchFamily="34" charset="-120"/>
              </a:rPr>
              <a:t>Chomsky (1959)</a:t>
            </a:r>
            <a:endParaRPr lang="en-US" sz="1700" dirty="0"/>
          </a:p>
        </p:txBody>
      </p:sp>
      <p:sp>
        <p:nvSpPr>
          <p:cNvPr id="10" name="Text 8"/>
          <p:cNvSpPr txBox="1"/>
          <p:nvPr/>
        </p:nvSpPr>
        <p:spPr>
          <a:xfrm>
            <a:off x="4846320" y="1645920"/>
            <a:ext cx="3657600" cy="1371600"/>
          </a:xfrm>
          <a:prstGeom prst="rect">
            <a:avLst/>
          </a:prstGeom>
          <a:noFill/>
          <a:ln/>
        </p:spPr>
        <p:txBody>
          <a:bodyPr wrap="square" lIns="0" tIns="0" rIns="0" bIns="0" rtlCol="0" anchor="t"/>
          <a:lstStyle/>
          <a:p>
            <a:pPr indent="0" marL="0">
              <a:buNone/>
            </a:pPr>
            <a:r>
              <a:rPr lang="en-US" sz="1500" dirty="0">
                <a:solidFill>
                  <a:srgbClr val="1A1A1A"/>
                </a:solidFill>
                <a:latin typeface="Arial" pitchFamily="34" charset="0"/>
                <a:ea typeface="Arial" pitchFamily="34" charset="-122"/>
                <a:cs typeface="Arial" pitchFamily="34" charset="-120"/>
              </a:rPr>
              <a:t>Haurrek inoiz entzun ez dituzten esaldiak sortzen dituzte. Gizakiok gaitasun biologiko berezi bat dugu hizkuntzarako.</a:t>
            </a:r>
            <a:endParaRPr lang="en-US" sz="1500" dirty="0"/>
          </a:p>
        </p:txBody>
      </p:sp>
      <p:sp>
        <p:nvSpPr>
          <p:cNvPr id="11" name="Shape 9"/>
          <p:cNvSpPr/>
          <p:nvPr/>
        </p:nvSpPr>
        <p:spPr>
          <a:xfrm>
            <a:off x="457200" y="3383280"/>
            <a:ext cx="8229600" cy="1143000"/>
          </a:xfrm>
          <a:prstGeom prst="roundRect">
            <a:avLst>
              <a:gd name="adj" fmla="val 9600"/>
            </a:avLst>
          </a:prstGeom>
          <a:solidFill>
            <a:srgbClr val="F7F7F5"/>
          </a:solidFill>
          <a:ln w="12700">
            <a:solidFill>
              <a:srgbClr val="F7F7F5"/>
            </a:solidFill>
            <a:prstDash val="solid"/>
          </a:ln>
        </p:spPr>
      </p:sp>
      <p:sp>
        <p:nvSpPr>
          <p:cNvPr id="12" name="Text 10"/>
          <p:cNvSpPr txBox="1"/>
          <p:nvPr/>
        </p:nvSpPr>
        <p:spPr>
          <a:xfrm>
            <a:off x="640080" y="3383280"/>
            <a:ext cx="7863840" cy="1143000"/>
          </a:xfrm>
          <a:prstGeom prst="rect">
            <a:avLst/>
          </a:prstGeom>
          <a:noFill/>
          <a:ln/>
        </p:spPr>
        <p:txBody>
          <a:bodyPr wrap="square" lIns="0" tIns="0" rIns="0" bIns="0" rtlCol="0" anchor="ctr"/>
          <a:lstStyle/>
          <a:p>
            <a:pPr indent="0" marL="0">
              <a:buNone/>
            </a:pPr>
            <a:r>
              <a:rPr lang="en-US" sz="1350" b="1" dirty="0">
                <a:solidFill>
                  <a:srgbClr val="1B3A5C"/>
                </a:solidFill>
                <a:latin typeface="Arial" pitchFamily="34" charset="0"/>
                <a:ea typeface="Arial" pitchFamily="34" charset="-122"/>
                <a:cs typeface="Arial" pitchFamily="34" charset="-120"/>
              </a:rPr>
              <a:t>Nim Chimpsky: </a:t>
            </a:r>
            <a:pPr indent="0" marL="0">
              <a:buNone/>
            </a:pPr>
            <a:r>
              <a:rPr lang="en-US" sz="1350" dirty="0">
                <a:solidFill>
                  <a:srgbClr val="1A1A1A"/>
                </a:solidFill>
                <a:latin typeface="Arial" pitchFamily="34" charset="0"/>
                <a:ea typeface="Arial" pitchFamily="34" charset="-122"/>
                <a:cs typeface="Arial" pitchFamily="34" charset="-120"/>
              </a:rPr>
              <a:t>izena txantxa da. Terracek Chomsky gezurtatu nahi zuen. Nim 1973an jaio zen eta giza familia batean hazi zen New Yorken. 60 bat zaintzaile, sariekin. 1977an, 125 zeinu.</a:t>
            </a:r>
            <a:endParaRPr lang="en-US" sz="13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Datuak: Terrace eta lankideak (1979)</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S4</a:t>
            </a:r>
            <a:endParaRPr lang="en-US" sz="1200" dirty="0"/>
          </a:p>
        </p:txBody>
      </p:sp>
      <p:sp>
        <p:nvSpPr>
          <p:cNvPr id="5" name="Shape 3"/>
          <p:cNvSpPr/>
          <p:nvPr/>
        </p:nvSpPr>
        <p:spPr>
          <a:xfrm>
            <a:off x="457200" y="1097280"/>
            <a:ext cx="2596896" cy="2331720"/>
          </a:xfrm>
          <a:prstGeom prst="roundRect">
            <a:avLst>
              <a:gd name="adj" fmla="val 4706"/>
            </a:avLst>
          </a:prstGeom>
          <a:solidFill>
            <a:srgbClr val="D6E8F7"/>
          </a:solidFill>
          <a:ln w="12700">
            <a:solidFill>
              <a:srgbClr val="D6E8F7"/>
            </a:solidFill>
            <a:prstDash val="solid"/>
          </a:ln>
        </p:spPr>
      </p:sp>
      <p:sp>
        <p:nvSpPr>
          <p:cNvPr id="6" name="Text 4"/>
          <p:cNvSpPr txBox="1"/>
          <p:nvPr/>
        </p:nvSpPr>
        <p:spPr>
          <a:xfrm>
            <a:off x="640080" y="1234440"/>
            <a:ext cx="2286000" cy="731520"/>
          </a:xfrm>
          <a:prstGeom prst="rect">
            <a:avLst/>
          </a:prstGeom>
          <a:noFill/>
          <a:ln/>
        </p:spPr>
        <p:txBody>
          <a:bodyPr wrap="square" lIns="0" tIns="0" rIns="0" bIns="0" rtlCol="0" anchor="t"/>
          <a:lstStyle/>
          <a:p>
            <a:pPr indent="0" marL="0">
              <a:buNone/>
            </a:pPr>
            <a:r>
              <a:rPr lang="en-US" sz="3600" b="1" dirty="0">
                <a:solidFill>
                  <a:srgbClr val="1B3A5C"/>
                </a:solidFill>
                <a:latin typeface="Arial" pitchFamily="34" charset="0"/>
                <a:ea typeface="Arial" pitchFamily="34" charset="-122"/>
                <a:cs typeface="Arial" pitchFamily="34" charset="-120"/>
              </a:rPr>
              <a:t>1,1–1,6</a:t>
            </a:r>
            <a:endParaRPr lang="en-US" sz="3600" dirty="0"/>
          </a:p>
        </p:txBody>
      </p:sp>
      <p:sp>
        <p:nvSpPr>
          <p:cNvPr id="7" name="Text 5"/>
          <p:cNvSpPr txBox="1"/>
          <p:nvPr/>
        </p:nvSpPr>
        <p:spPr>
          <a:xfrm>
            <a:off x="640080" y="2011680"/>
            <a:ext cx="2286000" cy="132588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zeinu esaldiko, batez beste. Ez zen hazi azken 19 hilabeteetan. Haurrengan, hazi egiten da.</a:t>
            </a:r>
            <a:endParaRPr lang="en-US" sz="1250" dirty="0"/>
          </a:p>
        </p:txBody>
      </p:sp>
      <p:sp>
        <p:nvSpPr>
          <p:cNvPr id="8" name="Shape 6"/>
          <p:cNvSpPr/>
          <p:nvPr/>
        </p:nvSpPr>
        <p:spPr>
          <a:xfrm>
            <a:off x="3273552" y="1097280"/>
            <a:ext cx="2596896" cy="2331720"/>
          </a:xfrm>
          <a:prstGeom prst="roundRect">
            <a:avLst>
              <a:gd name="adj" fmla="val 4706"/>
            </a:avLst>
          </a:prstGeom>
          <a:solidFill>
            <a:srgbClr val="D6E8F7"/>
          </a:solidFill>
          <a:ln w="12700">
            <a:solidFill>
              <a:srgbClr val="D6E8F7"/>
            </a:solidFill>
            <a:prstDash val="solid"/>
          </a:ln>
        </p:spPr>
      </p:sp>
      <p:sp>
        <p:nvSpPr>
          <p:cNvPr id="9" name="Text 7"/>
          <p:cNvSpPr txBox="1"/>
          <p:nvPr/>
        </p:nvSpPr>
        <p:spPr>
          <a:xfrm>
            <a:off x="3456432" y="1234440"/>
            <a:ext cx="2286000" cy="731520"/>
          </a:xfrm>
          <a:prstGeom prst="rect">
            <a:avLst/>
          </a:prstGeom>
          <a:noFill/>
          <a:ln/>
        </p:spPr>
        <p:txBody>
          <a:bodyPr wrap="square" lIns="0" tIns="0" rIns="0" bIns="0" rtlCol="0" anchor="t"/>
          <a:lstStyle/>
          <a:p>
            <a:pPr indent="0" marL="0">
              <a:buNone/>
            </a:pPr>
            <a:r>
              <a:rPr lang="en-US" sz="3600" b="1" dirty="0">
                <a:solidFill>
                  <a:srgbClr val="1B3A5C"/>
                </a:solidFill>
                <a:latin typeface="Arial" pitchFamily="34" charset="0"/>
                <a:ea typeface="Arial" pitchFamily="34" charset="-122"/>
                <a:cs typeface="Arial" pitchFamily="34" charset="-120"/>
              </a:rPr>
              <a:t>% 39</a:t>
            </a:r>
            <a:endParaRPr lang="en-US" sz="3600" dirty="0"/>
          </a:p>
        </p:txBody>
      </p:sp>
      <p:sp>
        <p:nvSpPr>
          <p:cNvPr id="10" name="Text 8"/>
          <p:cNvSpPr txBox="1"/>
          <p:nvPr/>
        </p:nvSpPr>
        <p:spPr>
          <a:xfrm>
            <a:off x="3456432" y="2011680"/>
            <a:ext cx="2286000" cy="132588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esaldiak irakaslearenaren imitazio edo laburpen ziren. Haurrengan: % 18 → % 2.</a:t>
            </a:r>
            <a:endParaRPr lang="en-US" sz="1250" dirty="0"/>
          </a:p>
        </p:txBody>
      </p:sp>
      <p:sp>
        <p:nvSpPr>
          <p:cNvPr id="11" name="Shape 9"/>
          <p:cNvSpPr/>
          <p:nvPr/>
        </p:nvSpPr>
        <p:spPr>
          <a:xfrm>
            <a:off x="6089904" y="1097280"/>
            <a:ext cx="2596896" cy="2331720"/>
          </a:xfrm>
          <a:prstGeom prst="roundRect">
            <a:avLst>
              <a:gd name="adj" fmla="val 4706"/>
            </a:avLst>
          </a:prstGeom>
          <a:solidFill>
            <a:srgbClr val="D6E8F7"/>
          </a:solidFill>
          <a:ln w="12700">
            <a:solidFill>
              <a:srgbClr val="D6E8F7"/>
            </a:solidFill>
            <a:prstDash val="solid"/>
          </a:ln>
        </p:spPr>
      </p:sp>
      <p:sp>
        <p:nvSpPr>
          <p:cNvPr id="12" name="Text 10"/>
          <p:cNvSpPr txBox="1"/>
          <p:nvPr/>
        </p:nvSpPr>
        <p:spPr>
          <a:xfrm>
            <a:off x="6272784" y="1234440"/>
            <a:ext cx="2286000" cy="731520"/>
          </a:xfrm>
          <a:prstGeom prst="rect">
            <a:avLst/>
          </a:prstGeom>
          <a:noFill/>
          <a:ln/>
        </p:spPr>
        <p:txBody>
          <a:bodyPr wrap="square" lIns="0" tIns="0" rIns="0" bIns="0" rtlCol="0" anchor="t"/>
          <a:lstStyle/>
          <a:p>
            <a:pPr indent="0" marL="0">
              <a:buNone/>
            </a:pPr>
            <a:r>
              <a:rPr lang="en-US" sz="3600" b="1" dirty="0">
                <a:solidFill>
                  <a:srgbClr val="1B3A5C"/>
                </a:solidFill>
                <a:latin typeface="Arial" pitchFamily="34" charset="0"/>
                <a:ea typeface="Arial" pitchFamily="34" charset="-122"/>
                <a:cs typeface="Arial" pitchFamily="34" charset="-120"/>
              </a:rPr>
              <a:t>% 71</a:t>
            </a:r>
            <a:endParaRPr lang="en-US" sz="3600" dirty="0"/>
          </a:p>
        </p:txBody>
      </p:sp>
      <p:sp>
        <p:nvSpPr>
          <p:cNvPr id="13" name="Text 11"/>
          <p:cNvSpPr txBox="1"/>
          <p:nvPr/>
        </p:nvSpPr>
        <p:spPr>
          <a:xfrm>
            <a:off x="6272784" y="2011680"/>
            <a:ext cx="2286000" cy="132588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kasutan, irakaslearekin batera egiten zituen zeinuak. Haurrengan, ia inoiz ez.</a:t>
            </a:r>
            <a:endParaRPr lang="en-US" sz="1250" dirty="0"/>
          </a:p>
        </p:txBody>
      </p:sp>
      <p:sp>
        <p:nvSpPr>
          <p:cNvPr id="14" name="Shape 12"/>
          <p:cNvSpPr/>
          <p:nvPr/>
        </p:nvSpPr>
        <p:spPr>
          <a:xfrm>
            <a:off x="457200" y="3611880"/>
            <a:ext cx="8229600" cy="914400"/>
          </a:xfrm>
          <a:prstGeom prst="roundRect">
            <a:avLst>
              <a:gd name="adj" fmla="val 12000"/>
            </a:avLst>
          </a:prstGeom>
          <a:solidFill>
            <a:srgbClr val="F7F7F5"/>
          </a:solidFill>
          <a:ln w="12700">
            <a:solidFill>
              <a:srgbClr val="F7F7F5"/>
            </a:solidFill>
            <a:prstDash val="solid"/>
          </a:ln>
        </p:spPr>
      </p:sp>
      <p:sp>
        <p:nvSpPr>
          <p:cNvPr id="15" name="Text 13"/>
          <p:cNvSpPr txBox="1"/>
          <p:nvPr/>
        </p:nvSpPr>
        <p:spPr>
          <a:xfrm>
            <a:off x="640080" y="3611880"/>
            <a:ext cx="7863840" cy="914400"/>
          </a:xfrm>
          <a:prstGeom prst="rect">
            <a:avLst/>
          </a:prstGeom>
          <a:noFill/>
          <a:ln/>
        </p:spPr>
        <p:txBody>
          <a:bodyPr wrap="square" lIns="0" tIns="0" rIns="0" bIns="0" rtlCol="0" anchor="ctr"/>
          <a:lstStyle/>
          <a:p>
            <a:pPr indent="0" marL="0">
              <a:buNone/>
            </a:pPr>
            <a:r>
              <a:rPr lang="en-US" sz="1250" b="1" dirty="0">
                <a:solidFill>
                  <a:srgbClr val="1B3A5C"/>
                </a:solidFill>
                <a:latin typeface="Arial" pitchFamily="34" charset="0"/>
                <a:ea typeface="Arial" pitchFamily="34" charset="-122"/>
                <a:cs typeface="Arial" pitchFamily="34" charset="-120"/>
              </a:rPr>
              <a:t>Terrace: </a:t>
            </a:r>
            <a:pPr indent="0" marL="0">
              <a:buNone/>
            </a:pPr>
            <a:r>
              <a:rPr lang="en-US" sz="1250" dirty="0">
                <a:solidFill>
                  <a:srgbClr val="1A1A1A"/>
                </a:solidFill>
                <a:latin typeface="Arial" pitchFamily="34" charset="0"/>
                <a:ea typeface="Arial" pitchFamily="34" charset="-122"/>
                <a:cs typeface="Arial" pitchFamily="34" charset="-120"/>
              </a:rPr>
              <a:t>«Ez dago arrazoirik tximino baten zeinu-segida esaldi gisa hartzeko». </a:t>
            </a:r>
            <a:pPr indent="0" marL="0">
              <a:buNone/>
            </a:pPr>
            <a:r>
              <a:rPr lang="en-US" sz="1250" b="1" dirty="0">
                <a:solidFill>
                  <a:srgbClr val="5C1A5C"/>
                </a:solidFill>
                <a:latin typeface="Arial" pitchFamily="34" charset="0"/>
                <a:ea typeface="Arial" pitchFamily="34" charset="-122"/>
                <a:cs typeface="Arial" pitchFamily="34" charset="-120"/>
              </a:rPr>
              <a:t>Kontrako irakurketa: </a:t>
            </a:r>
            <a:pPr indent="0" marL="0">
              <a:buNone/>
            </a:pPr>
            <a:r>
              <a:rPr lang="en-US" sz="1250" dirty="0">
                <a:solidFill>
                  <a:srgbClr val="1A1A1A"/>
                </a:solidFill>
                <a:latin typeface="Arial" pitchFamily="34" charset="0"/>
                <a:ea typeface="Arial" pitchFamily="34" charset="-122"/>
                <a:cs typeface="Arial" pitchFamily="34" charset="-120"/>
              </a:rPr>
              <a:t>baldintza kaotikoak izan ziren (zaintzaile asko, zeinu-hizkuntza gutxi).</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César ala Nim? Eta etika</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S4</a:t>
            </a:r>
            <a:endParaRPr lang="en-US" sz="1200" dirty="0"/>
          </a:p>
        </p:txBody>
      </p:sp>
      <p:sp>
        <p:nvSpPr>
          <p:cNvPr id="5" name="Shape 3"/>
          <p:cNvSpPr/>
          <p:nvPr/>
        </p:nvSpPr>
        <p:spPr>
          <a:xfrm>
            <a:off x="457200" y="1097280"/>
            <a:ext cx="4023360" cy="1600200"/>
          </a:xfrm>
          <a:prstGeom prst="roundRect">
            <a:avLst>
              <a:gd name="adj" fmla="val 6857"/>
            </a:avLst>
          </a:prstGeom>
          <a:solidFill>
            <a:srgbClr val="EDD4ED"/>
          </a:solidFill>
          <a:ln w="12700">
            <a:solidFill>
              <a:srgbClr val="EDD4ED"/>
            </a:solidFill>
            <a:prstDash val="solid"/>
          </a:ln>
        </p:spPr>
      </p:sp>
      <p:sp>
        <p:nvSpPr>
          <p:cNvPr id="6" name="Shape 4"/>
          <p:cNvSpPr/>
          <p:nvPr/>
        </p:nvSpPr>
        <p:spPr>
          <a:xfrm>
            <a:off x="640080" y="1234440"/>
            <a:ext cx="502920" cy="50292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70839" y="1365199"/>
            <a:ext cx="241402" cy="241402"/>
          </a:xfrm>
          <a:prstGeom prst="rect">
            <a:avLst/>
          </a:prstGeom>
        </p:spPr>
      </p:pic>
      <p:sp>
        <p:nvSpPr>
          <p:cNvPr id="8" name="Text 5"/>
          <p:cNvSpPr txBox="1"/>
          <p:nvPr/>
        </p:nvSpPr>
        <p:spPr>
          <a:xfrm>
            <a:off x="1280160" y="1234440"/>
            <a:ext cx="3108960" cy="502920"/>
          </a:xfrm>
          <a:prstGeom prst="rect">
            <a:avLst/>
          </a:prstGeom>
          <a:noFill/>
          <a:ln/>
        </p:spPr>
        <p:txBody>
          <a:bodyPr wrap="square" lIns="0" tIns="0" rIns="0" bIns="0" rtlCol="0" anchor="ctr"/>
          <a:lstStyle/>
          <a:p>
            <a:pPr indent="0" marL="0">
              <a:buNone/>
            </a:pPr>
            <a:r>
              <a:rPr lang="en-US" sz="1500" b="1" dirty="0">
                <a:solidFill>
                  <a:srgbClr val="5C1A5C"/>
                </a:solidFill>
                <a:latin typeface="Arial" pitchFamily="34" charset="0"/>
                <a:ea typeface="Arial" pitchFamily="34" charset="-122"/>
                <a:cs typeface="Arial" pitchFamily="34" charset="-120"/>
              </a:rPr>
              <a:t>Filmak erakusten duena</a:t>
            </a:r>
            <a:endParaRPr lang="en-US" sz="1500" dirty="0"/>
          </a:p>
        </p:txBody>
      </p:sp>
      <p:sp>
        <p:nvSpPr>
          <p:cNvPr id="9" name="Text 6"/>
          <p:cNvSpPr txBox="1"/>
          <p:nvPr/>
        </p:nvSpPr>
        <p:spPr>
          <a:xfrm>
            <a:off x="640080" y="1828800"/>
            <a:ext cx="3657600" cy="82296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El origen del planeta de los simios (2011): César giza familia batean hazten da eta hitz egitera iristen da.</a:t>
            </a:r>
            <a:endParaRPr lang="en-US" sz="1200" dirty="0"/>
          </a:p>
        </p:txBody>
      </p:sp>
      <p:sp>
        <p:nvSpPr>
          <p:cNvPr id="10" name="Shape 7"/>
          <p:cNvSpPr/>
          <p:nvPr/>
        </p:nvSpPr>
        <p:spPr>
          <a:xfrm>
            <a:off x="4663440" y="1097280"/>
            <a:ext cx="4023360" cy="1600200"/>
          </a:xfrm>
          <a:prstGeom prst="roundRect">
            <a:avLst>
              <a:gd name="adj" fmla="val 6857"/>
            </a:avLst>
          </a:prstGeom>
          <a:solidFill>
            <a:srgbClr val="D6E8F7"/>
          </a:solidFill>
          <a:ln w="12700">
            <a:solidFill>
              <a:srgbClr val="D6E8F7"/>
            </a:solidFill>
            <a:prstDash val="solid"/>
          </a:ln>
        </p:spPr>
      </p:sp>
      <p:sp>
        <p:nvSpPr>
          <p:cNvPr id="11" name="Shape 8"/>
          <p:cNvSpPr/>
          <p:nvPr/>
        </p:nvSpPr>
        <p:spPr>
          <a:xfrm>
            <a:off x="4846320" y="1234440"/>
            <a:ext cx="502920" cy="50292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4977079" y="1365199"/>
            <a:ext cx="241402" cy="241402"/>
          </a:xfrm>
          <a:prstGeom prst="rect">
            <a:avLst/>
          </a:prstGeom>
        </p:spPr>
      </p:pic>
      <p:sp>
        <p:nvSpPr>
          <p:cNvPr id="13" name="Text 9"/>
          <p:cNvSpPr txBox="1"/>
          <p:nvPr/>
        </p:nvSpPr>
        <p:spPr>
          <a:xfrm>
            <a:off x="5486400" y="1234440"/>
            <a:ext cx="3108960" cy="502920"/>
          </a:xfrm>
          <a:prstGeom prst="rect">
            <a:avLst/>
          </a:prstGeom>
          <a:noFill/>
          <a:ln/>
        </p:spPr>
        <p:txBody>
          <a:bodyPr wrap="square" lIns="0" tIns="0" rIns="0" bIns="0" rtlCol="0" anchor="ctr"/>
          <a:lstStyle/>
          <a:p>
            <a:pPr indent="0" marL="0">
              <a:buNone/>
            </a:pPr>
            <a:r>
              <a:rPr lang="en-US" sz="1500" b="1" dirty="0">
                <a:solidFill>
                  <a:srgbClr val="1B3A5C"/>
                </a:solidFill>
                <a:latin typeface="Arial" pitchFamily="34" charset="0"/>
                <a:ea typeface="Arial" pitchFamily="34" charset="-122"/>
                <a:cs typeface="Arial" pitchFamily="34" charset="-120"/>
              </a:rPr>
              <a:t>Nimen datuek diotena</a:t>
            </a:r>
            <a:endParaRPr lang="en-US" sz="1500" dirty="0"/>
          </a:p>
        </p:txBody>
      </p:sp>
      <p:sp>
        <p:nvSpPr>
          <p:cNvPr id="14" name="Text 10"/>
          <p:cNvSpPr txBox="1"/>
          <p:nvPr/>
        </p:nvSpPr>
        <p:spPr>
          <a:xfrm>
            <a:off x="4846320" y="1828800"/>
            <a:ext cx="3657600" cy="82296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Zer suposatzen du filmak adimenaz eta hizkuntzaz? Datuekin bat dator?</a:t>
            </a:r>
            <a:endParaRPr lang="en-US" sz="1200" dirty="0"/>
          </a:p>
        </p:txBody>
      </p:sp>
      <p:sp>
        <p:nvSpPr>
          <p:cNvPr id="15" name="Shape 11"/>
          <p:cNvSpPr/>
          <p:nvPr/>
        </p:nvSpPr>
        <p:spPr>
          <a:xfrm>
            <a:off x="457200" y="2834640"/>
            <a:ext cx="8229600" cy="548640"/>
          </a:xfrm>
          <a:prstGeom prst="roundRect">
            <a:avLst>
              <a:gd name="adj" fmla="val 20000"/>
            </a:avLst>
          </a:prstGeom>
          <a:solidFill>
            <a:srgbClr val="D4EDE1"/>
          </a:solidFill>
          <a:ln w="12700">
            <a:solidFill>
              <a:srgbClr val="D4EDE1"/>
            </a:solidFill>
            <a:prstDash val="solid"/>
          </a:ln>
        </p:spPr>
      </p:sp>
      <p:sp>
        <p:nvSpPr>
          <p:cNvPr id="16" name="Shape 12"/>
          <p:cNvSpPr/>
          <p:nvPr/>
        </p:nvSpPr>
        <p:spPr>
          <a:xfrm>
            <a:off x="594360" y="2944368"/>
            <a:ext cx="329184" cy="329184"/>
          </a:xfrm>
          <a:prstGeom prst="ellipse">
            <a:avLst/>
          </a:prstGeom>
          <a:solidFill>
            <a:srgbClr val="1B3A5C"/>
          </a:solidFill>
          <a:ln w="12700">
            <a:solidFill>
              <a:srgbClr val="1B3A5C"/>
            </a:solidFill>
            <a:prstDash val="solid"/>
          </a:ln>
        </p:spPr>
      </p:sp>
      <p:sp>
        <p:nvSpPr>
          <p:cNvPr id="17" name="Text 13"/>
          <p:cNvSpPr txBox="1"/>
          <p:nvPr/>
        </p:nvSpPr>
        <p:spPr>
          <a:xfrm>
            <a:off x="594360" y="29443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8" name="Text 14"/>
          <p:cNvSpPr txBox="1"/>
          <p:nvPr/>
        </p:nvSpPr>
        <p:spPr>
          <a:xfrm>
            <a:off x="1051560" y="2889504"/>
            <a:ext cx="6400800" cy="438912"/>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Bete 2. ebidentzia-orria</a:t>
            </a:r>
            <a:endParaRPr lang="en-US" sz="1250" dirty="0"/>
          </a:p>
        </p:txBody>
      </p:sp>
      <p:sp>
        <p:nvSpPr>
          <p:cNvPr id="19" name="Text 15"/>
          <p:cNvSpPr txBox="1"/>
          <p:nvPr/>
        </p:nvSpPr>
        <p:spPr>
          <a:xfrm>
            <a:off x="7543800" y="2889504"/>
            <a:ext cx="1005840" cy="438912"/>
          </a:xfrm>
          <a:prstGeom prst="rect">
            <a:avLst/>
          </a:prstGeom>
          <a:noFill/>
          <a:ln/>
        </p:spPr>
        <p:txBody>
          <a:bodyPr wrap="square" lIns="0" tIns="0" rIns="0" bIns="0" rtlCol="0" anchor="ctr"/>
          <a:lstStyle/>
          <a:p>
            <a:pPr algn="r" indent="0" marL="0">
              <a:buNone/>
            </a:pPr>
            <a:r>
              <a:rPr lang="en-US" sz="900" b="1" dirty="0">
                <a:solidFill>
                  <a:srgbClr val="1A5C3A"/>
                </a:solidFill>
                <a:latin typeface="Arial" pitchFamily="34" charset="0"/>
                <a:ea typeface="Arial" pitchFamily="34" charset="-122"/>
                <a:cs typeface="Arial" pitchFamily="34" charset="-120"/>
              </a:rPr>
              <a:t>BAKARKA</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12 min</a:t>
            </a:r>
            <a:endParaRPr lang="en-US" sz="900" dirty="0"/>
          </a:p>
        </p:txBody>
      </p:sp>
      <p:sp>
        <p:nvSpPr>
          <p:cNvPr id="20" name="Shape 16"/>
          <p:cNvSpPr/>
          <p:nvPr/>
        </p:nvSpPr>
        <p:spPr>
          <a:xfrm>
            <a:off x="457200" y="3493008"/>
            <a:ext cx="8229600" cy="548640"/>
          </a:xfrm>
          <a:prstGeom prst="roundRect">
            <a:avLst>
              <a:gd name="adj" fmla="val 20000"/>
            </a:avLst>
          </a:prstGeom>
          <a:solidFill>
            <a:srgbClr val="D4EDE1"/>
          </a:solidFill>
          <a:ln w="12700">
            <a:solidFill>
              <a:srgbClr val="D4EDE1"/>
            </a:solidFill>
            <a:prstDash val="solid"/>
          </a:ln>
        </p:spPr>
      </p:sp>
      <p:sp>
        <p:nvSpPr>
          <p:cNvPr id="21" name="Shape 17"/>
          <p:cNvSpPr/>
          <p:nvPr/>
        </p:nvSpPr>
        <p:spPr>
          <a:xfrm>
            <a:off x="594360" y="3602736"/>
            <a:ext cx="329184" cy="329184"/>
          </a:xfrm>
          <a:prstGeom prst="ellipse">
            <a:avLst/>
          </a:prstGeom>
          <a:solidFill>
            <a:srgbClr val="1B3A5C"/>
          </a:solidFill>
          <a:ln w="12700">
            <a:solidFill>
              <a:srgbClr val="1B3A5C"/>
            </a:solidFill>
            <a:prstDash val="solid"/>
          </a:ln>
        </p:spPr>
      </p:sp>
      <p:sp>
        <p:nvSpPr>
          <p:cNvPr id="22" name="Text 18"/>
          <p:cNvSpPr txBox="1"/>
          <p:nvPr/>
        </p:nvSpPr>
        <p:spPr>
          <a:xfrm>
            <a:off x="594360" y="36027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3" name="Text 19"/>
          <p:cNvSpPr txBox="1"/>
          <p:nvPr/>
        </p:nvSpPr>
        <p:spPr>
          <a:xfrm>
            <a:off x="1051560" y="3547872"/>
            <a:ext cx="6400800" cy="438912"/>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Etika, hiru lerrotan: 1977an Oklahomara, gero laborategi biomediko batera, 2000n hil zen. Justifikatzen al zuen galderak?</a:t>
            </a:r>
            <a:endParaRPr lang="en-US" sz="1250" dirty="0"/>
          </a:p>
        </p:txBody>
      </p:sp>
      <p:sp>
        <p:nvSpPr>
          <p:cNvPr id="24" name="Text 20"/>
          <p:cNvSpPr txBox="1"/>
          <p:nvPr/>
        </p:nvSpPr>
        <p:spPr>
          <a:xfrm>
            <a:off x="7543800" y="3547872"/>
            <a:ext cx="1005840" cy="438912"/>
          </a:xfrm>
          <a:prstGeom prst="rect">
            <a:avLst/>
          </a:prstGeom>
          <a:noFill/>
          <a:ln/>
        </p:spPr>
        <p:txBody>
          <a:bodyPr wrap="square" lIns="0" tIns="0" rIns="0" bIns="0" rtlCol="0" anchor="ctr"/>
          <a:lstStyle/>
          <a:p>
            <a:pPr algn="r" indent="0" marL="0">
              <a:buNone/>
            </a:pPr>
            <a:r>
              <a:rPr lang="en-US" sz="900" b="1" dirty="0">
                <a:solidFill>
                  <a:srgbClr val="1A5C3A"/>
                </a:solidFill>
                <a:latin typeface="Arial" pitchFamily="34" charset="0"/>
                <a:ea typeface="Arial" pitchFamily="34" charset="-122"/>
                <a:cs typeface="Arial" pitchFamily="34" charset="-120"/>
              </a:rPr>
              <a:t>BAKARKA</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5 min</a:t>
            </a:r>
            <a:endParaRPr lang="en-US" sz="900" dirty="0"/>
          </a:p>
        </p:txBody>
      </p:sp>
      <p:sp>
        <p:nvSpPr>
          <p:cNvPr id="25" name="Text 21"/>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250" b="1" dirty="0">
                <a:solidFill>
                  <a:srgbClr val="1B3A5C"/>
                </a:solidFill>
                <a:latin typeface="Arial" pitchFamily="34" charset="0"/>
                <a:ea typeface="Arial" pitchFamily="34" charset="-122"/>
                <a:cs typeface="Arial" pitchFamily="34" charset="-120"/>
              </a:rPr>
              <a:t>Irteera-txartela: Nimek zeinuak ikasi zituen. Hizkuntza ikasi zuen? Erantzun datu batekin.</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F5FC"/>
        </a:solidFill>
      </p:bgPr>
    </p:bg>
    <p:spTree>
      <p:nvGrpSpPr>
        <p:cNvPr id="1" name=""/>
        <p:cNvGrpSpPr/>
        <p:nvPr/>
      </p:nvGrpSpPr>
      <p:grpSpPr>
        <a:xfrm>
          <a:off x="0" y="0"/>
          <a:ext cx="0" cy="0"/>
          <a:chOff x="0" y="0"/>
          <a:chExt cx="0" cy="0"/>
        </a:xfrm>
      </p:grpSpPr>
      <p:sp>
        <p:nvSpPr>
          <p:cNvPr id="2" name="Shape 0"/>
          <p:cNvSpPr/>
          <p:nvPr/>
        </p:nvSpPr>
        <p:spPr>
          <a:xfrm>
            <a:off x="548640" y="548640"/>
            <a:ext cx="822960" cy="457200"/>
          </a:xfrm>
          <a:prstGeom prst="roundRect">
            <a:avLst>
              <a:gd name="adj" fmla="val 20000"/>
            </a:avLst>
          </a:prstGeom>
          <a:solidFill>
            <a:srgbClr val="1B3A5C"/>
          </a:solidFill>
          <a:ln w="12700">
            <a:solidFill>
              <a:srgbClr val="1B3A5C"/>
            </a:solidFill>
            <a:prstDash val="solid"/>
          </a:ln>
        </p:spPr>
      </p:sp>
      <p:sp>
        <p:nvSpPr>
          <p:cNvPr id="3" name="Text 1"/>
          <p:cNvSpPr txBox="1"/>
          <p:nvPr/>
        </p:nvSpPr>
        <p:spPr>
          <a:xfrm>
            <a:off x="548640" y="548640"/>
            <a:ext cx="822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S5</a:t>
            </a:r>
            <a:endParaRPr lang="en-US" sz="1800" dirty="0"/>
          </a:p>
        </p:txBody>
      </p:sp>
      <p:sp>
        <p:nvSpPr>
          <p:cNvPr id="4" name="Text 2"/>
          <p:cNvSpPr txBox="1"/>
          <p:nvPr/>
        </p:nvSpPr>
        <p:spPr>
          <a:xfrm>
            <a:off x="1554480" y="548640"/>
            <a:ext cx="5029200" cy="457200"/>
          </a:xfrm>
          <a:prstGeom prst="rect">
            <a:avLst/>
          </a:prstGeom>
          <a:noFill/>
          <a:ln/>
        </p:spPr>
        <p:txBody>
          <a:bodyPr wrap="square" lIns="0" tIns="0" rIns="0" bIns="0" rtlCol="0" anchor="ctr"/>
          <a:lstStyle/>
          <a:p>
            <a:pPr indent="0" marL="0">
              <a:buNone/>
            </a:pPr>
            <a:r>
              <a:rPr lang="en-US" sz="1300" b="1" dirty="0">
                <a:solidFill>
                  <a:srgbClr val="1B3A5C"/>
                </a:solidFill>
                <a:latin typeface="Arial" pitchFamily="34" charset="0"/>
                <a:ea typeface="Arial" pitchFamily="34" charset="-122"/>
                <a:cs typeface="Arial" pitchFamily="34" charset="-120"/>
              </a:rPr>
              <a:t>3. kasua · Kondizionamendu klasikoa · 50 min</a:t>
            </a:r>
            <a:endParaRPr lang="en-US" sz="1300" dirty="0"/>
          </a:p>
        </p:txBody>
      </p:sp>
      <p:sp>
        <p:nvSpPr>
          <p:cNvPr id="5" name="Text 0"/>
          <p:cNvSpPr/>
          <p:nvPr>
            <p:ph idx="100" type="title" hasCustomPrompt="1"/>
          </p:nvPr>
        </p:nvSpPr>
        <p:spPr>
          <a:xfrm>
            <a:off x="548640" y="1234440"/>
            <a:ext cx="6035040" cy="914400"/>
          </a:xfrm>
          <a:prstGeom prst="rect">
            <a:avLst/>
          </a:prstGeom>
          <a:noFill/>
          <a:ln/>
        </p:spPr>
        <p:txBody>
          <a:bodyPr wrap="square" lIns="0" tIns="0" rIns="0" bIns="0" rtlCol="0" anchor="t"/>
          <a:lstStyle/>
          <a:p>
            <a:pPr algn="l" indent="0" marL="0">
              <a:buNone/>
            </a:pPr>
            <a:r>
              <a:rPr lang="en-US" sz="3600" b="1" dirty="0">
                <a:solidFill>
                  <a:srgbClr val="1B3A5C"/>
                </a:solidFill>
              </a:rPr>
              <a:t>Tximinoak eta sugeak</a:t>
            </a:r>
            <a:endParaRPr lang="en-US" sz="3600" dirty="0"/>
          </a:p>
        </p:txBody>
      </p:sp>
      <p:sp>
        <p:nvSpPr>
          <p:cNvPr id="6" name="Text 0"/>
          <p:cNvSpPr/>
          <p:nvPr>
            <p:ph idx="101" type="body" hasCustomPrompt="1"/>
          </p:nvPr>
        </p:nvSpPr>
        <p:spPr>
          <a:xfrm>
            <a:off x="548640" y="2514600"/>
            <a:ext cx="6035040" cy="1463040"/>
          </a:xfrm>
          <a:prstGeom prst="rect">
            <a:avLst/>
          </a:prstGeom>
          <a:noFill/>
          <a:ln/>
        </p:spPr>
        <p:txBody>
          <a:bodyPr wrap="square" lIns="0" tIns="0" rIns="0" bIns="0" rtlCol="0" anchor="t"/>
          <a:lstStyle/>
          <a:p>
            <a:pPr algn="l" indent="0" marL="0">
              <a:buNone/>
            </a:pPr>
            <a:r>
              <a:rPr lang="en-US" sz="2200" b="1" dirty="0">
                <a:solidFill>
                  <a:srgbClr val="1B3A5C"/>
                </a:solidFill>
              </a:rPr>
              <a:t>Beldurrak eta nazkak ikasi egiten al dira? Eta edozeri ikas al diezaiokegu beldurra?</a:t>
            </a:r>
            <a:endParaRPr lang="en-US" sz="2200" dirty="0"/>
          </a:p>
        </p:txBody>
      </p:sp>
      <p:sp>
        <p:nvSpPr>
          <p:cNvPr id="7" name="Shape 5"/>
          <p:cNvSpPr/>
          <p:nvPr/>
        </p:nvSpPr>
        <p:spPr>
          <a:xfrm>
            <a:off x="6720840" y="1325880"/>
            <a:ext cx="2011680" cy="20116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223760" y="1828800"/>
            <a:ext cx="1005840" cy="1005840"/>
          </a:xfrm>
          <a:prstGeom prst="rect">
            <a:avLst/>
          </a:prstGeom>
        </p:spPr>
      </p:pic>
      <p:sp>
        <p:nvSpPr>
          <p:cNvPr id="9" name="Text 6"/>
          <p:cNvSpPr txBox="1"/>
          <p:nvPr/>
        </p:nvSpPr>
        <p:spPr>
          <a:xfrm>
            <a:off x="548640" y="2240280"/>
            <a:ext cx="3657600" cy="274320"/>
          </a:xfrm>
          <a:prstGeom prst="rect">
            <a:avLst/>
          </a:prstGeom>
          <a:noFill/>
          <a:ln/>
        </p:spPr>
        <p:txBody>
          <a:bodyPr wrap="square" lIns="0" tIns="0" rIns="0" bIns="0" rtlCol="0" anchor="t"/>
          <a:lstStyle/>
          <a:p>
            <a:pPr indent="0" marL="0">
              <a:buNone/>
            </a:pPr>
            <a:r>
              <a:rPr lang="en-US" sz="1000" b="1" spc="200" kern="0" dirty="0">
                <a:solidFill>
                  <a:srgbClr val="5B6573"/>
                </a:solidFill>
                <a:latin typeface="Arial" pitchFamily="34" charset="0"/>
                <a:ea typeface="Arial" pitchFamily="34" charset="-122"/>
                <a:cs typeface="Arial" pitchFamily="34" charset="-120"/>
              </a:rPr>
              <a:t>GALDERA GIDARIA</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Janari bat ezin duzuna jan</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S5</a:t>
            </a:r>
            <a:endParaRPr lang="en-US" sz="1200" dirty="0"/>
          </a:p>
        </p:txBody>
      </p:sp>
      <p:sp>
        <p:nvSpPr>
          <p:cNvPr id="5" name="Shape 3"/>
          <p:cNvSpPr/>
          <p:nvPr/>
        </p:nvSpPr>
        <p:spPr>
          <a:xfrm>
            <a:off x="457200" y="1143000"/>
            <a:ext cx="8229600" cy="2194560"/>
          </a:xfrm>
          <a:prstGeom prst="roundRect">
            <a:avLst>
              <a:gd name="adj" fmla="val 5000"/>
            </a:avLst>
          </a:prstGeom>
          <a:solidFill>
            <a:srgbClr val="D4EDE1"/>
          </a:solidFill>
          <a:ln w="12700">
            <a:solidFill>
              <a:srgbClr val="D4EDE1"/>
            </a:solidFill>
            <a:prstDash val="solid"/>
          </a:ln>
        </p:spPr>
      </p:sp>
      <p:sp>
        <p:nvSpPr>
          <p:cNvPr id="6" name="Shape 4"/>
          <p:cNvSpPr/>
          <p:nvPr/>
        </p:nvSpPr>
        <p:spPr>
          <a:xfrm>
            <a:off x="685800" y="1371600"/>
            <a:ext cx="685800" cy="68580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864108" y="1549908"/>
            <a:ext cx="329184" cy="329184"/>
          </a:xfrm>
          <a:prstGeom prst="rect">
            <a:avLst/>
          </a:prstGeom>
        </p:spPr>
      </p:pic>
      <p:sp>
        <p:nvSpPr>
          <p:cNvPr id="8" name="Text 5"/>
          <p:cNvSpPr txBox="1"/>
          <p:nvPr/>
        </p:nvSpPr>
        <p:spPr>
          <a:xfrm>
            <a:off x="1600200" y="1325880"/>
            <a:ext cx="6858000" cy="1463040"/>
          </a:xfrm>
          <a:prstGeom prst="rect">
            <a:avLst/>
          </a:prstGeom>
          <a:noFill/>
          <a:ln/>
        </p:spPr>
        <p:txBody>
          <a:bodyPr wrap="square" lIns="0" tIns="0" rIns="0" bIns="0" rtlCol="0" anchor="t"/>
          <a:lstStyle/>
          <a:p>
            <a:pPr indent="0" marL="0">
              <a:buNone/>
            </a:pPr>
            <a:r>
              <a:rPr lang="en-US" sz="1500" dirty="0">
                <a:solidFill>
                  <a:srgbClr val="1A1A1A"/>
                </a:solidFill>
                <a:latin typeface="Arial" pitchFamily="34" charset="0"/>
                <a:ea typeface="Arial" pitchFamily="34" charset="-122"/>
                <a:cs typeface="Arial" pitchFamily="34" charset="-120"/>
              </a:rPr>
              <a:t>Pentsatu janari batean: jan ondoren gaixo egon zinen, eta geroztik ezin duzu jan, nahiz eta agian janariak ez zuen errurik izan. Idatzi zure koadernoan zer janari zen eta zer sentitzen duzun orain hura usaintzean.</a:t>
            </a:r>
            <a:endParaRPr lang="en-US" sz="1500" dirty="0"/>
          </a:p>
        </p:txBody>
      </p:sp>
      <p:sp>
        <p:nvSpPr>
          <p:cNvPr id="9" name="Text 6"/>
          <p:cNvSpPr txBox="1"/>
          <p:nvPr/>
        </p:nvSpPr>
        <p:spPr>
          <a:xfrm>
            <a:off x="1600200" y="2834640"/>
            <a:ext cx="4572000" cy="320040"/>
          </a:xfrm>
          <a:prstGeom prst="rect">
            <a:avLst/>
          </a:prstGeom>
          <a:noFill/>
          <a:ln/>
        </p:spPr>
        <p:txBody>
          <a:bodyPr wrap="square" lIns="0" tIns="0" rIns="0" bIns="0" rtlCol="0" anchor="t"/>
          <a:lstStyle/>
          <a:p>
            <a:pPr indent="0" marL="0">
              <a:buNone/>
            </a:pPr>
            <a:r>
              <a:rPr lang="en-US" sz="1100" b="1" spc="200" kern="0" dirty="0">
                <a:solidFill>
                  <a:srgbClr val="1A5C3A"/>
                </a:solidFill>
                <a:latin typeface="Arial" pitchFamily="34" charset="0"/>
                <a:ea typeface="Arial" pitchFamily="34" charset="-122"/>
                <a:cs typeface="Arial" pitchFamily="34" charset="-120"/>
              </a:rPr>
              <a:t>EZ DA PARTEKATU BEHAR</a:t>
            </a:r>
            <a:endParaRPr lang="en-US" sz="1100" dirty="0"/>
          </a:p>
        </p:txBody>
      </p:sp>
      <p:sp>
        <p:nvSpPr>
          <p:cNvPr id="10" name="Text 7"/>
          <p:cNvSpPr txBox="1"/>
          <p:nvPr/>
        </p:nvSpPr>
        <p:spPr>
          <a:xfrm>
            <a:off x="457200" y="3611880"/>
            <a:ext cx="8229600" cy="457200"/>
          </a:xfrm>
          <a:prstGeom prst="rect">
            <a:avLst/>
          </a:prstGeom>
          <a:noFill/>
          <a:ln/>
        </p:spPr>
        <p:txBody>
          <a:bodyPr wrap="square" lIns="0" tIns="0" rIns="0" bIns="0" rtlCol="0" anchor="t"/>
          <a:lstStyle/>
          <a:p>
            <a:pPr indent="0" marL="0">
              <a:buNone/>
            </a:pPr>
            <a:r>
              <a:rPr lang="en-US" sz="1300" i="1" dirty="0">
                <a:solidFill>
                  <a:srgbClr val="5B6573"/>
                </a:solidFill>
                <a:latin typeface="Arial" pitchFamily="34" charset="0"/>
                <a:ea typeface="Arial" pitchFamily="34" charset="-122"/>
                <a:cs typeface="Arial" pitchFamily="34" charset="-120"/>
              </a:rPr>
              <a:t>Gaur ikaskuntza-mekanismoa aztertuko dugu. Fobiak eta haien tratamendua 12. gaian landuko dira.</a:t>
            </a:r>
            <a:endParaRPr lang="en-US" sz="13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Pavlov: bi estimulu lotzea</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S5</a:t>
            </a:r>
            <a:endParaRPr lang="en-US" sz="1200" dirty="0"/>
          </a:p>
        </p:txBody>
      </p:sp>
      <p:sp>
        <p:nvSpPr>
          <p:cNvPr id="5" name="Shape 3"/>
          <p:cNvSpPr/>
          <p:nvPr/>
        </p:nvSpPr>
        <p:spPr>
          <a:xfrm>
            <a:off x="457200" y="1143000"/>
            <a:ext cx="2596896" cy="1600200"/>
          </a:xfrm>
          <a:prstGeom prst="roundRect">
            <a:avLst>
              <a:gd name="adj" fmla="val 6857"/>
            </a:avLst>
          </a:prstGeom>
          <a:solidFill>
            <a:srgbClr val="F7F7F5"/>
          </a:solidFill>
          <a:ln w="12700">
            <a:solidFill>
              <a:srgbClr val="F7F7F5"/>
            </a:solidFill>
            <a:prstDash val="solid"/>
          </a:ln>
        </p:spPr>
      </p:sp>
      <p:sp>
        <p:nvSpPr>
          <p:cNvPr id="6" name="Text 4"/>
          <p:cNvSpPr txBox="1"/>
          <p:nvPr/>
        </p:nvSpPr>
        <p:spPr>
          <a:xfrm>
            <a:off x="640080" y="1234440"/>
            <a:ext cx="2286000" cy="320040"/>
          </a:xfrm>
          <a:prstGeom prst="rect">
            <a:avLst/>
          </a:prstGeom>
          <a:noFill/>
          <a:ln/>
        </p:spPr>
        <p:txBody>
          <a:bodyPr wrap="square" lIns="0" tIns="0" rIns="0" bIns="0" rtlCol="0" anchor="t"/>
          <a:lstStyle/>
          <a:p>
            <a:pPr indent="0" marL="0">
              <a:buNone/>
            </a:pPr>
            <a:r>
              <a:rPr lang="en-US" sz="1100" b="1" spc="100" kern="0" dirty="0">
                <a:solidFill>
                  <a:srgbClr val="1B3A5C"/>
                </a:solidFill>
                <a:latin typeface="Arial" pitchFamily="34" charset="0"/>
                <a:ea typeface="Arial" pitchFamily="34" charset="-122"/>
                <a:cs typeface="Arial" pitchFamily="34" charset="-120"/>
              </a:rPr>
              <a:t>AURRETIK</a:t>
            </a:r>
            <a:endParaRPr lang="en-US" sz="1100" dirty="0"/>
          </a:p>
        </p:txBody>
      </p:sp>
      <p:sp>
        <p:nvSpPr>
          <p:cNvPr id="7" name="Text 5"/>
          <p:cNvSpPr txBox="1"/>
          <p:nvPr/>
        </p:nvSpPr>
        <p:spPr>
          <a:xfrm>
            <a:off x="640080" y="1600200"/>
            <a:ext cx="2286000" cy="1051560"/>
          </a:xfrm>
          <a:prstGeom prst="rect">
            <a:avLst/>
          </a:prstGeom>
          <a:noFill/>
          <a:ln/>
        </p:spPr>
        <p:txBody>
          <a:bodyPr wrap="square" lIns="0" tIns="0" rIns="0" bIns="0" rtlCol="0" anchor="t"/>
          <a:lstStyle/>
          <a:p>
            <a:pPr indent="0" marL="0">
              <a:buNone/>
            </a:pPr>
            <a:r>
              <a:rPr lang="en-US" sz="1300" dirty="0">
                <a:solidFill>
                  <a:srgbClr val="1A1A1A"/>
                </a:solidFill>
                <a:latin typeface="Arial" pitchFamily="34" charset="0"/>
                <a:ea typeface="Arial" pitchFamily="34" charset="-122"/>
                <a:cs typeface="Arial" pitchFamily="34" charset="-120"/>
              </a:rPr>
              <a:t>Txirrina (EN) → ezer ez</a:t>
            </a:r>
            <a:endParaRPr lang="en-US" sz="1300" dirty="0"/>
          </a:p>
          <a:p>
            <a:pPr indent="0" marL="0">
              <a:buNone/>
            </a:pPr>
            <a:r>
              <a:rPr lang="en-US" sz="1300" dirty="0">
                <a:solidFill>
                  <a:srgbClr val="1A1A1A"/>
                </a:solidFill>
                <a:latin typeface="Arial" pitchFamily="34" charset="0"/>
                <a:ea typeface="Arial" pitchFamily="34" charset="-122"/>
                <a:cs typeface="Arial" pitchFamily="34" charset="-120"/>
              </a:rPr>
              <a:t>Janaria (BGE) → listua (BGEr)</a:t>
            </a:r>
            <a:endParaRPr lang="en-US" sz="1300" dirty="0"/>
          </a:p>
        </p:txBody>
      </p:sp>
      <p:sp>
        <p:nvSpPr>
          <p:cNvPr id="8" name="Shape 6"/>
          <p:cNvSpPr/>
          <p:nvPr/>
        </p:nvSpPr>
        <p:spPr>
          <a:xfrm>
            <a:off x="3273552" y="1143000"/>
            <a:ext cx="2596896" cy="1600200"/>
          </a:xfrm>
          <a:prstGeom prst="roundRect">
            <a:avLst>
              <a:gd name="adj" fmla="val 6857"/>
            </a:avLst>
          </a:prstGeom>
          <a:solidFill>
            <a:srgbClr val="F7F7F5"/>
          </a:solidFill>
          <a:ln w="12700">
            <a:solidFill>
              <a:srgbClr val="F7F7F5"/>
            </a:solidFill>
            <a:prstDash val="solid"/>
          </a:ln>
        </p:spPr>
      </p:sp>
      <p:sp>
        <p:nvSpPr>
          <p:cNvPr id="9" name="Text 7"/>
          <p:cNvSpPr txBox="1"/>
          <p:nvPr/>
        </p:nvSpPr>
        <p:spPr>
          <a:xfrm>
            <a:off x="3456432" y="1234440"/>
            <a:ext cx="2286000" cy="320040"/>
          </a:xfrm>
          <a:prstGeom prst="rect">
            <a:avLst/>
          </a:prstGeom>
          <a:noFill/>
          <a:ln/>
        </p:spPr>
        <p:txBody>
          <a:bodyPr wrap="square" lIns="0" tIns="0" rIns="0" bIns="0" rtlCol="0" anchor="t"/>
          <a:lstStyle/>
          <a:p>
            <a:pPr indent="0" marL="0">
              <a:buNone/>
            </a:pPr>
            <a:r>
              <a:rPr lang="en-US" sz="1100" b="1" spc="100" kern="0" dirty="0">
                <a:solidFill>
                  <a:srgbClr val="1B3A5C"/>
                </a:solidFill>
                <a:latin typeface="Arial" pitchFamily="34" charset="0"/>
                <a:ea typeface="Arial" pitchFamily="34" charset="-122"/>
                <a:cs typeface="Arial" pitchFamily="34" charset="-120"/>
              </a:rPr>
              <a:t>KONDIZIONAMENDUAN</a:t>
            </a:r>
            <a:endParaRPr lang="en-US" sz="1100" dirty="0"/>
          </a:p>
        </p:txBody>
      </p:sp>
      <p:sp>
        <p:nvSpPr>
          <p:cNvPr id="10" name="Text 8"/>
          <p:cNvSpPr txBox="1"/>
          <p:nvPr/>
        </p:nvSpPr>
        <p:spPr>
          <a:xfrm>
            <a:off x="3456432" y="1600200"/>
            <a:ext cx="2286000" cy="1051560"/>
          </a:xfrm>
          <a:prstGeom prst="rect">
            <a:avLst/>
          </a:prstGeom>
          <a:noFill/>
          <a:ln/>
        </p:spPr>
        <p:txBody>
          <a:bodyPr wrap="square" lIns="0" tIns="0" rIns="0" bIns="0" rtlCol="0" anchor="t"/>
          <a:lstStyle/>
          <a:p>
            <a:pPr indent="0" marL="0">
              <a:buNone/>
            </a:pPr>
            <a:r>
              <a:rPr lang="en-US" sz="1300" dirty="0">
                <a:solidFill>
                  <a:srgbClr val="1A1A1A"/>
                </a:solidFill>
                <a:latin typeface="Arial" pitchFamily="34" charset="0"/>
                <a:ea typeface="Arial" pitchFamily="34" charset="-122"/>
                <a:cs typeface="Arial" pitchFamily="34" charset="-120"/>
              </a:rPr>
              <a:t>Txirrina (EN) + janaria (BGE) → listua (BGEr)</a:t>
            </a:r>
            <a:endParaRPr lang="en-US" sz="1300" dirty="0"/>
          </a:p>
          <a:p>
            <a:pPr indent="0" marL="0">
              <a:buNone/>
            </a:pPr>
            <a:r>
              <a:rPr lang="en-US" sz="1300" dirty="0">
                <a:solidFill>
                  <a:srgbClr val="1A1A1A"/>
                </a:solidFill>
                <a:latin typeface="Arial" pitchFamily="34" charset="0"/>
                <a:ea typeface="Arial" pitchFamily="34" charset="-122"/>
                <a:cs typeface="Arial" pitchFamily="34" charset="-120"/>
              </a:rPr>
              <a:t>behin eta berriz</a:t>
            </a:r>
            <a:endParaRPr lang="en-US" sz="1300" dirty="0"/>
          </a:p>
        </p:txBody>
      </p:sp>
      <p:sp>
        <p:nvSpPr>
          <p:cNvPr id="11" name="Shape 9"/>
          <p:cNvSpPr/>
          <p:nvPr/>
        </p:nvSpPr>
        <p:spPr>
          <a:xfrm>
            <a:off x="6089904" y="1143000"/>
            <a:ext cx="2596896" cy="1600200"/>
          </a:xfrm>
          <a:prstGeom prst="roundRect">
            <a:avLst>
              <a:gd name="adj" fmla="val 6857"/>
            </a:avLst>
          </a:prstGeom>
          <a:solidFill>
            <a:srgbClr val="D6E8F7"/>
          </a:solidFill>
          <a:ln w="12700">
            <a:solidFill>
              <a:srgbClr val="D6E8F7"/>
            </a:solidFill>
            <a:prstDash val="solid"/>
          </a:ln>
        </p:spPr>
      </p:sp>
      <p:sp>
        <p:nvSpPr>
          <p:cNvPr id="12" name="Text 10"/>
          <p:cNvSpPr txBox="1"/>
          <p:nvPr/>
        </p:nvSpPr>
        <p:spPr>
          <a:xfrm>
            <a:off x="6272784" y="1234440"/>
            <a:ext cx="2286000" cy="320040"/>
          </a:xfrm>
          <a:prstGeom prst="rect">
            <a:avLst/>
          </a:prstGeom>
          <a:noFill/>
          <a:ln/>
        </p:spPr>
        <p:txBody>
          <a:bodyPr wrap="square" lIns="0" tIns="0" rIns="0" bIns="0" rtlCol="0" anchor="t"/>
          <a:lstStyle/>
          <a:p>
            <a:pPr indent="0" marL="0">
              <a:buNone/>
            </a:pPr>
            <a:r>
              <a:rPr lang="en-US" sz="1100" b="1" spc="100" kern="0" dirty="0">
                <a:solidFill>
                  <a:srgbClr val="1B3A5C"/>
                </a:solidFill>
                <a:latin typeface="Arial" pitchFamily="34" charset="0"/>
                <a:ea typeface="Arial" pitchFamily="34" charset="-122"/>
                <a:cs typeface="Arial" pitchFamily="34" charset="-120"/>
              </a:rPr>
              <a:t>ONDOREN</a:t>
            </a:r>
            <a:endParaRPr lang="en-US" sz="1100" dirty="0"/>
          </a:p>
        </p:txBody>
      </p:sp>
      <p:sp>
        <p:nvSpPr>
          <p:cNvPr id="13" name="Text 11"/>
          <p:cNvSpPr txBox="1"/>
          <p:nvPr/>
        </p:nvSpPr>
        <p:spPr>
          <a:xfrm>
            <a:off x="6272784" y="1600200"/>
            <a:ext cx="2286000" cy="1051560"/>
          </a:xfrm>
          <a:prstGeom prst="rect">
            <a:avLst/>
          </a:prstGeom>
          <a:noFill/>
          <a:ln/>
        </p:spPr>
        <p:txBody>
          <a:bodyPr wrap="square" lIns="0" tIns="0" rIns="0" bIns="0" rtlCol="0" anchor="t"/>
          <a:lstStyle/>
          <a:p>
            <a:pPr indent="0" marL="0">
              <a:buNone/>
            </a:pPr>
            <a:r>
              <a:rPr lang="en-US" sz="1300" dirty="0">
                <a:solidFill>
                  <a:srgbClr val="1A1A1A"/>
                </a:solidFill>
                <a:latin typeface="Arial" pitchFamily="34" charset="0"/>
                <a:ea typeface="Arial" pitchFamily="34" charset="-122"/>
                <a:cs typeface="Arial" pitchFamily="34" charset="-120"/>
              </a:rPr>
              <a:t>Txirrina (EB) → listua (EBr)</a:t>
            </a:r>
            <a:endParaRPr lang="en-US" sz="1300" dirty="0"/>
          </a:p>
        </p:txBody>
      </p:sp>
      <p:sp>
        <p:nvSpPr>
          <p:cNvPr id="14" name="Shape 12"/>
          <p:cNvSpPr/>
          <p:nvPr/>
        </p:nvSpPr>
        <p:spPr>
          <a:xfrm>
            <a:off x="457200" y="2926080"/>
            <a:ext cx="4023360" cy="1600200"/>
          </a:xfrm>
          <a:prstGeom prst="roundRect">
            <a:avLst>
              <a:gd name="adj" fmla="val 6857"/>
            </a:avLst>
          </a:prstGeom>
          <a:solidFill>
            <a:srgbClr val="F7F7F5"/>
          </a:solidFill>
          <a:ln w="12700">
            <a:solidFill>
              <a:srgbClr val="F7F7F5"/>
            </a:solidFill>
            <a:prstDash val="solid"/>
          </a:ln>
        </p:spPr>
      </p:sp>
      <p:sp>
        <p:nvSpPr>
          <p:cNvPr id="15" name="Text 13"/>
          <p:cNvSpPr txBox="1"/>
          <p:nvPr/>
        </p:nvSpPr>
        <p:spPr>
          <a:xfrm>
            <a:off x="640080" y="3017520"/>
            <a:ext cx="3657600" cy="320040"/>
          </a:xfrm>
          <a:prstGeom prst="rect">
            <a:avLst/>
          </a:prstGeom>
          <a:noFill/>
          <a:ln/>
        </p:spPr>
        <p:txBody>
          <a:bodyPr wrap="square" lIns="0" tIns="0" rIns="0" bIns="0" rtlCol="0" anchor="t"/>
          <a:lstStyle/>
          <a:p>
            <a:pPr indent="0" marL="0">
              <a:buNone/>
            </a:pPr>
            <a:r>
              <a:rPr lang="en-US" sz="1400" b="1" dirty="0">
                <a:solidFill>
                  <a:srgbClr val="1B3A5C"/>
                </a:solidFill>
                <a:latin typeface="Arial" pitchFamily="34" charset="0"/>
                <a:ea typeface="Arial" pitchFamily="34" charset="-122"/>
                <a:cs typeface="Arial" pitchFamily="34" charset="-120"/>
              </a:rPr>
              <a:t>Albert txikia (1920)</a:t>
            </a:r>
            <a:endParaRPr lang="en-US" sz="1400" dirty="0"/>
          </a:p>
        </p:txBody>
      </p:sp>
      <p:sp>
        <p:nvSpPr>
          <p:cNvPr id="16" name="Text 14"/>
          <p:cNvSpPr txBox="1"/>
          <p:nvPr/>
        </p:nvSpPr>
        <p:spPr>
          <a:xfrm>
            <a:off x="640080" y="3383280"/>
            <a:ext cx="3657600" cy="10515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Arratoia + zarata → beldurra, eta orokortzea beste gauza iletsuetara. Gaur ez litzateke onartuko.</a:t>
            </a:r>
            <a:endParaRPr lang="en-US" sz="1250" dirty="0"/>
          </a:p>
        </p:txBody>
      </p:sp>
      <p:sp>
        <p:nvSpPr>
          <p:cNvPr id="17" name="Shape 15"/>
          <p:cNvSpPr/>
          <p:nvPr/>
        </p:nvSpPr>
        <p:spPr>
          <a:xfrm>
            <a:off x="4663440" y="2926080"/>
            <a:ext cx="4023360" cy="1600200"/>
          </a:xfrm>
          <a:prstGeom prst="roundRect">
            <a:avLst>
              <a:gd name="adj" fmla="val 6857"/>
            </a:avLst>
          </a:prstGeom>
          <a:solidFill>
            <a:srgbClr val="F7F7F5"/>
          </a:solidFill>
          <a:ln w="12700">
            <a:solidFill>
              <a:srgbClr val="F7F7F5"/>
            </a:solidFill>
            <a:prstDash val="solid"/>
          </a:ln>
        </p:spPr>
      </p:sp>
      <p:sp>
        <p:nvSpPr>
          <p:cNvPr id="18" name="Text 16"/>
          <p:cNvSpPr txBox="1"/>
          <p:nvPr/>
        </p:nvSpPr>
        <p:spPr>
          <a:xfrm>
            <a:off x="4846320" y="3017520"/>
            <a:ext cx="3657600" cy="320040"/>
          </a:xfrm>
          <a:prstGeom prst="rect">
            <a:avLst/>
          </a:prstGeom>
          <a:noFill/>
          <a:ln/>
        </p:spPr>
        <p:txBody>
          <a:bodyPr wrap="square" lIns="0" tIns="0" rIns="0" bIns="0" rtlCol="0" anchor="t"/>
          <a:lstStyle/>
          <a:p>
            <a:pPr indent="0" marL="0">
              <a:buNone/>
            </a:pPr>
            <a:r>
              <a:rPr lang="en-US" sz="1400" b="1" dirty="0">
                <a:solidFill>
                  <a:srgbClr val="1B3A5C"/>
                </a:solidFill>
                <a:latin typeface="Arial" pitchFamily="34" charset="0"/>
                <a:ea typeface="Arial" pitchFamily="34" charset="-122"/>
                <a:cs typeface="Arial" pitchFamily="34" charset="-120"/>
              </a:rPr>
              <a:t>Garcia eta Seligman</a:t>
            </a:r>
            <a:endParaRPr lang="en-US" sz="1400" dirty="0"/>
          </a:p>
        </p:txBody>
      </p:sp>
      <p:sp>
        <p:nvSpPr>
          <p:cNvPr id="19" name="Text 17"/>
          <p:cNvSpPr txBox="1"/>
          <p:nvPr/>
        </p:nvSpPr>
        <p:spPr>
          <a:xfrm>
            <a:off x="4846320" y="3383280"/>
            <a:ext cx="3657600" cy="10515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Zaporea eta gaixotasuna erraz lotzen dira, saiakera bakar batean. Argia eta gaixotasuna, ez. Prestutasun biologikoa.</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Cook eta Mineka (1989)</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S5</a:t>
            </a:r>
            <a:endParaRPr lang="en-US" sz="1200" dirty="0"/>
          </a:p>
        </p:txBody>
      </p:sp>
      <p:sp>
        <p:nvSpPr>
          <p:cNvPr id="5" name="Text 3"/>
          <p:cNvSpPr txBox="1"/>
          <p:nvPr/>
        </p:nvSpPr>
        <p:spPr>
          <a:xfrm>
            <a:off x="457200" y="1024128"/>
            <a:ext cx="8229600" cy="548640"/>
          </a:xfrm>
          <a:prstGeom prst="rect">
            <a:avLst/>
          </a:prstGeom>
          <a:noFill/>
          <a:ln/>
        </p:spPr>
        <p:txBody>
          <a:bodyPr wrap="square" lIns="0" tIns="0" rIns="0" bIns="0" rtlCol="0" anchor="t"/>
          <a:lstStyle/>
          <a:p>
            <a:pPr indent="0" marL="0">
              <a:buNone/>
            </a:pPr>
            <a:r>
              <a:rPr lang="en-US" sz="1350" dirty="0">
                <a:solidFill>
                  <a:srgbClr val="1A1A1A"/>
                </a:solidFill>
                <a:latin typeface="Arial" pitchFamily="34" charset="0"/>
                <a:ea typeface="Arial" pitchFamily="34" charset="-122"/>
                <a:cs typeface="Arial" pitchFamily="34" charset="-120"/>
              </a:rPr>
              <a:t>Laborategiko rhesus tximinoek bideo editatuak ikusi zituzten: eredu-tximinoen beldurra berdina zen, baina objektua aldatzen zen.</a:t>
            </a:r>
            <a:endParaRPr lang="en-US" sz="1350" dirty="0"/>
          </a:p>
        </p:txBody>
      </p:sp>
      <p:sp>
        <p:nvSpPr>
          <p:cNvPr id="6" name="Shape 4"/>
          <p:cNvSpPr/>
          <p:nvPr/>
        </p:nvSpPr>
        <p:spPr>
          <a:xfrm>
            <a:off x="457200" y="1737360"/>
            <a:ext cx="1920240" cy="1463040"/>
          </a:xfrm>
          <a:prstGeom prst="roundRect">
            <a:avLst>
              <a:gd name="adj" fmla="val 7500"/>
            </a:avLst>
          </a:prstGeom>
          <a:solidFill>
            <a:srgbClr val="D6E8F7"/>
          </a:solidFill>
          <a:ln w="12700">
            <a:solidFill>
              <a:srgbClr val="D6E8F7"/>
            </a:solidFill>
            <a:prstDash val="solid"/>
          </a:ln>
        </p:spPr>
      </p:sp>
      <p:pic>
        <p:nvPicPr>
          <p:cNvPr id="7" name="Image 0" descr="preencoded.png">    </p:cNvPr>
          <p:cNvPicPr>
            <a:picLocks noChangeAspect="1"/>
          </p:cNvPicPr>
          <p:nvPr/>
        </p:nvPicPr>
        <p:blipFill>
          <a:blip r:embed="rId1"/>
          <a:stretch>
            <a:fillRect/>
          </a:stretch>
        </p:blipFill>
        <p:spPr>
          <a:xfrm>
            <a:off x="1143000" y="1874520"/>
            <a:ext cx="548640" cy="548640"/>
          </a:xfrm>
          <a:prstGeom prst="rect">
            <a:avLst/>
          </a:prstGeom>
        </p:spPr>
      </p:pic>
      <p:sp>
        <p:nvSpPr>
          <p:cNvPr id="8" name="Text 5"/>
          <p:cNvSpPr txBox="1"/>
          <p:nvPr/>
        </p:nvSpPr>
        <p:spPr>
          <a:xfrm>
            <a:off x="548640" y="2514600"/>
            <a:ext cx="1737360" cy="320040"/>
          </a:xfrm>
          <a:prstGeom prst="rect">
            <a:avLst/>
          </a:prstGeom>
          <a:noFill/>
          <a:ln/>
        </p:spPr>
        <p:txBody>
          <a:bodyPr wrap="square" lIns="0" tIns="0" rIns="0" bIns="0" rtlCol="0" anchor="t"/>
          <a:lstStyle/>
          <a:p>
            <a:pPr algn="ctr" indent="0" marL="0">
              <a:buNone/>
            </a:pPr>
            <a:r>
              <a:rPr lang="en-US" sz="1350" b="1" dirty="0">
                <a:solidFill>
                  <a:srgbClr val="1A1A1A"/>
                </a:solidFill>
                <a:latin typeface="Arial" pitchFamily="34" charset="0"/>
                <a:ea typeface="Arial" pitchFamily="34" charset="-122"/>
                <a:cs typeface="Arial" pitchFamily="34" charset="-120"/>
              </a:rPr>
              <a:t>Suge-jostailua</a:t>
            </a:r>
            <a:endParaRPr lang="en-US" sz="1350" dirty="0"/>
          </a:p>
        </p:txBody>
      </p:sp>
      <p:sp>
        <p:nvSpPr>
          <p:cNvPr id="9" name="Text 6"/>
          <p:cNvSpPr txBox="1"/>
          <p:nvPr/>
        </p:nvSpPr>
        <p:spPr>
          <a:xfrm>
            <a:off x="548640" y="2816352"/>
            <a:ext cx="1737360" cy="274320"/>
          </a:xfrm>
          <a:prstGeom prst="rect">
            <a:avLst/>
          </a:prstGeom>
          <a:noFill/>
          <a:ln/>
        </p:spPr>
        <p:txBody>
          <a:bodyPr wrap="square" lIns="0" tIns="0" rIns="0" bIns="0" rtlCol="0" anchor="t"/>
          <a:lstStyle/>
          <a:p>
            <a:pPr algn="ctr" indent="0" marL="0">
              <a:buNone/>
            </a:pPr>
            <a:r>
              <a:rPr lang="en-US" sz="1100" dirty="0">
                <a:solidFill>
                  <a:srgbClr val="5B6573"/>
                </a:solidFill>
                <a:latin typeface="Arial" pitchFamily="34" charset="0"/>
                <a:ea typeface="Arial" pitchFamily="34" charset="-122"/>
                <a:cs typeface="Arial" pitchFamily="34" charset="-120"/>
              </a:rPr>
              <a:t>beldurra ikasi zuten</a:t>
            </a:r>
            <a:endParaRPr lang="en-US" sz="1100" dirty="0"/>
          </a:p>
        </p:txBody>
      </p:sp>
      <p:sp>
        <p:nvSpPr>
          <p:cNvPr id="10" name="Shape 7"/>
          <p:cNvSpPr/>
          <p:nvPr/>
        </p:nvSpPr>
        <p:spPr>
          <a:xfrm>
            <a:off x="2560320" y="1737360"/>
            <a:ext cx="1920240" cy="1463040"/>
          </a:xfrm>
          <a:prstGeom prst="roundRect">
            <a:avLst>
              <a:gd name="adj" fmla="val 7500"/>
            </a:avLst>
          </a:prstGeom>
          <a:solidFill>
            <a:srgbClr val="D6E8F7"/>
          </a:solidFill>
          <a:ln w="12700">
            <a:solidFill>
              <a:srgbClr val="D6E8F7"/>
            </a:solidFill>
            <a:prstDash val="solid"/>
          </a:ln>
        </p:spPr>
      </p:sp>
      <p:pic>
        <p:nvPicPr>
          <p:cNvPr id="11" name="Image 1" descr="preencoded.png">    </p:cNvPr>
          <p:cNvPicPr>
            <a:picLocks noChangeAspect="1"/>
          </p:cNvPicPr>
          <p:nvPr/>
        </p:nvPicPr>
        <p:blipFill>
          <a:blip r:embed="rId2"/>
          <a:stretch>
            <a:fillRect/>
          </a:stretch>
        </p:blipFill>
        <p:spPr>
          <a:xfrm>
            <a:off x="3246120" y="1874520"/>
            <a:ext cx="548640" cy="548640"/>
          </a:xfrm>
          <a:prstGeom prst="rect">
            <a:avLst/>
          </a:prstGeom>
        </p:spPr>
      </p:pic>
      <p:sp>
        <p:nvSpPr>
          <p:cNvPr id="12" name="Text 8"/>
          <p:cNvSpPr txBox="1"/>
          <p:nvPr/>
        </p:nvSpPr>
        <p:spPr>
          <a:xfrm>
            <a:off x="2651760" y="2514600"/>
            <a:ext cx="1737360" cy="320040"/>
          </a:xfrm>
          <a:prstGeom prst="rect">
            <a:avLst/>
          </a:prstGeom>
          <a:noFill/>
          <a:ln/>
        </p:spPr>
        <p:txBody>
          <a:bodyPr wrap="square" lIns="0" tIns="0" rIns="0" bIns="0" rtlCol="0" anchor="t"/>
          <a:lstStyle/>
          <a:p>
            <a:pPr algn="ctr" indent="0" marL="0">
              <a:buNone/>
            </a:pPr>
            <a:r>
              <a:rPr lang="en-US" sz="1350" b="1" dirty="0">
                <a:solidFill>
                  <a:srgbClr val="1A1A1A"/>
                </a:solidFill>
                <a:latin typeface="Arial" pitchFamily="34" charset="0"/>
                <a:ea typeface="Arial" pitchFamily="34" charset="-122"/>
                <a:cs typeface="Arial" pitchFamily="34" charset="-120"/>
              </a:rPr>
              <a:t>Krokodilo-jostailua</a:t>
            </a:r>
            <a:endParaRPr lang="en-US" sz="1350" dirty="0"/>
          </a:p>
        </p:txBody>
      </p:sp>
      <p:sp>
        <p:nvSpPr>
          <p:cNvPr id="13" name="Text 9"/>
          <p:cNvSpPr txBox="1"/>
          <p:nvPr/>
        </p:nvSpPr>
        <p:spPr>
          <a:xfrm>
            <a:off x="2651760" y="2816352"/>
            <a:ext cx="1737360" cy="274320"/>
          </a:xfrm>
          <a:prstGeom prst="rect">
            <a:avLst/>
          </a:prstGeom>
          <a:noFill/>
          <a:ln/>
        </p:spPr>
        <p:txBody>
          <a:bodyPr wrap="square" lIns="0" tIns="0" rIns="0" bIns="0" rtlCol="0" anchor="t"/>
          <a:lstStyle/>
          <a:p>
            <a:pPr algn="ctr" indent="0" marL="0">
              <a:buNone/>
            </a:pPr>
            <a:r>
              <a:rPr lang="en-US" sz="1100" dirty="0">
                <a:solidFill>
                  <a:srgbClr val="5B6573"/>
                </a:solidFill>
                <a:latin typeface="Arial" pitchFamily="34" charset="0"/>
                <a:ea typeface="Arial" pitchFamily="34" charset="-122"/>
                <a:cs typeface="Arial" pitchFamily="34" charset="-120"/>
              </a:rPr>
              <a:t>beldurra ikasi zuten</a:t>
            </a:r>
            <a:endParaRPr lang="en-US" sz="1100" dirty="0"/>
          </a:p>
        </p:txBody>
      </p:sp>
      <p:sp>
        <p:nvSpPr>
          <p:cNvPr id="14" name="Shape 10"/>
          <p:cNvSpPr/>
          <p:nvPr/>
        </p:nvSpPr>
        <p:spPr>
          <a:xfrm>
            <a:off x="4663440" y="1737360"/>
            <a:ext cx="1920240" cy="1463040"/>
          </a:xfrm>
          <a:prstGeom prst="roundRect">
            <a:avLst>
              <a:gd name="adj" fmla="val 7500"/>
            </a:avLst>
          </a:prstGeom>
          <a:solidFill>
            <a:srgbClr val="F7F7F5"/>
          </a:solidFill>
          <a:ln w="12700">
            <a:solidFill>
              <a:srgbClr val="F7F7F5"/>
            </a:solidFill>
            <a:prstDash val="solid"/>
          </a:ln>
        </p:spPr>
      </p:sp>
      <p:pic>
        <p:nvPicPr>
          <p:cNvPr id="15" name="Image 2" descr="preencoded.png">    </p:cNvPr>
          <p:cNvPicPr>
            <a:picLocks noChangeAspect="1"/>
          </p:cNvPicPr>
          <p:nvPr/>
        </p:nvPicPr>
        <p:blipFill>
          <a:blip r:embed="rId3"/>
          <a:stretch>
            <a:fillRect/>
          </a:stretch>
        </p:blipFill>
        <p:spPr>
          <a:xfrm>
            <a:off x="5349240" y="1874520"/>
            <a:ext cx="548640" cy="548640"/>
          </a:xfrm>
          <a:prstGeom prst="rect">
            <a:avLst/>
          </a:prstGeom>
        </p:spPr>
      </p:pic>
      <p:sp>
        <p:nvSpPr>
          <p:cNvPr id="16" name="Text 11"/>
          <p:cNvSpPr txBox="1"/>
          <p:nvPr/>
        </p:nvSpPr>
        <p:spPr>
          <a:xfrm>
            <a:off x="4754880" y="2514600"/>
            <a:ext cx="1737360" cy="320040"/>
          </a:xfrm>
          <a:prstGeom prst="rect">
            <a:avLst/>
          </a:prstGeom>
          <a:noFill/>
          <a:ln/>
        </p:spPr>
        <p:txBody>
          <a:bodyPr wrap="square" lIns="0" tIns="0" rIns="0" bIns="0" rtlCol="0" anchor="t"/>
          <a:lstStyle/>
          <a:p>
            <a:pPr algn="ctr" indent="0" marL="0">
              <a:buNone/>
            </a:pPr>
            <a:r>
              <a:rPr lang="en-US" sz="1350" b="1" dirty="0">
                <a:solidFill>
                  <a:srgbClr val="1A1A1A"/>
                </a:solidFill>
                <a:latin typeface="Arial" pitchFamily="34" charset="0"/>
                <a:ea typeface="Arial" pitchFamily="34" charset="-122"/>
                <a:cs typeface="Arial" pitchFamily="34" charset="-120"/>
              </a:rPr>
              <a:t>Loreak</a:t>
            </a:r>
            <a:endParaRPr lang="en-US" sz="1350" dirty="0"/>
          </a:p>
        </p:txBody>
      </p:sp>
      <p:sp>
        <p:nvSpPr>
          <p:cNvPr id="17" name="Text 12"/>
          <p:cNvSpPr txBox="1"/>
          <p:nvPr/>
        </p:nvSpPr>
        <p:spPr>
          <a:xfrm>
            <a:off x="4754880" y="2816352"/>
            <a:ext cx="1737360" cy="274320"/>
          </a:xfrm>
          <a:prstGeom prst="rect">
            <a:avLst/>
          </a:prstGeom>
          <a:noFill/>
          <a:ln/>
        </p:spPr>
        <p:txBody>
          <a:bodyPr wrap="square" lIns="0" tIns="0" rIns="0" bIns="0" rtlCol="0" anchor="t"/>
          <a:lstStyle/>
          <a:p>
            <a:pPr algn="ctr" indent="0" marL="0">
              <a:buNone/>
            </a:pPr>
            <a:r>
              <a:rPr lang="en-US" sz="1100" dirty="0">
                <a:solidFill>
                  <a:srgbClr val="5B6573"/>
                </a:solidFill>
                <a:latin typeface="Arial" pitchFamily="34" charset="0"/>
                <a:ea typeface="Arial" pitchFamily="34" charset="-122"/>
                <a:cs typeface="Arial" pitchFamily="34" charset="-120"/>
              </a:rPr>
              <a:t>ez zuten beldurrik ikasi</a:t>
            </a:r>
            <a:endParaRPr lang="en-US" sz="1100" dirty="0"/>
          </a:p>
        </p:txBody>
      </p:sp>
      <p:sp>
        <p:nvSpPr>
          <p:cNvPr id="18" name="Shape 13"/>
          <p:cNvSpPr/>
          <p:nvPr/>
        </p:nvSpPr>
        <p:spPr>
          <a:xfrm>
            <a:off x="6766560" y="1737360"/>
            <a:ext cx="1920240" cy="1463040"/>
          </a:xfrm>
          <a:prstGeom prst="roundRect">
            <a:avLst>
              <a:gd name="adj" fmla="val 7500"/>
            </a:avLst>
          </a:prstGeom>
          <a:solidFill>
            <a:srgbClr val="F7F7F5"/>
          </a:solidFill>
          <a:ln w="12700">
            <a:solidFill>
              <a:srgbClr val="F7F7F5"/>
            </a:solidFill>
            <a:prstDash val="solid"/>
          </a:ln>
        </p:spPr>
      </p:sp>
      <p:pic>
        <p:nvPicPr>
          <p:cNvPr id="19" name="Image 3" descr="preencoded.png">    </p:cNvPr>
          <p:cNvPicPr>
            <a:picLocks noChangeAspect="1"/>
          </p:cNvPicPr>
          <p:nvPr/>
        </p:nvPicPr>
        <p:blipFill>
          <a:blip r:embed="rId4"/>
          <a:stretch>
            <a:fillRect/>
          </a:stretch>
        </p:blipFill>
        <p:spPr>
          <a:xfrm>
            <a:off x="7452360" y="1874520"/>
            <a:ext cx="548640" cy="548640"/>
          </a:xfrm>
          <a:prstGeom prst="rect">
            <a:avLst/>
          </a:prstGeom>
        </p:spPr>
      </p:pic>
      <p:sp>
        <p:nvSpPr>
          <p:cNvPr id="20" name="Text 14"/>
          <p:cNvSpPr txBox="1"/>
          <p:nvPr/>
        </p:nvSpPr>
        <p:spPr>
          <a:xfrm>
            <a:off x="6858000" y="2514600"/>
            <a:ext cx="1737360" cy="320040"/>
          </a:xfrm>
          <a:prstGeom prst="rect">
            <a:avLst/>
          </a:prstGeom>
          <a:noFill/>
          <a:ln/>
        </p:spPr>
        <p:txBody>
          <a:bodyPr wrap="square" lIns="0" tIns="0" rIns="0" bIns="0" rtlCol="0" anchor="t"/>
          <a:lstStyle/>
          <a:p>
            <a:pPr algn="ctr" indent="0" marL="0">
              <a:buNone/>
            </a:pPr>
            <a:r>
              <a:rPr lang="en-US" sz="1350" b="1" dirty="0">
                <a:solidFill>
                  <a:srgbClr val="1A1A1A"/>
                </a:solidFill>
                <a:latin typeface="Arial" pitchFamily="34" charset="0"/>
                <a:ea typeface="Arial" pitchFamily="34" charset="-122"/>
                <a:cs typeface="Arial" pitchFamily="34" charset="-120"/>
              </a:rPr>
              <a:t>Untxi-jostailua</a:t>
            </a:r>
            <a:endParaRPr lang="en-US" sz="1350" dirty="0"/>
          </a:p>
        </p:txBody>
      </p:sp>
      <p:sp>
        <p:nvSpPr>
          <p:cNvPr id="21" name="Text 15"/>
          <p:cNvSpPr txBox="1"/>
          <p:nvPr/>
        </p:nvSpPr>
        <p:spPr>
          <a:xfrm>
            <a:off x="6858000" y="2816352"/>
            <a:ext cx="1737360" cy="274320"/>
          </a:xfrm>
          <a:prstGeom prst="rect">
            <a:avLst/>
          </a:prstGeom>
          <a:noFill/>
          <a:ln/>
        </p:spPr>
        <p:txBody>
          <a:bodyPr wrap="square" lIns="0" tIns="0" rIns="0" bIns="0" rtlCol="0" anchor="t"/>
          <a:lstStyle/>
          <a:p>
            <a:pPr algn="ctr" indent="0" marL="0">
              <a:buNone/>
            </a:pPr>
            <a:r>
              <a:rPr lang="en-US" sz="1100" dirty="0">
                <a:solidFill>
                  <a:srgbClr val="5B6573"/>
                </a:solidFill>
                <a:latin typeface="Arial" pitchFamily="34" charset="0"/>
                <a:ea typeface="Arial" pitchFamily="34" charset="-122"/>
                <a:cs typeface="Arial" pitchFamily="34" charset="-120"/>
              </a:rPr>
              <a:t>ez zuten beldurrik ikasi</a:t>
            </a:r>
            <a:endParaRPr lang="en-US" sz="1100" dirty="0"/>
          </a:p>
        </p:txBody>
      </p:sp>
      <p:sp>
        <p:nvSpPr>
          <p:cNvPr id="22" name="Shape 16"/>
          <p:cNvSpPr/>
          <p:nvPr/>
        </p:nvSpPr>
        <p:spPr>
          <a:xfrm>
            <a:off x="457200" y="3429000"/>
            <a:ext cx="8229600" cy="1097280"/>
          </a:xfrm>
          <a:prstGeom prst="roundRect">
            <a:avLst>
              <a:gd name="adj" fmla="val 10000"/>
            </a:avLst>
          </a:prstGeom>
          <a:solidFill>
            <a:srgbClr val="F7F7F5"/>
          </a:solidFill>
          <a:ln w="12700">
            <a:solidFill>
              <a:srgbClr val="F7F7F5"/>
            </a:solidFill>
            <a:prstDash val="solid"/>
          </a:ln>
        </p:spPr>
      </p:sp>
      <p:sp>
        <p:nvSpPr>
          <p:cNvPr id="23" name="Text 17"/>
          <p:cNvSpPr txBox="1"/>
          <p:nvPr/>
        </p:nvSpPr>
        <p:spPr>
          <a:xfrm>
            <a:off x="640080" y="3429000"/>
            <a:ext cx="7863840" cy="1097280"/>
          </a:xfrm>
          <a:prstGeom prst="rect">
            <a:avLst/>
          </a:prstGeom>
          <a:noFill/>
          <a:ln/>
        </p:spPr>
        <p:txBody>
          <a:bodyPr wrap="square" lIns="0" tIns="0" rIns="0" bIns="0" rtlCol="0" anchor="ctr"/>
          <a:lstStyle/>
          <a:p>
            <a:pPr indent="0" marL="0">
              <a:buNone/>
            </a:pPr>
            <a:r>
              <a:rPr lang="en-US" sz="1350" b="1" dirty="0">
                <a:solidFill>
                  <a:srgbClr val="1B3A5C"/>
                </a:solidFill>
                <a:latin typeface="Arial" pitchFamily="34" charset="0"/>
                <a:ea typeface="Arial" pitchFamily="34" charset="-122"/>
                <a:cs typeface="Arial" pitchFamily="34" charset="-120"/>
              </a:rPr>
              <a:t>Interpretazioa: </a:t>
            </a:r>
            <a:pPr indent="0" marL="0">
              <a:buNone/>
            </a:pPr>
            <a:r>
              <a:rPr lang="en-US" sz="1350" dirty="0">
                <a:solidFill>
                  <a:srgbClr val="1A1A1A"/>
                </a:solidFill>
                <a:latin typeface="Arial" pitchFamily="34" charset="0"/>
                <a:ea typeface="Arial" pitchFamily="34" charset="-122"/>
                <a:cs typeface="Arial" pitchFamily="34" charset="-120"/>
              </a:rPr>
              <a:t>beldurra behaketa bidez ikas daiteke, beste bati begiratuz, kalterik jaso gabe. Baina ez edozein objekturi: prestutasun biologikoaren alde egiten du.</a:t>
            </a:r>
            <a:endParaRPr lang="en-US" sz="13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Aplikatu</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S5</a:t>
            </a:r>
            <a:endParaRPr lang="en-US" sz="1200" dirty="0"/>
          </a:p>
        </p:txBody>
      </p:sp>
      <p:sp>
        <p:nvSpPr>
          <p:cNvPr id="5" name="Shape 3"/>
          <p:cNvSpPr/>
          <p:nvPr/>
        </p:nvSpPr>
        <p:spPr>
          <a:xfrm>
            <a:off x="457200" y="1097280"/>
            <a:ext cx="8229600" cy="713232"/>
          </a:xfrm>
          <a:prstGeom prst="roundRect">
            <a:avLst>
              <a:gd name="adj" fmla="val 15385"/>
            </a:avLst>
          </a:prstGeom>
          <a:solidFill>
            <a:srgbClr val="D4EDE1"/>
          </a:solidFill>
          <a:ln w="12700">
            <a:solidFill>
              <a:srgbClr val="D4EDE1"/>
            </a:solidFill>
            <a:prstDash val="solid"/>
          </a:ln>
        </p:spPr>
      </p:sp>
      <p:sp>
        <p:nvSpPr>
          <p:cNvPr id="6" name="Shape 4"/>
          <p:cNvSpPr/>
          <p:nvPr/>
        </p:nvSpPr>
        <p:spPr>
          <a:xfrm>
            <a:off x="594360" y="1289304"/>
            <a:ext cx="329184" cy="329184"/>
          </a:xfrm>
          <a:prstGeom prst="ellipse">
            <a:avLst/>
          </a:prstGeom>
          <a:solidFill>
            <a:srgbClr val="1B3A5C"/>
          </a:solidFill>
          <a:ln w="12700">
            <a:solidFill>
              <a:srgbClr val="1B3A5C"/>
            </a:solidFill>
            <a:prstDash val="solid"/>
          </a:ln>
        </p:spPr>
      </p:sp>
      <p:sp>
        <p:nvSpPr>
          <p:cNvPr id="7" name="Text 5"/>
          <p:cNvSpPr txBox="1"/>
          <p:nvPr/>
        </p:nvSpPr>
        <p:spPr>
          <a:xfrm>
            <a:off x="594360" y="12893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051560" y="1152144"/>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Identifikatu EN · BGE · BGEr · EB · EBr: Albert, Minekaren tximinoa eta zure janaria (pribatua)</a:t>
            </a:r>
            <a:endParaRPr lang="en-US" sz="1400" dirty="0"/>
          </a:p>
        </p:txBody>
      </p:sp>
      <p:sp>
        <p:nvSpPr>
          <p:cNvPr id="9" name="Text 7"/>
          <p:cNvSpPr txBox="1"/>
          <p:nvPr/>
        </p:nvSpPr>
        <p:spPr>
          <a:xfrm>
            <a:off x="7543800" y="1152144"/>
            <a:ext cx="1005840" cy="603504"/>
          </a:xfrm>
          <a:prstGeom prst="rect">
            <a:avLst/>
          </a:prstGeom>
          <a:noFill/>
          <a:ln/>
        </p:spPr>
        <p:txBody>
          <a:bodyPr wrap="square" lIns="0" tIns="0" rIns="0" bIns="0" rtlCol="0" anchor="ctr"/>
          <a:lstStyle/>
          <a:p>
            <a:pPr algn="r" indent="0" marL="0">
              <a:buNone/>
            </a:pPr>
            <a:r>
              <a:rPr lang="en-US" sz="900" b="1" dirty="0">
                <a:solidFill>
                  <a:srgbClr val="1A5C3A"/>
                </a:solidFill>
                <a:latin typeface="Arial" pitchFamily="34" charset="0"/>
                <a:ea typeface="Arial" pitchFamily="34" charset="-122"/>
                <a:cs typeface="Arial" pitchFamily="34" charset="-120"/>
              </a:rPr>
              <a:t>BAKARKA</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8 min</a:t>
            </a:r>
            <a:endParaRPr lang="en-US" sz="900" dirty="0"/>
          </a:p>
        </p:txBody>
      </p:sp>
      <p:sp>
        <p:nvSpPr>
          <p:cNvPr id="10" name="Shape 8"/>
          <p:cNvSpPr/>
          <p:nvPr/>
        </p:nvSpPr>
        <p:spPr>
          <a:xfrm>
            <a:off x="457200" y="1938528"/>
            <a:ext cx="8229600" cy="713232"/>
          </a:xfrm>
          <a:prstGeom prst="roundRect">
            <a:avLst>
              <a:gd name="adj" fmla="val 15385"/>
            </a:avLst>
          </a:prstGeom>
          <a:solidFill>
            <a:srgbClr val="FAE5D3"/>
          </a:solidFill>
          <a:ln w="12700">
            <a:solidFill>
              <a:srgbClr val="FAE5D3"/>
            </a:solidFill>
            <a:prstDash val="solid"/>
          </a:ln>
        </p:spPr>
      </p:sp>
      <p:sp>
        <p:nvSpPr>
          <p:cNvPr id="11" name="Shape 9"/>
          <p:cNvSpPr/>
          <p:nvPr/>
        </p:nvSpPr>
        <p:spPr>
          <a:xfrm>
            <a:off x="594360" y="2130552"/>
            <a:ext cx="329184" cy="329184"/>
          </a:xfrm>
          <a:prstGeom prst="ellipse">
            <a:avLst/>
          </a:prstGeom>
          <a:solidFill>
            <a:srgbClr val="1B3A5C"/>
          </a:solidFill>
          <a:ln w="12700">
            <a:solidFill>
              <a:srgbClr val="1B3A5C"/>
            </a:solidFill>
            <a:prstDash val="solid"/>
          </a:ln>
        </p:spPr>
      </p:sp>
      <p:sp>
        <p:nvSpPr>
          <p:cNvPr id="12" name="Text 10"/>
          <p:cNvSpPr txBox="1"/>
          <p:nvPr/>
        </p:nvSpPr>
        <p:spPr>
          <a:xfrm>
            <a:off x="594360" y="21305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1051560" y="1993392"/>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Zergatik ez zuten loreen beldurra ikasi? Bi azalpen eta zer datu beharko zenuketen aukeratzeko</a:t>
            </a:r>
            <a:endParaRPr lang="en-US" sz="1400" dirty="0"/>
          </a:p>
        </p:txBody>
      </p:sp>
      <p:sp>
        <p:nvSpPr>
          <p:cNvPr id="14" name="Text 12"/>
          <p:cNvSpPr txBox="1"/>
          <p:nvPr/>
        </p:nvSpPr>
        <p:spPr>
          <a:xfrm>
            <a:off x="7543800" y="1993392"/>
            <a:ext cx="1005840" cy="603504"/>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10 min</a:t>
            </a:r>
            <a:endParaRPr lang="en-US" sz="900" dirty="0"/>
          </a:p>
        </p:txBody>
      </p:sp>
      <p:sp>
        <p:nvSpPr>
          <p:cNvPr id="15" name="Shape 13"/>
          <p:cNvSpPr/>
          <p:nvPr/>
        </p:nvSpPr>
        <p:spPr>
          <a:xfrm>
            <a:off x="457200" y="2779776"/>
            <a:ext cx="8229600" cy="713232"/>
          </a:xfrm>
          <a:prstGeom prst="roundRect">
            <a:avLst>
              <a:gd name="adj" fmla="val 15385"/>
            </a:avLst>
          </a:prstGeom>
          <a:solidFill>
            <a:srgbClr val="D4EDE1"/>
          </a:solidFill>
          <a:ln w="12700">
            <a:solidFill>
              <a:srgbClr val="D4EDE1"/>
            </a:solidFill>
            <a:prstDash val="solid"/>
          </a:ln>
        </p:spPr>
      </p:sp>
      <p:sp>
        <p:nvSpPr>
          <p:cNvPr id="16" name="Shape 14"/>
          <p:cNvSpPr/>
          <p:nvPr/>
        </p:nvSpPr>
        <p:spPr>
          <a:xfrm>
            <a:off x="594360" y="2971800"/>
            <a:ext cx="329184" cy="329184"/>
          </a:xfrm>
          <a:prstGeom prst="ellipse">
            <a:avLst/>
          </a:prstGeom>
          <a:solidFill>
            <a:srgbClr val="1B3A5C"/>
          </a:solidFill>
          <a:ln w="12700">
            <a:solidFill>
              <a:srgbClr val="1B3A5C"/>
            </a:solidFill>
            <a:prstDash val="solid"/>
          </a:ln>
        </p:spPr>
      </p:sp>
      <p:sp>
        <p:nvSpPr>
          <p:cNvPr id="17" name="Text 15"/>
          <p:cNvSpPr txBox="1"/>
          <p:nvPr/>
        </p:nvSpPr>
        <p:spPr>
          <a:xfrm>
            <a:off x="594360"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1051560" y="2834640"/>
            <a:ext cx="6400800" cy="603504"/>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Bete 3. ebidentzia-orria · Gaur rolak txandakatzen dira</a:t>
            </a:r>
            <a:endParaRPr lang="en-US" sz="1400" dirty="0"/>
          </a:p>
        </p:txBody>
      </p:sp>
      <p:sp>
        <p:nvSpPr>
          <p:cNvPr id="19" name="Text 17"/>
          <p:cNvSpPr txBox="1"/>
          <p:nvPr/>
        </p:nvSpPr>
        <p:spPr>
          <a:xfrm>
            <a:off x="7543800" y="2834640"/>
            <a:ext cx="1005840" cy="603504"/>
          </a:xfrm>
          <a:prstGeom prst="rect">
            <a:avLst/>
          </a:prstGeom>
          <a:noFill/>
          <a:ln/>
        </p:spPr>
        <p:txBody>
          <a:bodyPr wrap="square" lIns="0" tIns="0" rIns="0" bIns="0" rtlCol="0" anchor="ctr"/>
          <a:lstStyle/>
          <a:p>
            <a:pPr algn="r" indent="0" marL="0">
              <a:buNone/>
            </a:pPr>
            <a:r>
              <a:rPr lang="en-US" sz="900" b="1" dirty="0">
                <a:solidFill>
                  <a:srgbClr val="1A5C3A"/>
                </a:solidFill>
                <a:latin typeface="Arial" pitchFamily="34" charset="0"/>
                <a:ea typeface="Arial" pitchFamily="34" charset="-122"/>
                <a:cs typeface="Arial" pitchFamily="34" charset="-120"/>
              </a:rPr>
              <a:t>BAKARKA</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12 min</a:t>
            </a:r>
            <a:endParaRPr lang="en-US" sz="900" dirty="0"/>
          </a:p>
        </p:txBody>
      </p:sp>
      <p:sp>
        <p:nvSpPr>
          <p:cNvPr id="20" name="Shape 18"/>
          <p:cNvSpPr/>
          <p:nvPr/>
        </p:nvSpPr>
        <p:spPr>
          <a:xfrm>
            <a:off x="457200" y="3794760"/>
            <a:ext cx="8229600" cy="731520"/>
          </a:xfrm>
          <a:prstGeom prst="roundRect">
            <a:avLst>
              <a:gd name="adj" fmla="val 12500"/>
            </a:avLst>
          </a:prstGeom>
          <a:solidFill>
            <a:srgbClr val="FFFFFF"/>
          </a:solidFill>
          <a:ln w="19050">
            <a:solidFill>
              <a:srgbClr val="1B3A5C"/>
            </a:solidFill>
            <a:prstDash val="dash"/>
          </a:ln>
        </p:spPr>
      </p:sp>
      <p:sp>
        <p:nvSpPr>
          <p:cNvPr id="21" name="Text 19"/>
          <p:cNvSpPr txBox="1"/>
          <p:nvPr/>
        </p:nvSpPr>
        <p:spPr>
          <a:xfrm>
            <a:off x="640080" y="3867912"/>
            <a:ext cx="7863840" cy="585216"/>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IRTEERA-TXARTELA · 4 MIN   </a:t>
            </a:r>
            <a:pPr indent="0" marL="0">
              <a:buNone/>
            </a:pPr>
            <a:r>
              <a:rPr lang="en-US" sz="1300" dirty="0">
                <a:solidFill>
                  <a:srgbClr val="1A1A1A"/>
                </a:solidFill>
                <a:latin typeface="Arial" pitchFamily="34" charset="0"/>
                <a:ea typeface="Arial" pitchFamily="34" charset="-122"/>
                <a:cs typeface="Arial" pitchFamily="34" charset="-120"/>
              </a:rPr>
              <a:t>Tximinoek beldurra ikasi zuten sugeak kalterik egin gabe. Zer esan nahi du horrek kondizionamendu klasikoaz?</a:t>
            </a:r>
            <a:endParaRPr lang="en-US" sz="10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DD4ED"/>
        </a:solidFill>
      </p:bgPr>
    </p:bg>
    <p:spTree>
      <p:nvGrpSpPr>
        <p:cNvPr id="1" name=""/>
        <p:cNvGrpSpPr/>
        <p:nvPr/>
      </p:nvGrpSpPr>
      <p:grpSpPr>
        <a:xfrm>
          <a:off x="0" y="0"/>
          <a:ext cx="0" cy="0"/>
          <a:chOff x="0" y="0"/>
          <a:chExt cx="0" cy="0"/>
        </a:xfrm>
      </p:grpSpPr>
      <p:sp>
        <p:nvSpPr>
          <p:cNvPr id="2" name="Shape 0"/>
          <p:cNvSpPr/>
          <p:nvPr/>
        </p:nvSpPr>
        <p:spPr>
          <a:xfrm>
            <a:off x="548640" y="548640"/>
            <a:ext cx="822960" cy="457200"/>
          </a:xfrm>
          <a:prstGeom prst="roundRect">
            <a:avLst>
              <a:gd name="adj" fmla="val 20000"/>
            </a:avLst>
          </a:prstGeom>
          <a:solidFill>
            <a:srgbClr val="5C1A5C"/>
          </a:solidFill>
          <a:ln w="12700">
            <a:solidFill>
              <a:srgbClr val="5C1A5C"/>
            </a:solidFill>
            <a:prstDash val="solid"/>
          </a:ln>
        </p:spPr>
      </p:sp>
      <p:sp>
        <p:nvSpPr>
          <p:cNvPr id="3" name="Text 1"/>
          <p:cNvSpPr txBox="1"/>
          <p:nvPr/>
        </p:nvSpPr>
        <p:spPr>
          <a:xfrm>
            <a:off x="548640" y="548640"/>
            <a:ext cx="822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S6</a:t>
            </a:r>
            <a:endParaRPr lang="en-US" sz="1800" dirty="0"/>
          </a:p>
        </p:txBody>
      </p:sp>
      <p:sp>
        <p:nvSpPr>
          <p:cNvPr id="4" name="Text 2"/>
          <p:cNvSpPr txBox="1"/>
          <p:nvPr/>
        </p:nvSpPr>
        <p:spPr>
          <a:xfrm>
            <a:off x="1554480" y="548640"/>
            <a:ext cx="5029200" cy="457200"/>
          </a:xfrm>
          <a:prstGeom prst="rect">
            <a:avLst/>
          </a:prstGeom>
          <a:noFill/>
          <a:ln/>
        </p:spPr>
        <p:txBody>
          <a:bodyPr wrap="square" lIns="0" tIns="0" rIns="0" bIns="0" rtlCol="0" anchor="ctr"/>
          <a:lstStyle/>
          <a:p>
            <a:pPr indent="0" marL="0">
              <a:buNone/>
            </a:pPr>
            <a:r>
              <a:rPr lang="en-US" sz="1300" b="1" dirty="0">
                <a:solidFill>
                  <a:srgbClr val="5C1A5C"/>
                </a:solidFill>
                <a:latin typeface="Arial" pitchFamily="34" charset="0"/>
                <a:ea typeface="Arial" pitchFamily="34" charset="-122"/>
                <a:cs typeface="Arial" pitchFamily="34" charset="-120"/>
              </a:rPr>
              <a:t>4. kasua · Behaketa bidezko ikaskuntza · 50 min</a:t>
            </a:r>
            <a:endParaRPr lang="en-US" sz="1300" dirty="0"/>
          </a:p>
        </p:txBody>
      </p:sp>
      <p:sp>
        <p:nvSpPr>
          <p:cNvPr id="5" name="Text 0"/>
          <p:cNvSpPr/>
          <p:nvPr>
            <p:ph idx="100" type="title" hasCustomPrompt="1"/>
          </p:nvPr>
        </p:nvSpPr>
        <p:spPr>
          <a:xfrm>
            <a:off x="548640" y="1234440"/>
            <a:ext cx="6035040" cy="914400"/>
          </a:xfrm>
          <a:prstGeom prst="rect">
            <a:avLst/>
          </a:prstGeom>
          <a:noFill/>
          <a:ln/>
        </p:spPr>
        <p:txBody>
          <a:bodyPr wrap="square" lIns="0" tIns="0" rIns="0" bIns="0" rtlCol="0" anchor="t"/>
          <a:lstStyle/>
          <a:p>
            <a:pPr algn="l" indent="0" marL="0">
              <a:buNone/>
            </a:pPr>
            <a:r>
              <a:rPr lang="en-US" sz="3600" b="1" dirty="0">
                <a:solidFill>
                  <a:srgbClr val="1B3A5C"/>
                </a:solidFill>
              </a:rPr>
              <a:t>Kutxara itzuli</a:t>
            </a:r>
            <a:endParaRPr lang="en-US" sz="3600" dirty="0"/>
          </a:p>
        </p:txBody>
      </p:sp>
      <p:sp>
        <p:nvSpPr>
          <p:cNvPr id="6" name="Text 0"/>
          <p:cNvSpPr/>
          <p:nvPr>
            <p:ph idx="101" type="body" hasCustomPrompt="1"/>
          </p:nvPr>
        </p:nvSpPr>
        <p:spPr>
          <a:xfrm>
            <a:off x="548640" y="2514600"/>
            <a:ext cx="6035040" cy="1463040"/>
          </a:xfrm>
          <a:prstGeom prst="rect">
            <a:avLst/>
          </a:prstGeom>
          <a:noFill/>
          <a:ln/>
        </p:spPr>
        <p:txBody>
          <a:bodyPr wrap="square" lIns="0" tIns="0" rIns="0" bIns="0" rtlCol="0" anchor="t"/>
          <a:lstStyle/>
          <a:p>
            <a:pPr algn="l" indent="0" marL="0">
              <a:buNone/>
            </a:pPr>
            <a:r>
              <a:rPr lang="en-US" sz="2200" b="1" dirty="0">
                <a:solidFill>
                  <a:srgbClr val="1B3A5C"/>
                </a:solidFill>
              </a:rPr>
              <a:t>Zergatik kopiatzen dugu, alferrikakoa dela dakigunean ere?</a:t>
            </a:r>
            <a:endParaRPr lang="en-US" sz="2200" dirty="0"/>
          </a:p>
        </p:txBody>
      </p:sp>
      <p:sp>
        <p:nvSpPr>
          <p:cNvPr id="7" name="Shape 5"/>
          <p:cNvSpPr/>
          <p:nvPr/>
        </p:nvSpPr>
        <p:spPr>
          <a:xfrm>
            <a:off x="6720840" y="1325880"/>
            <a:ext cx="2011680" cy="20116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223760" y="1828800"/>
            <a:ext cx="1005840" cy="1005840"/>
          </a:xfrm>
          <a:prstGeom prst="rect">
            <a:avLst/>
          </a:prstGeom>
        </p:spPr>
      </p:pic>
      <p:sp>
        <p:nvSpPr>
          <p:cNvPr id="9" name="Text 6"/>
          <p:cNvSpPr txBox="1"/>
          <p:nvPr/>
        </p:nvSpPr>
        <p:spPr>
          <a:xfrm>
            <a:off x="548640" y="2240280"/>
            <a:ext cx="3657600" cy="274320"/>
          </a:xfrm>
          <a:prstGeom prst="rect">
            <a:avLst/>
          </a:prstGeom>
          <a:noFill/>
          <a:ln/>
        </p:spPr>
        <p:txBody>
          <a:bodyPr wrap="square" lIns="0" tIns="0" rIns="0" bIns="0" rtlCol="0" anchor="t"/>
          <a:lstStyle/>
          <a:p>
            <a:pPr indent="0" marL="0">
              <a:buNone/>
            </a:pPr>
            <a:r>
              <a:rPr lang="en-US" sz="1000" b="1" spc="200" kern="0" dirty="0">
                <a:solidFill>
                  <a:srgbClr val="5B6573"/>
                </a:solidFill>
                <a:latin typeface="Arial" pitchFamily="34" charset="0"/>
                <a:ea typeface="Arial" pitchFamily="34" charset="-122"/>
                <a:cs typeface="Arial" pitchFamily="34" charset="-120"/>
              </a:rPr>
              <a:t>GALDERA GIDARIA</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Horner eta Whiten (2005)</a:t>
            </a:r>
            <a:endParaRPr lang="en-US" sz="2800" dirty="0"/>
          </a:p>
        </p:txBody>
      </p:sp>
      <p:sp>
        <p:nvSpPr>
          <p:cNvPr id="3" name="Shape 1"/>
          <p:cNvSpPr/>
          <p:nvPr/>
        </p:nvSpPr>
        <p:spPr>
          <a:xfrm>
            <a:off x="7635240" y="429768"/>
            <a:ext cx="1051560" cy="365760"/>
          </a:xfrm>
          <a:prstGeom prst="roundRect">
            <a:avLst>
              <a:gd name="adj" fmla="val 25000"/>
            </a:avLst>
          </a:prstGeom>
          <a:solidFill>
            <a:srgbClr val="5C1A5C"/>
          </a:solidFill>
          <a:ln w="12700">
            <a:solidFill>
              <a:srgbClr val="5C1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S6</a:t>
            </a:r>
            <a:endParaRPr lang="en-US" sz="1200" dirty="0"/>
          </a:p>
        </p:txBody>
      </p:sp>
      <p:graphicFrame>
        <p:nvGraphicFramePr>
          <p:cNvPr id="5" name="Chart 0" descr=""/>
          <p:cNvGraphicFramePr/>
          <p:nvPr/>
        </p:nvGraphicFramePr>
        <p:xfrm>
          <a:off x="457200" y="1051560"/>
          <a:ext cx="493776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623560" y="1097280"/>
            <a:ext cx="3063240" cy="3429000"/>
          </a:xfrm>
          <a:prstGeom prst="roundRect">
            <a:avLst>
              <a:gd name="adj" fmla="val 3582"/>
            </a:avLst>
          </a:prstGeom>
          <a:solidFill>
            <a:srgbClr val="EDD4ED"/>
          </a:solidFill>
          <a:ln w="12700">
            <a:solidFill>
              <a:srgbClr val="EDD4ED"/>
            </a:solidFill>
            <a:prstDash val="solid"/>
          </a:ln>
        </p:spPr>
      </p:sp>
      <p:sp>
        <p:nvSpPr>
          <p:cNvPr id="7" name="Text 4"/>
          <p:cNvSpPr txBox="1"/>
          <p:nvPr/>
        </p:nvSpPr>
        <p:spPr>
          <a:xfrm>
            <a:off x="5806440" y="1234440"/>
            <a:ext cx="2743200" cy="3200400"/>
          </a:xfrm>
          <a:prstGeom prst="rect">
            <a:avLst/>
          </a:prstGeom>
          <a:noFill/>
          <a:ln/>
        </p:spPr>
        <p:txBody>
          <a:bodyPr wrap="square" lIns="0" tIns="0" rIns="0" bIns="0" rtlCol="0" anchor="t"/>
          <a:lstStyle/>
          <a:p>
            <a:pPr indent="0" marL="0">
              <a:buNone/>
            </a:pPr>
            <a:r>
              <a:rPr lang="en-US" sz="1250" b="1" dirty="0">
                <a:solidFill>
                  <a:srgbClr val="5C1A5C"/>
                </a:solidFill>
                <a:latin typeface="Arial" pitchFamily="34" charset="0"/>
                <a:ea typeface="Arial" pitchFamily="34" charset="-122"/>
                <a:cs typeface="Arial" pitchFamily="34" charset="-120"/>
              </a:rPr>
              <a:t>Parte-hartzaileak</a:t>
            </a:r>
            <a:endParaRPr lang="en-US" sz="1250" dirty="0"/>
          </a:p>
          <a:p>
            <a:pPr indent="0" marL="0">
              <a:buNone/>
            </a:pPr>
            <a:r>
              <a:rPr lang="en-US" sz="1250" dirty="0">
                <a:solidFill>
                  <a:srgbClr val="1A1A1A"/>
                </a:solidFill>
                <a:latin typeface="Arial" pitchFamily="34" charset="0"/>
                <a:ea typeface="Arial" pitchFamily="34" charset="-122"/>
                <a:cs typeface="Arial" pitchFamily="34" charset="-120"/>
              </a:rPr>
              <a:t>12 txinpantze (2-6 urte, Uganda) eta 16 haur (3-4 urte, Eskozia)</a:t>
            </a:r>
            <a:endParaRPr lang="en-US" sz="1250" dirty="0"/>
          </a:p>
          <a:p>
            <a:pPr indent="0" marL="0">
              <a:buNone/>
            </a:pPr>
            <a:r>
              <a:rPr lang="en-US" sz="600" dirty="0">
                <a:solidFill>
                  <a:srgbClr val="1A1A1A"/>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5C1A5C"/>
                </a:solidFill>
                <a:latin typeface="Arial" pitchFamily="34" charset="0"/>
                <a:ea typeface="Arial" pitchFamily="34" charset="-122"/>
                <a:cs typeface="Arial" pitchFamily="34" charset="-120"/>
              </a:rPr>
              <a:t>Kutxa</a:t>
            </a:r>
            <a:endParaRPr lang="en-US" sz="1250" dirty="0"/>
          </a:p>
          <a:p>
            <a:pPr indent="0" marL="0">
              <a:buNone/>
            </a:pPr>
            <a:r>
              <a:rPr lang="en-US" sz="1250" dirty="0">
                <a:solidFill>
                  <a:srgbClr val="1A1A1A"/>
                </a:solidFill>
                <a:latin typeface="Arial" pitchFamily="34" charset="0"/>
                <a:ea typeface="Arial" pitchFamily="34" charset="-122"/>
                <a:cs typeface="Arial" pitchFamily="34" charset="-120"/>
              </a:rPr>
              <a:t>Goiko zuloak ez du ezertarako balio; aurreko ateak, bai. Gardenarekin, hori IKUS daiteke.</a:t>
            </a:r>
            <a:endParaRPr lang="en-US" sz="1250" dirty="0"/>
          </a:p>
          <a:p>
            <a:pPr indent="0" marL="0">
              <a:buNone/>
            </a:pPr>
            <a:r>
              <a:rPr lang="en-US" sz="600" dirty="0">
                <a:solidFill>
                  <a:srgbClr val="1A1A1A"/>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5C1A5C"/>
                </a:solidFill>
                <a:latin typeface="Arial" pitchFamily="34" charset="0"/>
                <a:ea typeface="Arial" pitchFamily="34" charset="-122"/>
                <a:cs typeface="Arial" pitchFamily="34" charset="-120"/>
              </a:rPr>
              <a:t>Zuen S1eko datuak?</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Eta helduok?</a:t>
            </a:r>
            <a:endParaRPr lang="en-US" sz="2800" dirty="0"/>
          </a:p>
        </p:txBody>
      </p:sp>
      <p:sp>
        <p:nvSpPr>
          <p:cNvPr id="3" name="Shape 1"/>
          <p:cNvSpPr/>
          <p:nvPr/>
        </p:nvSpPr>
        <p:spPr>
          <a:xfrm>
            <a:off x="7635240" y="429768"/>
            <a:ext cx="1051560" cy="365760"/>
          </a:xfrm>
          <a:prstGeom prst="roundRect">
            <a:avLst>
              <a:gd name="adj" fmla="val 25000"/>
            </a:avLst>
          </a:prstGeom>
          <a:solidFill>
            <a:srgbClr val="5C1A5C"/>
          </a:solidFill>
          <a:ln w="12700">
            <a:solidFill>
              <a:srgbClr val="5C1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S6</a:t>
            </a:r>
            <a:endParaRPr lang="en-US" sz="1200" dirty="0"/>
          </a:p>
        </p:txBody>
      </p:sp>
      <p:sp>
        <p:nvSpPr>
          <p:cNvPr id="5" name="Shape 3"/>
          <p:cNvSpPr/>
          <p:nvPr/>
        </p:nvSpPr>
        <p:spPr>
          <a:xfrm>
            <a:off x="457200" y="1097280"/>
            <a:ext cx="4023360" cy="2331720"/>
          </a:xfrm>
          <a:prstGeom prst="roundRect">
            <a:avLst>
              <a:gd name="adj" fmla="val 4706"/>
            </a:avLst>
          </a:prstGeom>
          <a:solidFill>
            <a:srgbClr val="EDD4ED"/>
          </a:solidFill>
          <a:ln w="12700">
            <a:solidFill>
              <a:srgbClr val="EDD4ED"/>
            </a:solidFill>
            <a:prstDash val="solid"/>
          </a:ln>
        </p:spPr>
      </p:sp>
      <p:sp>
        <p:nvSpPr>
          <p:cNvPr id="6" name="Text 4"/>
          <p:cNvSpPr txBox="1"/>
          <p:nvPr/>
        </p:nvSpPr>
        <p:spPr>
          <a:xfrm>
            <a:off x="640080" y="1188720"/>
            <a:ext cx="3657600" cy="365760"/>
          </a:xfrm>
          <a:prstGeom prst="rect">
            <a:avLst/>
          </a:prstGeom>
          <a:noFill/>
          <a:ln/>
        </p:spPr>
        <p:txBody>
          <a:bodyPr wrap="square" lIns="0" tIns="0" rIns="0" bIns="0" rtlCol="0" anchor="t"/>
          <a:lstStyle/>
          <a:p>
            <a:pPr indent="0" marL="0">
              <a:buNone/>
            </a:pPr>
            <a:r>
              <a:rPr lang="en-US" sz="1500" b="1" dirty="0">
                <a:solidFill>
                  <a:srgbClr val="5C1A5C"/>
                </a:solidFill>
                <a:latin typeface="Arial" pitchFamily="34" charset="0"/>
                <a:ea typeface="Arial" pitchFamily="34" charset="-122"/>
                <a:cs typeface="Arial" pitchFamily="34" charset="-120"/>
              </a:rPr>
              <a:t>Lyons, Young eta Keil (2007)</a:t>
            </a:r>
            <a:endParaRPr lang="en-US" sz="1500" dirty="0"/>
          </a:p>
        </p:txBody>
      </p:sp>
      <p:sp>
        <p:nvSpPr>
          <p:cNvPr id="7" name="Text 5"/>
          <p:cNvSpPr txBox="1"/>
          <p:nvPr/>
        </p:nvSpPr>
        <p:spPr>
          <a:xfrm>
            <a:off x="640080" y="1645920"/>
            <a:ext cx="3657600" cy="1645920"/>
          </a:xfrm>
          <a:prstGeom prst="rect">
            <a:avLst/>
          </a:prstGeom>
          <a:noFill/>
          <a:ln/>
        </p:spPr>
        <p:txBody>
          <a:bodyPr wrap="square" lIns="0" tIns="0" rIns="0" bIns="0" rtlCol="0" anchor="t"/>
          <a:lstStyle/>
          <a:p>
            <a:pPr indent="0" marL="0">
              <a:buNone/>
            </a:pPr>
            <a:r>
              <a:rPr lang="en-US" sz="1350" dirty="0">
                <a:solidFill>
                  <a:srgbClr val="1A1A1A"/>
                </a:solidFill>
                <a:latin typeface="Arial" pitchFamily="34" charset="0"/>
                <a:ea typeface="Arial" pitchFamily="34" charset="-122"/>
                <a:cs typeface="Arial" pitchFamily="34" charset="-120"/>
              </a:rPr>
              <a:t>3-5 urteko haurrei esan zieten: «Egin behar duzuna bakarrik egin». Hala ere, ekintza alferrikakoak kopiatzen jarraitu zuten.</a:t>
            </a:r>
            <a:endParaRPr lang="en-US" sz="1350" dirty="0"/>
          </a:p>
        </p:txBody>
      </p:sp>
      <p:sp>
        <p:nvSpPr>
          <p:cNvPr id="8" name="Shape 6"/>
          <p:cNvSpPr/>
          <p:nvPr/>
        </p:nvSpPr>
        <p:spPr>
          <a:xfrm>
            <a:off x="4663440" y="1097280"/>
            <a:ext cx="4023360" cy="2331720"/>
          </a:xfrm>
          <a:prstGeom prst="roundRect">
            <a:avLst>
              <a:gd name="adj" fmla="val 4706"/>
            </a:avLst>
          </a:prstGeom>
          <a:solidFill>
            <a:srgbClr val="EDD4ED"/>
          </a:solidFill>
          <a:ln w="12700">
            <a:solidFill>
              <a:srgbClr val="EDD4ED"/>
            </a:solidFill>
            <a:prstDash val="solid"/>
          </a:ln>
        </p:spPr>
      </p:sp>
      <p:sp>
        <p:nvSpPr>
          <p:cNvPr id="9" name="Text 7"/>
          <p:cNvSpPr txBox="1"/>
          <p:nvPr/>
        </p:nvSpPr>
        <p:spPr>
          <a:xfrm>
            <a:off x="4846320" y="1188720"/>
            <a:ext cx="3657600" cy="365760"/>
          </a:xfrm>
          <a:prstGeom prst="rect">
            <a:avLst/>
          </a:prstGeom>
          <a:noFill/>
          <a:ln/>
        </p:spPr>
        <p:txBody>
          <a:bodyPr wrap="square" lIns="0" tIns="0" rIns="0" bIns="0" rtlCol="0" anchor="t"/>
          <a:lstStyle/>
          <a:p>
            <a:pPr indent="0" marL="0">
              <a:buNone/>
            </a:pPr>
            <a:r>
              <a:rPr lang="en-US" sz="1500" b="1" dirty="0">
                <a:solidFill>
                  <a:srgbClr val="5C1A5C"/>
                </a:solidFill>
                <a:latin typeface="Arial" pitchFamily="34" charset="0"/>
                <a:ea typeface="Arial" pitchFamily="34" charset="-122"/>
                <a:cs typeface="Arial" pitchFamily="34" charset="-120"/>
              </a:rPr>
              <a:t>McGuigan eta lank. (2011)</a:t>
            </a:r>
            <a:endParaRPr lang="en-US" sz="1500" dirty="0"/>
          </a:p>
        </p:txBody>
      </p:sp>
      <p:sp>
        <p:nvSpPr>
          <p:cNvPr id="10" name="Text 8"/>
          <p:cNvSpPr txBox="1"/>
          <p:nvPr/>
        </p:nvSpPr>
        <p:spPr>
          <a:xfrm>
            <a:off x="4846320" y="1645920"/>
            <a:ext cx="3657600" cy="1645920"/>
          </a:xfrm>
          <a:prstGeom prst="rect">
            <a:avLst/>
          </a:prstGeom>
          <a:noFill/>
          <a:ln/>
        </p:spPr>
        <p:txBody>
          <a:bodyPr wrap="square" lIns="0" tIns="0" rIns="0" bIns="0" rtlCol="0" anchor="t"/>
          <a:lstStyle/>
          <a:p>
            <a:pPr indent="0" marL="0">
              <a:buNone/>
            </a:pPr>
            <a:r>
              <a:rPr lang="en-US" sz="1350" dirty="0">
                <a:solidFill>
                  <a:srgbClr val="1A1A1A"/>
                </a:solidFill>
                <a:latin typeface="Arial" pitchFamily="34" charset="0"/>
                <a:ea typeface="Arial" pitchFamily="34" charset="-122"/>
                <a:cs typeface="Arial" pitchFamily="34" charset="-120"/>
              </a:rPr>
              <a:t>Kutxa gardenarekin, helduek haurrek baino GEHIAGO kopiatu zuten. Adin guztietan, gehiago eredua heldua zenean.</a:t>
            </a:r>
            <a:endParaRPr lang="en-US" sz="1350" dirty="0"/>
          </a:p>
        </p:txBody>
      </p:sp>
      <p:sp>
        <p:nvSpPr>
          <p:cNvPr id="11" name="Shape 9"/>
          <p:cNvSpPr/>
          <p:nvPr/>
        </p:nvSpPr>
        <p:spPr>
          <a:xfrm>
            <a:off x="457200" y="3611880"/>
            <a:ext cx="8229600" cy="914400"/>
          </a:xfrm>
          <a:prstGeom prst="roundRect">
            <a:avLst>
              <a:gd name="adj" fmla="val 12000"/>
            </a:avLst>
          </a:prstGeom>
          <a:solidFill>
            <a:srgbClr val="F7F7F5"/>
          </a:solidFill>
          <a:ln w="12700">
            <a:solidFill>
              <a:srgbClr val="F7F7F5"/>
            </a:solidFill>
            <a:prstDash val="solid"/>
          </a:ln>
        </p:spPr>
      </p:sp>
      <p:sp>
        <p:nvSpPr>
          <p:cNvPr id="12" name="Text 10"/>
          <p:cNvSpPr txBox="1"/>
          <p:nvPr/>
        </p:nvSpPr>
        <p:spPr>
          <a:xfrm>
            <a:off x="640080" y="3611880"/>
            <a:ext cx="7863840" cy="914400"/>
          </a:xfrm>
          <a:prstGeom prst="rect">
            <a:avLst/>
          </a:prstGeom>
          <a:noFill/>
          <a:ln/>
        </p:spPr>
        <p:txBody>
          <a:bodyPr wrap="square" lIns="0" tIns="0" rIns="0" bIns="0" rtlCol="0" anchor="ctr"/>
          <a:lstStyle/>
          <a:p>
            <a:pPr indent="0" marL="0">
              <a:buNone/>
            </a:pPr>
            <a:r>
              <a:rPr lang="en-US" sz="1300" b="1" dirty="0">
                <a:solidFill>
                  <a:srgbClr val="5C1A5C"/>
                </a:solidFill>
                <a:latin typeface="Arial" pitchFamily="34" charset="0"/>
                <a:ea typeface="Arial" pitchFamily="34" charset="-122"/>
                <a:cs typeface="Arial" pitchFamily="34" charset="-120"/>
              </a:rPr>
              <a:t>Imitazioa </a:t>
            </a:r>
            <a:pPr indent="0" marL="0">
              <a:buNone/>
            </a:pPr>
            <a:r>
              <a:rPr lang="en-US" sz="1300" dirty="0">
                <a:solidFill>
                  <a:srgbClr val="1A1A1A"/>
                </a:solidFill>
                <a:latin typeface="Arial" pitchFamily="34" charset="0"/>
                <a:ea typeface="Arial" pitchFamily="34" charset="-122"/>
                <a:cs typeface="Arial" pitchFamily="34" charset="-120"/>
              </a:rPr>
              <a:t>= ekintzak kopiatu.   </a:t>
            </a:r>
            <a:pPr indent="0" marL="0">
              <a:buNone/>
            </a:pPr>
            <a:r>
              <a:rPr lang="en-US" sz="1300" b="1" dirty="0">
                <a:solidFill>
                  <a:srgbClr val="5C1A5C"/>
                </a:solidFill>
                <a:latin typeface="Arial" pitchFamily="34" charset="0"/>
                <a:ea typeface="Arial" pitchFamily="34" charset="-122"/>
                <a:cs typeface="Arial" pitchFamily="34" charset="-120"/>
              </a:rPr>
              <a:t>Emulazioa </a:t>
            </a:r>
            <a:pPr indent="0" marL="0">
              <a:buNone/>
            </a:pPr>
            <a:r>
              <a:rPr lang="en-US" sz="1300" dirty="0">
                <a:solidFill>
                  <a:srgbClr val="1A1A1A"/>
                </a:solidFill>
                <a:latin typeface="Arial" pitchFamily="34" charset="0"/>
                <a:ea typeface="Arial" pitchFamily="34" charset="-122"/>
                <a:cs typeface="Arial" pitchFamily="34" charset="-120"/>
              </a:rPr>
              <a:t>= emaitza kopiatu, bidea norberak asmatu.   </a:t>
            </a:r>
            <a:pPr indent="0" marL="0">
              <a:buNone/>
            </a:pPr>
            <a:r>
              <a:rPr lang="en-US" sz="1300" b="1" dirty="0">
                <a:solidFill>
                  <a:srgbClr val="5C1A5C"/>
                </a:solidFill>
                <a:latin typeface="Arial" pitchFamily="34" charset="0"/>
                <a:ea typeface="Arial" pitchFamily="34" charset="-122"/>
                <a:cs typeface="Arial" pitchFamily="34" charset="-120"/>
              </a:rPr>
              <a:t>Bandura: </a:t>
            </a:r>
            <a:pPr indent="0" marL="0">
              <a:buNone/>
            </a:pPr>
            <a:r>
              <a:rPr lang="en-US" sz="1300" dirty="0">
                <a:solidFill>
                  <a:srgbClr val="1A1A1A"/>
                </a:solidFill>
                <a:latin typeface="Arial" pitchFamily="34" charset="0"/>
                <a:ea typeface="Arial" pitchFamily="34" charset="-122"/>
                <a:cs typeface="Arial" pitchFamily="34" charset="-120"/>
              </a:rPr>
              <a:t>arreta, atxikipena, erreprodukzioa, motibazioa.</a:t>
            </a:r>
            <a:endParaRPr lang="en-US" sz="13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Emaitza, interpretazioa ala orokortzea?</a:t>
            </a:r>
            <a:endParaRPr lang="en-US" sz="2800" dirty="0"/>
          </a:p>
        </p:txBody>
      </p:sp>
      <p:sp>
        <p:nvSpPr>
          <p:cNvPr id="3" name="Shape 1"/>
          <p:cNvSpPr/>
          <p:nvPr/>
        </p:nvSpPr>
        <p:spPr>
          <a:xfrm>
            <a:off x="7635240" y="429768"/>
            <a:ext cx="1051560" cy="365760"/>
          </a:xfrm>
          <a:prstGeom prst="roundRect">
            <a:avLst>
              <a:gd name="adj" fmla="val 25000"/>
            </a:avLst>
          </a:prstGeom>
          <a:solidFill>
            <a:srgbClr val="5C1A5C"/>
          </a:solidFill>
          <a:ln w="12700">
            <a:solidFill>
              <a:srgbClr val="5C1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S6</a:t>
            </a:r>
            <a:endParaRPr lang="en-US" sz="1200" dirty="0"/>
          </a:p>
        </p:txBody>
      </p:sp>
      <p:sp>
        <p:nvSpPr>
          <p:cNvPr id="5" name="Text 3"/>
          <p:cNvSpPr txBox="1"/>
          <p:nvPr/>
        </p:nvSpPr>
        <p:spPr>
          <a:xfrm>
            <a:off x="457200" y="1005840"/>
            <a:ext cx="8229600" cy="365760"/>
          </a:xfrm>
          <a:prstGeom prst="rect">
            <a:avLst/>
          </a:prstGeom>
          <a:noFill/>
          <a:ln/>
        </p:spPr>
        <p:txBody>
          <a:bodyPr wrap="square" lIns="0" tIns="0" rIns="0" bIns="0" rtlCol="0" anchor="t"/>
          <a:lstStyle/>
          <a:p>
            <a:pPr indent="0" marL="0">
              <a:buNone/>
            </a:pPr>
            <a:r>
              <a:rPr lang="en-US" sz="1350" b="1" dirty="0">
                <a:solidFill>
                  <a:srgbClr val="5C1A5C"/>
                </a:solidFill>
                <a:latin typeface="Arial" pitchFamily="34" charset="0"/>
                <a:ea typeface="Arial" pitchFamily="34" charset="-122"/>
                <a:cs typeface="Arial" pitchFamily="34" charset="-120"/>
              </a:rPr>
              <a:t>Sailkatu esaldi bakoitza:  E (emaitza) · I (interpretazioa) · GO (gehiegizko orokortzea)</a:t>
            </a:r>
            <a:endParaRPr lang="en-US" sz="1350" dirty="0"/>
          </a:p>
        </p:txBody>
      </p:sp>
      <p:sp>
        <p:nvSpPr>
          <p:cNvPr id="6" name="Shape 4"/>
          <p:cNvSpPr/>
          <p:nvPr/>
        </p:nvSpPr>
        <p:spPr>
          <a:xfrm>
            <a:off x="457200" y="1481328"/>
            <a:ext cx="8229600" cy="420624"/>
          </a:xfrm>
          <a:prstGeom prst="roundRect">
            <a:avLst>
              <a:gd name="adj" fmla="val 26087"/>
            </a:avLst>
          </a:prstGeom>
          <a:solidFill>
            <a:srgbClr val="F7F7F5"/>
          </a:solidFill>
          <a:ln w="12700">
            <a:solidFill>
              <a:srgbClr val="F7F7F5"/>
            </a:solidFill>
            <a:prstDash val="solid"/>
          </a:ln>
        </p:spPr>
      </p:sp>
      <p:sp>
        <p:nvSpPr>
          <p:cNvPr id="7" name="Text 5"/>
          <p:cNvSpPr txBox="1"/>
          <p:nvPr/>
        </p:nvSpPr>
        <p:spPr>
          <a:xfrm>
            <a:off x="640080" y="1481328"/>
            <a:ext cx="6949440" cy="42062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 Kutxa gardenarekin, txinpantzeek alferrikako ekintzen % 6 egin zuten.</a:t>
            </a:r>
            <a:endParaRPr lang="en-US" sz="1350" dirty="0"/>
          </a:p>
        </p:txBody>
      </p:sp>
      <p:sp>
        <p:nvSpPr>
          <p:cNvPr id="8" name="Shape 6"/>
          <p:cNvSpPr/>
          <p:nvPr/>
        </p:nvSpPr>
        <p:spPr>
          <a:xfrm>
            <a:off x="7818120" y="1536192"/>
            <a:ext cx="685800" cy="310896"/>
          </a:xfrm>
          <a:prstGeom prst="roundRect">
            <a:avLst>
              <a:gd name="adj" fmla="val 17647"/>
            </a:avLst>
          </a:prstGeom>
          <a:solidFill>
            <a:srgbClr val="FFFFFF"/>
          </a:solidFill>
          <a:ln w="12700">
            <a:solidFill>
              <a:srgbClr val="5C1A5C"/>
            </a:solidFill>
            <a:prstDash val="solid"/>
          </a:ln>
        </p:spPr>
      </p:sp>
      <p:sp>
        <p:nvSpPr>
          <p:cNvPr id="9" name="Shape 7"/>
          <p:cNvSpPr/>
          <p:nvPr/>
        </p:nvSpPr>
        <p:spPr>
          <a:xfrm>
            <a:off x="457200" y="1984248"/>
            <a:ext cx="8229600" cy="420624"/>
          </a:xfrm>
          <a:prstGeom prst="roundRect">
            <a:avLst>
              <a:gd name="adj" fmla="val 26087"/>
            </a:avLst>
          </a:prstGeom>
          <a:solidFill>
            <a:srgbClr val="FFFFFF"/>
          </a:solidFill>
          <a:ln w="12700">
            <a:solidFill>
              <a:srgbClr val="FFFFFF"/>
            </a:solidFill>
            <a:prstDash val="solid"/>
          </a:ln>
        </p:spPr>
      </p:sp>
      <p:sp>
        <p:nvSpPr>
          <p:cNvPr id="10" name="Text 8"/>
          <p:cNvSpPr txBox="1"/>
          <p:nvPr/>
        </p:nvSpPr>
        <p:spPr>
          <a:xfrm>
            <a:off x="640080" y="1984248"/>
            <a:ext cx="6949440" cy="42062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 Txinpantzeak haurrak baino adimentsuagoak dira.</a:t>
            </a:r>
            <a:endParaRPr lang="en-US" sz="1350" dirty="0"/>
          </a:p>
        </p:txBody>
      </p:sp>
      <p:sp>
        <p:nvSpPr>
          <p:cNvPr id="11" name="Shape 9"/>
          <p:cNvSpPr/>
          <p:nvPr/>
        </p:nvSpPr>
        <p:spPr>
          <a:xfrm>
            <a:off x="7818120" y="2039112"/>
            <a:ext cx="685800" cy="310896"/>
          </a:xfrm>
          <a:prstGeom prst="roundRect">
            <a:avLst>
              <a:gd name="adj" fmla="val 17647"/>
            </a:avLst>
          </a:prstGeom>
          <a:solidFill>
            <a:srgbClr val="FFFFFF"/>
          </a:solidFill>
          <a:ln w="12700">
            <a:solidFill>
              <a:srgbClr val="5C1A5C"/>
            </a:solidFill>
            <a:prstDash val="solid"/>
          </a:ln>
        </p:spPr>
      </p:sp>
      <p:sp>
        <p:nvSpPr>
          <p:cNvPr id="12" name="Shape 10"/>
          <p:cNvSpPr/>
          <p:nvPr/>
        </p:nvSpPr>
        <p:spPr>
          <a:xfrm>
            <a:off x="457200" y="2487168"/>
            <a:ext cx="8229600" cy="420624"/>
          </a:xfrm>
          <a:prstGeom prst="roundRect">
            <a:avLst>
              <a:gd name="adj" fmla="val 26087"/>
            </a:avLst>
          </a:prstGeom>
          <a:solidFill>
            <a:srgbClr val="F7F7F5"/>
          </a:solidFill>
          <a:ln w="12700">
            <a:solidFill>
              <a:srgbClr val="F7F7F5"/>
            </a:solidFill>
            <a:prstDash val="solid"/>
          </a:ln>
        </p:spPr>
      </p:sp>
      <p:sp>
        <p:nvSpPr>
          <p:cNvPr id="13" name="Text 11"/>
          <p:cNvSpPr txBox="1"/>
          <p:nvPr/>
        </p:nvSpPr>
        <p:spPr>
          <a:xfrm>
            <a:off x="640080" y="2487168"/>
            <a:ext cx="6949440" cy="42062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 Haurrek ekintzak kopiatu zituzten, kutxa gardena izan arren.</a:t>
            </a:r>
            <a:endParaRPr lang="en-US" sz="1350" dirty="0"/>
          </a:p>
        </p:txBody>
      </p:sp>
      <p:sp>
        <p:nvSpPr>
          <p:cNvPr id="14" name="Shape 12"/>
          <p:cNvSpPr/>
          <p:nvPr/>
        </p:nvSpPr>
        <p:spPr>
          <a:xfrm>
            <a:off x="7818120" y="2542032"/>
            <a:ext cx="685800" cy="310896"/>
          </a:xfrm>
          <a:prstGeom prst="roundRect">
            <a:avLst>
              <a:gd name="adj" fmla="val 17647"/>
            </a:avLst>
          </a:prstGeom>
          <a:solidFill>
            <a:srgbClr val="FFFFFF"/>
          </a:solidFill>
          <a:ln w="12700">
            <a:solidFill>
              <a:srgbClr val="5C1A5C"/>
            </a:solidFill>
            <a:prstDash val="solid"/>
          </a:ln>
        </p:spPr>
      </p:sp>
      <p:sp>
        <p:nvSpPr>
          <p:cNvPr id="15" name="Shape 13"/>
          <p:cNvSpPr/>
          <p:nvPr/>
        </p:nvSpPr>
        <p:spPr>
          <a:xfrm>
            <a:off x="457200" y="2990088"/>
            <a:ext cx="8229600" cy="420624"/>
          </a:xfrm>
          <a:prstGeom prst="roundRect">
            <a:avLst>
              <a:gd name="adj" fmla="val 26087"/>
            </a:avLst>
          </a:prstGeom>
          <a:solidFill>
            <a:srgbClr val="FFFFFF"/>
          </a:solidFill>
          <a:ln w="12700">
            <a:solidFill>
              <a:srgbClr val="FFFFFF"/>
            </a:solidFill>
            <a:prstDash val="solid"/>
          </a:ln>
        </p:spPr>
      </p:sp>
      <p:sp>
        <p:nvSpPr>
          <p:cNvPr id="16" name="Text 14"/>
          <p:cNvSpPr txBox="1"/>
          <p:nvPr/>
        </p:nvSpPr>
        <p:spPr>
          <a:xfrm>
            <a:off x="640080" y="2990088"/>
            <a:ext cx="6949440" cy="42062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 Haurrek uste dute helduaren ekintza guztiek badutela helburu bat.</a:t>
            </a:r>
            <a:endParaRPr lang="en-US" sz="1350" dirty="0"/>
          </a:p>
        </p:txBody>
      </p:sp>
      <p:sp>
        <p:nvSpPr>
          <p:cNvPr id="17" name="Shape 15"/>
          <p:cNvSpPr/>
          <p:nvPr/>
        </p:nvSpPr>
        <p:spPr>
          <a:xfrm>
            <a:off x="7818120" y="3044952"/>
            <a:ext cx="685800" cy="310896"/>
          </a:xfrm>
          <a:prstGeom prst="roundRect">
            <a:avLst>
              <a:gd name="adj" fmla="val 17647"/>
            </a:avLst>
          </a:prstGeom>
          <a:solidFill>
            <a:srgbClr val="FFFFFF"/>
          </a:solidFill>
          <a:ln w="12700">
            <a:solidFill>
              <a:srgbClr val="5C1A5C"/>
            </a:solidFill>
            <a:prstDash val="solid"/>
          </a:ln>
        </p:spPr>
      </p:sp>
      <p:sp>
        <p:nvSpPr>
          <p:cNvPr id="18" name="Shape 16"/>
          <p:cNvSpPr/>
          <p:nvPr/>
        </p:nvSpPr>
        <p:spPr>
          <a:xfrm>
            <a:off x="457200" y="3493008"/>
            <a:ext cx="8229600" cy="420624"/>
          </a:xfrm>
          <a:prstGeom prst="roundRect">
            <a:avLst>
              <a:gd name="adj" fmla="val 26087"/>
            </a:avLst>
          </a:prstGeom>
          <a:solidFill>
            <a:srgbClr val="F7F7F5"/>
          </a:solidFill>
          <a:ln w="12700">
            <a:solidFill>
              <a:srgbClr val="F7F7F5"/>
            </a:solidFill>
            <a:prstDash val="solid"/>
          </a:ln>
        </p:spPr>
      </p:sp>
      <p:sp>
        <p:nvSpPr>
          <p:cNvPr id="19" name="Text 17"/>
          <p:cNvSpPr txBox="1"/>
          <p:nvPr/>
        </p:nvSpPr>
        <p:spPr>
          <a:xfrm>
            <a:off x="640080" y="3493008"/>
            <a:ext cx="6949440" cy="42062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 Gizakiok ez dugu ezer ulertzen; dena kopiatzen dugu.</a:t>
            </a:r>
            <a:endParaRPr lang="en-US" sz="1350" dirty="0"/>
          </a:p>
        </p:txBody>
      </p:sp>
      <p:sp>
        <p:nvSpPr>
          <p:cNvPr id="20" name="Shape 18"/>
          <p:cNvSpPr/>
          <p:nvPr/>
        </p:nvSpPr>
        <p:spPr>
          <a:xfrm>
            <a:off x="7818120" y="3547872"/>
            <a:ext cx="685800" cy="310896"/>
          </a:xfrm>
          <a:prstGeom prst="roundRect">
            <a:avLst>
              <a:gd name="adj" fmla="val 17647"/>
            </a:avLst>
          </a:prstGeom>
          <a:solidFill>
            <a:srgbClr val="FFFFFF"/>
          </a:solidFill>
          <a:ln w="12700">
            <a:solidFill>
              <a:srgbClr val="5C1A5C"/>
            </a:solidFill>
            <a:prstDash val="solid"/>
          </a:ln>
        </p:spPr>
      </p:sp>
      <p:sp>
        <p:nvSpPr>
          <p:cNvPr id="21" name="Shape 19"/>
          <p:cNvSpPr/>
          <p:nvPr/>
        </p:nvSpPr>
        <p:spPr>
          <a:xfrm>
            <a:off x="457200" y="3995928"/>
            <a:ext cx="8229600" cy="420624"/>
          </a:xfrm>
          <a:prstGeom prst="roundRect">
            <a:avLst>
              <a:gd name="adj" fmla="val 26087"/>
            </a:avLst>
          </a:prstGeom>
          <a:solidFill>
            <a:srgbClr val="FFFFFF"/>
          </a:solidFill>
          <a:ln w="12700">
            <a:solidFill>
              <a:srgbClr val="FFFFFF"/>
            </a:solidFill>
            <a:prstDash val="solid"/>
          </a:ln>
        </p:spPr>
      </p:sp>
      <p:sp>
        <p:nvSpPr>
          <p:cNvPr id="22" name="Text 20"/>
          <p:cNvSpPr txBox="1"/>
          <p:nvPr/>
        </p:nvSpPr>
        <p:spPr>
          <a:xfrm>
            <a:off x="640080" y="3995928"/>
            <a:ext cx="6949440" cy="42062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f) Gehiegizko imitazioak kultura transmititzen laguntzen du.</a:t>
            </a:r>
            <a:endParaRPr lang="en-US" sz="1350" dirty="0"/>
          </a:p>
        </p:txBody>
      </p:sp>
      <p:sp>
        <p:nvSpPr>
          <p:cNvPr id="23" name="Shape 21"/>
          <p:cNvSpPr/>
          <p:nvPr/>
        </p:nvSpPr>
        <p:spPr>
          <a:xfrm>
            <a:off x="7818120" y="4050792"/>
            <a:ext cx="685800" cy="310896"/>
          </a:xfrm>
          <a:prstGeom prst="roundRect">
            <a:avLst>
              <a:gd name="adj" fmla="val 17647"/>
            </a:avLst>
          </a:prstGeom>
          <a:solidFill>
            <a:srgbClr val="FFFFFF"/>
          </a:solidFill>
          <a:ln w="12700">
            <a:solidFill>
              <a:srgbClr val="5C1A5C"/>
            </a:solidFill>
            <a:prstDash val="solid"/>
          </a:ln>
        </p:spPr>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Hiru azalpen (ez dira elkarren aurkakoak)</a:t>
            </a:r>
            <a:endParaRPr lang="en-US" sz="2800" dirty="0"/>
          </a:p>
        </p:txBody>
      </p:sp>
      <p:sp>
        <p:nvSpPr>
          <p:cNvPr id="3" name="Shape 1"/>
          <p:cNvSpPr/>
          <p:nvPr/>
        </p:nvSpPr>
        <p:spPr>
          <a:xfrm>
            <a:off x="7635240" y="429768"/>
            <a:ext cx="1051560" cy="365760"/>
          </a:xfrm>
          <a:prstGeom prst="roundRect">
            <a:avLst>
              <a:gd name="adj" fmla="val 25000"/>
            </a:avLst>
          </a:prstGeom>
          <a:solidFill>
            <a:srgbClr val="5C1A5C"/>
          </a:solidFill>
          <a:ln w="12700">
            <a:solidFill>
              <a:srgbClr val="5C1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S6</a:t>
            </a:r>
            <a:endParaRPr lang="en-US" sz="1200" dirty="0"/>
          </a:p>
        </p:txBody>
      </p:sp>
      <p:sp>
        <p:nvSpPr>
          <p:cNvPr id="5" name="Shape 3"/>
          <p:cNvSpPr/>
          <p:nvPr/>
        </p:nvSpPr>
        <p:spPr>
          <a:xfrm>
            <a:off x="457200" y="1097280"/>
            <a:ext cx="2596896" cy="2148840"/>
          </a:xfrm>
          <a:prstGeom prst="roundRect">
            <a:avLst>
              <a:gd name="adj" fmla="val 5106"/>
            </a:avLst>
          </a:prstGeom>
          <a:solidFill>
            <a:srgbClr val="EDD4ED"/>
          </a:solidFill>
          <a:ln w="12700">
            <a:solidFill>
              <a:srgbClr val="EDD4ED"/>
            </a:solidFill>
            <a:prstDash val="solid"/>
          </a:ln>
        </p:spPr>
      </p:sp>
      <p:sp>
        <p:nvSpPr>
          <p:cNvPr id="6" name="Text 4"/>
          <p:cNvSpPr txBox="1"/>
          <p:nvPr/>
        </p:nvSpPr>
        <p:spPr>
          <a:xfrm>
            <a:off x="640080" y="1188720"/>
            <a:ext cx="548640" cy="548640"/>
          </a:xfrm>
          <a:prstGeom prst="rect">
            <a:avLst/>
          </a:prstGeom>
          <a:noFill/>
          <a:ln/>
        </p:spPr>
        <p:txBody>
          <a:bodyPr wrap="square" lIns="0" tIns="0" rIns="0" bIns="0" rtlCol="0" anchor="t"/>
          <a:lstStyle/>
          <a:p>
            <a:pPr indent="0" marL="0">
              <a:buNone/>
            </a:pPr>
            <a:r>
              <a:rPr lang="en-US" sz="2800" b="1" dirty="0">
                <a:solidFill>
                  <a:srgbClr val="5C1A5C"/>
                </a:solidFill>
                <a:latin typeface="Arial" pitchFamily="34" charset="0"/>
                <a:ea typeface="Arial" pitchFamily="34" charset="-122"/>
                <a:cs typeface="Arial" pitchFamily="34" charset="-120"/>
              </a:rPr>
              <a:t>A</a:t>
            </a:r>
            <a:endParaRPr lang="en-US" sz="2800" dirty="0"/>
          </a:p>
        </p:txBody>
      </p:sp>
      <p:sp>
        <p:nvSpPr>
          <p:cNvPr id="7" name="Text 5"/>
          <p:cNvSpPr txBox="1"/>
          <p:nvPr/>
        </p:nvSpPr>
        <p:spPr>
          <a:xfrm>
            <a:off x="640080" y="1691640"/>
            <a:ext cx="2286000" cy="50292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Kodetze kausal automatikoa</a:t>
            </a:r>
            <a:endParaRPr lang="en-US" sz="1400" dirty="0"/>
          </a:p>
        </p:txBody>
      </p:sp>
      <p:sp>
        <p:nvSpPr>
          <p:cNvPr id="8" name="Text 6"/>
          <p:cNvSpPr txBox="1"/>
          <p:nvPr/>
        </p:nvSpPr>
        <p:spPr>
          <a:xfrm>
            <a:off x="640080" y="2267712"/>
            <a:ext cx="2286000" cy="91440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Helduaren ekintza nahita egina denez, kausa gisa kodetzen dugu → gaizki ulertzen dugu kutxa.</a:t>
            </a:r>
            <a:endParaRPr lang="en-US" sz="1200" dirty="0"/>
          </a:p>
        </p:txBody>
      </p:sp>
      <p:sp>
        <p:nvSpPr>
          <p:cNvPr id="9" name="Shape 7"/>
          <p:cNvSpPr/>
          <p:nvPr/>
        </p:nvSpPr>
        <p:spPr>
          <a:xfrm>
            <a:off x="3273552" y="1097280"/>
            <a:ext cx="2596896" cy="2148840"/>
          </a:xfrm>
          <a:prstGeom prst="roundRect">
            <a:avLst>
              <a:gd name="adj" fmla="val 5106"/>
            </a:avLst>
          </a:prstGeom>
          <a:solidFill>
            <a:srgbClr val="EDD4ED"/>
          </a:solidFill>
          <a:ln w="12700">
            <a:solidFill>
              <a:srgbClr val="EDD4ED"/>
            </a:solidFill>
            <a:prstDash val="solid"/>
          </a:ln>
        </p:spPr>
      </p:sp>
      <p:sp>
        <p:nvSpPr>
          <p:cNvPr id="10" name="Text 8"/>
          <p:cNvSpPr txBox="1"/>
          <p:nvPr/>
        </p:nvSpPr>
        <p:spPr>
          <a:xfrm>
            <a:off x="3456432" y="1188720"/>
            <a:ext cx="548640" cy="548640"/>
          </a:xfrm>
          <a:prstGeom prst="rect">
            <a:avLst/>
          </a:prstGeom>
          <a:noFill/>
          <a:ln/>
        </p:spPr>
        <p:txBody>
          <a:bodyPr wrap="square" lIns="0" tIns="0" rIns="0" bIns="0" rtlCol="0" anchor="t"/>
          <a:lstStyle/>
          <a:p>
            <a:pPr indent="0" marL="0">
              <a:buNone/>
            </a:pPr>
            <a:r>
              <a:rPr lang="en-US" sz="2800" b="1" dirty="0">
                <a:solidFill>
                  <a:srgbClr val="5C1A5C"/>
                </a:solidFill>
                <a:latin typeface="Arial" pitchFamily="34" charset="0"/>
                <a:ea typeface="Arial" pitchFamily="34" charset="-122"/>
                <a:cs typeface="Arial" pitchFamily="34" charset="-120"/>
              </a:rPr>
              <a:t>B</a:t>
            </a:r>
            <a:endParaRPr lang="en-US" sz="2800" dirty="0"/>
          </a:p>
        </p:txBody>
      </p:sp>
      <p:sp>
        <p:nvSpPr>
          <p:cNvPr id="11" name="Text 9"/>
          <p:cNvSpPr txBox="1"/>
          <p:nvPr/>
        </p:nvSpPr>
        <p:spPr>
          <a:xfrm>
            <a:off x="3456432" y="1691640"/>
            <a:ext cx="2286000" cy="50292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Arrazoi soziala</a:t>
            </a:r>
            <a:endParaRPr lang="en-US" sz="1400" dirty="0"/>
          </a:p>
        </p:txBody>
      </p:sp>
      <p:sp>
        <p:nvSpPr>
          <p:cNvPr id="12" name="Text 10"/>
          <p:cNvSpPr txBox="1"/>
          <p:nvPr/>
        </p:nvSpPr>
        <p:spPr>
          <a:xfrm>
            <a:off x="3456432" y="2267712"/>
            <a:ext cx="2286000" cy="91440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Ereduarekin lotzea, «horrela egiten da». 10. gaian sakonduko dugu.</a:t>
            </a:r>
            <a:endParaRPr lang="en-US" sz="1200" dirty="0"/>
          </a:p>
        </p:txBody>
      </p:sp>
      <p:sp>
        <p:nvSpPr>
          <p:cNvPr id="13" name="Shape 11"/>
          <p:cNvSpPr/>
          <p:nvPr/>
        </p:nvSpPr>
        <p:spPr>
          <a:xfrm>
            <a:off x="6089904" y="1097280"/>
            <a:ext cx="2596896" cy="2148840"/>
          </a:xfrm>
          <a:prstGeom prst="roundRect">
            <a:avLst>
              <a:gd name="adj" fmla="val 5106"/>
            </a:avLst>
          </a:prstGeom>
          <a:solidFill>
            <a:srgbClr val="EDD4ED"/>
          </a:solidFill>
          <a:ln w="12700">
            <a:solidFill>
              <a:srgbClr val="EDD4ED"/>
            </a:solidFill>
            <a:prstDash val="solid"/>
          </a:ln>
        </p:spPr>
      </p:sp>
      <p:sp>
        <p:nvSpPr>
          <p:cNvPr id="14" name="Text 12"/>
          <p:cNvSpPr txBox="1"/>
          <p:nvPr/>
        </p:nvSpPr>
        <p:spPr>
          <a:xfrm>
            <a:off x="6272784" y="1188720"/>
            <a:ext cx="548640" cy="548640"/>
          </a:xfrm>
          <a:prstGeom prst="rect">
            <a:avLst/>
          </a:prstGeom>
          <a:noFill/>
          <a:ln/>
        </p:spPr>
        <p:txBody>
          <a:bodyPr wrap="square" lIns="0" tIns="0" rIns="0" bIns="0" rtlCol="0" anchor="t"/>
          <a:lstStyle/>
          <a:p>
            <a:pPr indent="0" marL="0">
              <a:buNone/>
            </a:pPr>
            <a:r>
              <a:rPr lang="en-US" sz="2800" b="1" dirty="0">
                <a:solidFill>
                  <a:srgbClr val="5C1A5C"/>
                </a:solidFill>
                <a:latin typeface="Arial" pitchFamily="34" charset="0"/>
                <a:ea typeface="Arial" pitchFamily="34" charset="-122"/>
                <a:cs typeface="Arial" pitchFamily="34" charset="-120"/>
              </a:rPr>
              <a:t>C</a:t>
            </a:r>
            <a:endParaRPr lang="en-US" sz="2800" dirty="0"/>
          </a:p>
        </p:txBody>
      </p:sp>
      <p:sp>
        <p:nvSpPr>
          <p:cNvPr id="15" name="Text 13"/>
          <p:cNvSpPr txBox="1"/>
          <p:nvPr/>
        </p:nvSpPr>
        <p:spPr>
          <a:xfrm>
            <a:off x="6272784" y="1691640"/>
            <a:ext cx="2286000" cy="50292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Kultura-ikaskuntza</a:t>
            </a:r>
            <a:endParaRPr lang="en-US" sz="1400" dirty="0"/>
          </a:p>
        </p:txBody>
      </p:sp>
      <p:sp>
        <p:nvSpPr>
          <p:cNvPr id="16" name="Text 14"/>
          <p:cNvSpPr txBox="1"/>
          <p:nvPr/>
        </p:nvSpPr>
        <p:spPr>
          <a:xfrm>
            <a:off x="6272784" y="2267712"/>
            <a:ext cx="2286000" cy="91440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Zehatz kopiatzeak prozedura konplexuak transmititzen ditu, zergatia ulertu gabe ere.</a:t>
            </a:r>
            <a:endParaRPr lang="en-US" sz="1200" dirty="0"/>
          </a:p>
        </p:txBody>
      </p:sp>
      <p:sp>
        <p:nvSpPr>
          <p:cNvPr id="17" name="Shape 15"/>
          <p:cNvSpPr/>
          <p:nvPr/>
        </p:nvSpPr>
        <p:spPr>
          <a:xfrm>
            <a:off x="457200" y="3429000"/>
            <a:ext cx="8229600" cy="640080"/>
          </a:xfrm>
          <a:prstGeom prst="roundRect">
            <a:avLst>
              <a:gd name="adj" fmla="val 17143"/>
            </a:avLst>
          </a:prstGeom>
          <a:solidFill>
            <a:srgbClr val="FAE5D3"/>
          </a:solidFill>
          <a:ln w="12700">
            <a:solidFill>
              <a:srgbClr val="FAE5D3"/>
            </a:solidFill>
            <a:prstDash val="solid"/>
          </a:ln>
        </p:spPr>
      </p:sp>
      <p:sp>
        <p:nvSpPr>
          <p:cNvPr id="18" name="Shape 16"/>
          <p:cNvSpPr/>
          <p:nvPr/>
        </p:nvSpPr>
        <p:spPr>
          <a:xfrm>
            <a:off x="594360" y="3584448"/>
            <a:ext cx="329184" cy="329184"/>
          </a:xfrm>
          <a:prstGeom prst="ellipse">
            <a:avLst/>
          </a:prstGeom>
          <a:solidFill>
            <a:srgbClr val="1B3A5C"/>
          </a:solidFill>
          <a:ln w="12700">
            <a:solidFill>
              <a:srgbClr val="1B3A5C"/>
            </a:solidFill>
            <a:prstDash val="solid"/>
          </a:ln>
        </p:spPr>
      </p:sp>
      <p:sp>
        <p:nvSpPr>
          <p:cNvPr id="19" name="Text 17"/>
          <p:cNvSpPr txBox="1"/>
          <p:nvPr/>
        </p:nvSpPr>
        <p:spPr>
          <a:xfrm>
            <a:off x="594360" y="35844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0" name="Text 18"/>
          <p:cNvSpPr txBox="1"/>
          <p:nvPr/>
        </p:nvSpPr>
        <p:spPr>
          <a:xfrm>
            <a:off x="1051560" y="3483864"/>
            <a:ext cx="6400800" cy="530352"/>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Zein da sinesgarriena zuen S1eko datuekin? Gero: 4. ebidentzia-orria eta S7rako protokoloa aukeratu</a:t>
            </a:r>
            <a:endParaRPr lang="en-US" sz="1400" dirty="0"/>
          </a:p>
        </p:txBody>
      </p:sp>
      <p:sp>
        <p:nvSpPr>
          <p:cNvPr id="21" name="Text 19"/>
          <p:cNvSpPr txBox="1"/>
          <p:nvPr/>
        </p:nvSpPr>
        <p:spPr>
          <a:xfrm>
            <a:off x="7543800" y="3483864"/>
            <a:ext cx="1005840" cy="530352"/>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25 min</a:t>
            </a:r>
            <a:endParaRPr lang="en-US" sz="900" dirty="0"/>
          </a:p>
        </p:txBody>
      </p:sp>
      <p:sp>
        <p:nvSpPr>
          <p:cNvPr id="22" name="Text 20"/>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250" b="1" dirty="0">
                <a:solidFill>
                  <a:srgbClr val="5C1A5C"/>
                </a:solidFill>
                <a:latin typeface="Arial" pitchFamily="34" charset="0"/>
                <a:ea typeface="Arial" pitchFamily="34" charset="-122"/>
                <a:cs typeface="Arial" pitchFamily="34" charset="-120"/>
              </a:rPr>
              <a:t>Irteera-txartela: bereizi imitazioa eta emulazioa, zure bizitzako adibide banarekin.</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E5D3"/>
        </a:solidFill>
      </p:bgPr>
    </p:bg>
    <p:spTree>
      <p:nvGrpSpPr>
        <p:cNvPr id="1" name=""/>
        <p:cNvGrpSpPr/>
        <p:nvPr/>
      </p:nvGrpSpPr>
      <p:grpSpPr>
        <a:xfrm>
          <a:off x="0" y="0"/>
          <a:ext cx="0" cy="0"/>
          <a:chOff x="0" y="0"/>
          <a:chExt cx="0" cy="0"/>
        </a:xfrm>
      </p:grpSpPr>
      <p:sp>
        <p:nvSpPr>
          <p:cNvPr id="2" name="Shape 0"/>
          <p:cNvSpPr/>
          <p:nvPr/>
        </p:nvSpPr>
        <p:spPr>
          <a:xfrm>
            <a:off x="548640" y="548640"/>
            <a:ext cx="822960" cy="457200"/>
          </a:xfrm>
          <a:prstGeom prst="roundRect">
            <a:avLst>
              <a:gd name="adj" fmla="val 20000"/>
            </a:avLst>
          </a:prstGeom>
          <a:solidFill>
            <a:srgbClr val="8C3A00"/>
          </a:solidFill>
          <a:ln w="12700">
            <a:solidFill>
              <a:srgbClr val="8C3A00"/>
            </a:solidFill>
            <a:prstDash val="solid"/>
          </a:ln>
        </p:spPr>
      </p:sp>
      <p:sp>
        <p:nvSpPr>
          <p:cNvPr id="3" name="Text 1"/>
          <p:cNvSpPr txBox="1"/>
          <p:nvPr/>
        </p:nvSpPr>
        <p:spPr>
          <a:xfrm>
            <a:off x="548640" y="548640"/>
            <a:ext cx="822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S7</a:t>
            </a:r>
            <a:endParaRPr lang="en-US" sz="1800" dirty="0"/>
          </a:p>
        </p:txBody>
      </p:sp>
      <p:sp>
        <p:nvSpPr>
          <p:cNvPr id="4" name="Text 2"/>
          <p:cNvSpPr txBox="1"/>
          <p:nvPr/>
        </p:nvSpPr>
        <p:spPr>
          <a:xfrm>
            <a:off x="1554480" y="548640"/>
            <a:ext cx="5029200" cy="457200"/>
          </a:xfrm>
          <a:prstGeom prst="rect">
            <a:avLst/>
          </a:prstGeom>
          <a:noFill/>
          <a:ln/>
        </p:spPr>
        <p:txBody>
          <a:bodyPr wrap="square" lIns="0" tIns="0" rIns="0" bIns="0" rtlCol="0" anchor="ctr"/>
          <a:lstStyle/>
          <a:p>
            <a:pPr indent="0" marL="0">
              <a:buNone/>
            </a:pPr>
            <a:r>
              <a:rPr lang="en-US" sz="1300" b="1" dirty="0">
                <a:solidFill>
                  <a:srgbClr val="8C3A00"/>
                </a:solidFill>
                <a:latin typeface="Arial" pitchFamily="34" charset="0"/>
                <a:ea typeface="Arial" pitchFamily="34" charset="-122"/>
                <a:cs typeface="Arial" pitchFamily="34" charset="-120"/>
              </a:rPr>
              <a:t>Ikerketa · 50 min</a:t>
            </a:r>
            <a:endParaRPr lang="en-US" sz="1300" dirty="0"/>
          </a:p>
        </p:txBody>
      </p:sp>
      <p:sp>
        <p:nvSpPr>
          <p:cNvPr id="5" name="Text 0"/>
          <p:cNvSpPr/>
          <p:nvPr>
            <p:ph idx="100" type="title" hasCustomPrompt="1"/>
          </p:nvPr>
        </p:nvSpPr>
        <p:spPr>
          <a:xfrm>
            <a:off x="548640" y="1234440"/>
            <a:ext cx="6035040" cy="914400"/>
          </a:xfrm>
          <a:prstGeom prst="rect">
            <a:avLst/>
          </a:prstGeom>
          <a:noFill/>
          <a:ln/>
        </p:spPr>
        <p:txBody>
          <a:bodyPr wrap="square" lIns="0" tIns="0" rIns="0" bIns="0" rtlCol="0" anchor="t"/>
          <a:lstStyle/>
          <a:p>
            <a:pPr algn="l" indent="0" marL="0">
              <a:buNone/>
            </a:pPr>
            <a:r>
              <a:rPr lang="en-US" sz="3600" b="1" dirty="0">
                <a:solidFill>
                  <a:srgbClr val="1B3A5C"/>
                </a:solidFill>
              </a:rPr>
              <a:t>Gure esperimentua</a:t>
            </a:r>
            <a:endParaRPr lang="en-US" sz="3600" dirty="0"/>
          </a:p>
        </p:txBody>
      </p:sp>
      <p:sp>
        <p:nvSpPr>
          <p:cNvPr id="6" name="Text 0"/>
          <p:cNvSpPr/>
          <p:nvPr>
            <p:ph idx="101" type="body" hasCustomPrompt="1"/>
          </p:nvPr>
        </p:nvSpPr>
        <p:spPr>
          <a:xfrm>
            <a:off x="548640" y="2514600"/>
            <a:ext cx="6035040" cy="1463040"/>
          </a:xfrm>
          <a:prstGeom prst="rect">
            <a:avLst/>
          </a:prstGeom>
          <a:noFill/>
          <a:ln/>
        </p:spPr>
        <p:txBody>
          <a:bodyPr wrap="square" lIns="0" tIns="0" rIns="0" bIns="0" rtlCol="0" anchor="t"/>
          <a:lstStyle/>
          <a:p>
            <a:pPr algn="l" indent="0" marL="0">
              <a:buNone/>
            </a:pPr>
            <a:r>
              <a:rPr lang="en-US" sz="2200" b="1" dirty="0">
                <a:solidFill>
                  <a:srgbClr val="1B3A5C"/>
                </a:solidFill>
              </a:rPr>
              <a:t>Gelan bertan froga dezakegu ikasten dugula ulertu gabe?</a:t>
            </a:r>
            <a:endParaRPr lang="en-US" sz="2200" dirty="0"/>
          </a:p>
        </p:txBody>
      </p:sp>
      <p:sp>
        <p:nvSpPr>
          <p:cNvPr id="7" name="Shape 5"/>
          <p:cNvSpPr/>
          <p:nvPr/>
        </p:nvSpPr>
        <p:spPr>
          <a:xfrm>
            <a:off x="6720840" y="1325880"/>
            <a:ext cx="2011680" cy="20116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223760" y="1828800"/>
            <a:ext cx="1005840" cy="1005840"/>
          </a:xfrm>
          <a:prstGeom prst="rect">
            <a:avLst/>
          </a:prstGeom>
        </p:spPr>
      </p:pic>
      <p:sp>
        <p:nvSpPr>
          <p:cNvPr id="9" name="Text 6"/>
          <p:cNvSpPr txBox="1"/>
          <p:nvPr/>
        </p:nvSpPr>
        <p:spPr>
          <a:xfrm>
            <a:off x="548640" y="2240280"/>
            <a:ext cx="3657600" cy="274320"/>
          </a:xfrm>
          <a:prstGeom prst="rect">
            <a:avLst/>
          </a:prstGeom>
          <a:noFill/>
          <a:ln/>
        </p:spPr>
        <p:txBody>
          <a:bodyPr wrap="square" lIns="0" tIns="0" rIns="0" bIns="0" rtlCol="0" anchor="t"/>
          <a:lstStyle/>
          <a:p>
            <a:pPr indent="0" marL="0">
              <a:buNone/>
            </a:pPr>
            <a:r>
              <a:rPr lang="en-US" sz="1000" b="1" spc="200" kern="0" dirty="0">
                <a:solidFill>
                  <a:srgbClr val="5B6573"/>
                </a:solidFill>
                <a:latin typeface="Arial" pitchFamily="34" charset="0"/>
                <a:ea typeface="Arial" pitchFamily="34" charset="-122"/>
                <a:cs typeface="Arial" pitchFamily="34" charset="-120"/>
              </a:rPr>
              <a:t>GALDERA GIDARIA</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Aukeratu protokolo bat</a:t>
            </a:r>
            <a:endParaRPr lang="en-US" sz="2800" dirty="0"/>
          </a:p>
        </p:txBody>
      </p:sp>
      <p:sp>
        <p:nvSpPr>
          <p:cNvPr id="3" name="Shape 1"/>
          <p:cNvSpPr/>
          <p:nvPr/>
        </p:nvSpPr>
        <p:spPr>
          <a:xfrm>
            <a:off x="7635240" y="429768"/>
            <a:ext cx="1051560" cy="365760"/>
          </a:xfrm>
          <a:prstGeom prst="roundRect">
            <a:avLst>
              <a:gd name="adj" fmla="val 25000"/>
            </a:avLst>
          </a:prstGeom>
          <a:solidFill>
            <a:srgbClr val="8C3A00"/>
          </a:solidFill>
          <a:ln w="12700">
            <a:solidFill>
              <a:srgbClr val="8C3A00"/>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S7</a:t>
            </a:r>
            <a:endParaRPr lang="en-US" sz="1200" dirty="0"/>
          </a:p>
        </p:txBody>
      </p:sp>
      <p:sp>
        <p:nvSpPr>
          <p:cNvPr id="5" name="Shape 3"/>
          <p:cNvSpPr/>
          <p:nvPr/>
        </p:nvSpPr>
        <p:spPr>
          <a:xfrm>
            <a:off x="457200" y="1097280"/>
            <a:ext cx="2596896" cy="2743200"/>
          </a:xfrm>
          <a:prstGeom prst="roundRect">
            <a:avLst>
              <a:gd name="adj" fmla="val 4225"/>
            </a:avLst>
          </a:prstGeom>
          <a:solidFill>
            <a:srgbClr val="FAE5D3"/>
          </a:solidFill>
          <a:ln w="12700">
            <a:solidFill>
              <a:srgbClr val="FAE5D3"/>
            </a:solidFill>
            <a:prstDash val="solid"/>
          </a:ln>
        </p:spPr>
      </p:sp>
      <p:sp>
        <p:nvSpPr>
          <p:cNvPr id="6" name="Text 4"/>
          <p:cNvSpPr txBox="1"/>
          <p:nvPr/>
        </p:nvSpPr>
        <p:spPr>
          <a:xfrm>
            <a:off x="640080" y="1207008"/>
            <a:ext cx="2286000" cy="548640"/>
          </a:xfrm>
          <a:prstGeom prst="rect">
            <a:avLst/>
          </a:prstGeom>
          <a:noFill/>
          <a:ln/>
        </p:spPr>
        <p:txBody>
          <a:bodyPr wrap="square" lIns="0" tIns="0" rIns="0" bIns="0" rtlCol="0" anchor="t"/>
          <a:lstStyle/>
          <a:p>
            <a:pPr indent="0" marL="0">
              <a:buNone/>
            </a:pPr>
            <a:r>
              <a:rPr lang="en-US" sz="1450" b="1" dirty="0">
                <a:solidFill>
                  <a:srgbClr val="8C3A00"/>
                </a:solidFill>
                <a:latin typeface="Arial" pitchFamily="34" charset="0"/>
                <a:ea typeface="Arial" pitchFamily="34" charset="-122"/>
                <a:cs typeface="Arial" pitchFamily="34" charset="-120"/>
              </a:rPr>
              <a:t>A · Alferrikako urratsa</a:t>
            </a:r>
            <a:endParaRPr lang="en-US" sz="1450" dirty="0"/>
          </a:p>
        </p:txBody>
      </p:sp>
      <p:sp>
        <p:nvSpPr>
          <p:cNvPr id="7" name="Text 5"/>
          <p:cNvSpPr txBox="1"/>
          <p:nvPr/>
        </p:nvSpPr>
        <p:spPr>
          <a:xfrm>
            <a:off x="640080" y="1755648"/>
            <a:ext cx="2286000" cy="274320"/>
          </a:xfrm>
          <a:prstGeom prst="rect">
            <a:avLst/>
          </a:prstGeom>
          <a:noFill/>
          <a:ln/>
        </p:spPr>
        <p:txBody>
          <a:bodyPr wrap="square" lIns="0" tIns="0" rIns="0" bIns="0" rtlCol="0" anchor="t"/>
          <a:lstStyle/>
          <a:p>
            <a:pPr indent="0" marL="0">
              <a:buNone/>
            </a:pPr>
            <a:r>
              <a:rPr lang="en-US" sz="1000" b="1" spc="100" kern="0" dirty="0">
                <a:solidFill>
                  <a:srgbClr val="5B6573"/>
                </a:solidFill>
                <a:latin typeface="Arial" pitchFamily="34" charset="0"/>
                <a:ea typeface="Arial" pitchFamily="34" charset="-122"/>
                <a:cs typeface="Arial" pitchFamily="34" charset="-120"/>
              </a:rPr>
              <a:t>IMITAZIOA</a:t>
            </a:r>
            <a:endParaRPr lang="en-US" sz="1000" dirty="0"/>
          </a:p>
        </p:txBody>
      </p:sp>
      <p:sp>
        <p:nvSpPr>
          <p:cNvPr id="8" name="Text 6"/>
          <p:cNvSpPr txBox="1"/>
          <p:nvPr/>
        </p:nvSpPr>
        <p:spPr>
          <a:xfrm>
            <a:off x="640080" y="2103120"/>
            <a:ext cx="2286000" cy="16459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Zeregin labur bat + urrats alferrikako bat. AI: «Hau ez da beharrezkoa» esan ala ez. MA: errepikatzen du (bai/ez)?</a:t>
            </a:r>
            <a:endParaRPr lang="en-US" sz="1250" dirty="0"/>
          </a:p>
        </p:txBody>
      </p:sp>
      <p:sp>
        <p:nvSpPr>
          <p:cNvPr id="9" name="Shape 7"/>
          <p:cNvSpPr/>
          <p:nvPr/>
        </p:nvSpPr>
        <p:spPr>
          <a:xfrm>
            <a:off x="3273552" y="1097280"/>
            <a:ext cx="2596896" cy="2743200"/>
          </a:xfrm>
          <a:prstGeom prst="roundRect">
            <a:avLst>
              <a:gd name="adj" fmla="val 4225"/>
            </a:avLst>
          </a:prstGeom>
          <a:solidFill>
            <a:srgbClr val="FAE5D3"/>
          </a:solidFill>
          <a:ln w="12700">
            <a:solidFill>
              <a:srgbClr val="FAE5D3"/>
            </a:solidFill>
            <a:prstDash val="solid"/>
          </a:ln>
        </p:spPr>
      </p:sp>
      <p:sp>
        <p:nvSpPr>
          <p:cNvPr id="10" name="Text 8"/>
          <p:cNvSpPr txBox="1"/>
          <p:nvPr/>
        </p:nvSpPr>
        <p:spPr>
          <a:xfrm>
            <a:off x="3456432" y="1207008"/>
            <a:ext cx="2286000" cy="548640"/>
          </a:xfrm>
          <a:prstGeom prst="rect">
            <a:avLst/>
          </a:prstGeom>
          <a:noFill/>
          <a:ln/>
        </p:spPr>
        <p:txBody>
          <a:bodyPr wrap="square" lIns="0" tIns="0" rIns="0" bIns="0" rtlCol="0" anchor="t"/>
          <a:lstStyle/>
          <a:p>
            <a:pPr indent="0" marL="0">
              <a:buNone/>
            </a:pPr>
            <a:r>
              <a:rPr lang="en-US" sz="1450" b="1" dirty="0">
                <a:solidFill>
                  <a:srgbClr val="8C3A00"/>
                </a:solidFill>
                <a:latin typeface="Arial" pitchFamily="34" charset="0"/>
                <a:ea typeface="Arial" pitchFamily="34" charset="-122"/>
                <a:cs typeface="Arial" pitchFamily="34" charset="-120"/>
              </a:rPr>
              <a:t>B · Moldaketa</a:t>
            </a:r>
            <a:endParaRPr lang="en-US" sz="1450" dirty="0"/>
          </a:p>
        </p:txBody>
      </p:sp>
      <p:sp>
        <p:nvSpPr>
          <p:cNvPr id="11" name="Text 9"/>
          <p:cNvSpPr txBox="1"/>
          <p:nvPr/>
        </p:nvSpPr>
        <p:spPr>
          <a:xfrm>
            <a:off x="3456432" y="1755648"/>
            <a:ext cx="2286000" cy="274320"/>
          </a:xfrm>
          <a:prstGeom prst="rect">
            <a:avLst/>
          </a:prstGeom>
          <a:noFill/>
          <a:ln/>
        </p:spPr>
        <p:txBody>
          <a:bodyPr wrap="square" lIns="0" tIns="0" rIns="0" bIns="0" rtlCol="0" anchor="t"/>
          <a:lstStyle/>
          <a:p>
            <a:pPr indent="0" marL="0">
              <a:buNone/>
            </a:pPr>
            <a:r>
              <a:rPr lang="en-US" sz="1000" b="1" spc="100" kern="0" dirty="0">
                <a:solidFill>
                  <a:srgbClr val="5B6573"/>
                </a:solidFill>
                <a:latin typeface="Arial" pitchFamily="34" charset="0"/>
                <a:ea typeface="Arial" pitchFamily="34" charset="-122"/>
                <a:cs typeface="Arial" pitchFamily="34" charset="-120"/>
              </a:rPr>
              <a:t>OPERANTEA</a:t>
            </a:r>
            <a:endParaRPr lang="en-US" sz="1000" dirty="0"/>
          </a:p>
        </p:txBody>
      </p:sp>
      <p:sp>
        <p:nvSpPr>
          <p:cNvPr id="12" name="Text 10"/>
          <p:cNvSpPr txBox="1"/>
          <p:nvPr/>
        </p:nvSpPr>
        <p:spPr>
          <a:xfrm>
            <a:off x="3456432" y="2103120"/>
            <a:ext cx="2286000" cy="16459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Jokabide sinple bat txaloz moldatu. AI: hasierako pista bat ala ez. MA: zenbat txalo + araua azal dezake?</a:t>
            </a:r>
            <a:endParaRPr lang="en-US" sz="1250" dirty="0"/>
          </a:p>
        </p:txBody>
      </p:sp>
      <p:sp>
        <p:nvSpPr>
          <p:cNvPr id="13" name="Shape 11"/>
          <p:cNvSpPr/>
          <p:nvPr/>
        </p:nvSpPr>
        <p:spPr>
          <a:xfrm>
            <a:off x="6089904" y="1097280"/>
            <a:ext cx="2596896" cy="2743200"/>
          </a:xfrm>
          <a:prstGeom prst="roundRect">
            <a:avLst>
              <a:gd name="adj" fmla="val 4225"/>
            </a:avLst>
          </a:prstGeom>
          <a:solidFill>
            <a:srgbClr val="FAE5D3"/>
          </a:solidFill>
          <a:ln w="12700">
            <a:solidFill>
              <a:srgbClr val="FAE5D3"/>
            </a:solidFill>
            <a:prstDash val="solid"/>
          </a:ln>
        </p:spPr>
      </p:sp>
      <p:sp>
        <p:nvSpPr>
          <p:cNvPr id="14" name="Text 12"/>
          <p:cNvSpPr txBox="1"/>
          <p:nvPr/>
        </p:nvSpPr>
        <p:spPr>
          <a:xfrm>
            <a:off x="6272784" y="1207008"/>
            <a:ext cx="2286000" cy="548640"/>
          </a:xfrm>
          <a:prstGeom prst="rect">
            <a:avLst/>
          </a:prstGeom>
          <a:noFill/>
          <a:ln/>
        </p:spPr>
        <p:txBody>
          <a:bodyPr wrap="square" lIns="0" tIns="0" rIns="0" bIns="0" rtlCol="0" anchor="t"/>
          <a:lstStyle/>
          <a:p>
            <a:pPr indent="0" marL="0">
              <a:buNone/>
            </a:pPr>
            <a:r>
              <a:rPr lang="en-US" sz="1450" b="1" dirty="0">
                <a:solidFill>
                  <a:srgbClr val="8C3A00"/>
                </a:solidFill>
                <a:latin typeface="Arial" pitchFamily="34" charset="0"/>
                <a:ea typeface="Arial" pitchFamily="34" charset="-122"/>
                <a:cs typeface="Arial" pitchFamily="34" charset="-120"/>
              </a:rPr>
              <a:t>C · Prozedura ala ulermena</a:t>
            </a:r>
            <a:endParaRPr lang="en-US" sz="1450" dirty="0"/>
          </a:p>
        </p:txBody>
      </p:sp>
      <p:sp>
        <p:nvSpPr>
          <p:cNvPr id="15" name="Text 13"/>
          <p:cNvSpPr txBox="1"/>
          <p:nvPr/>
        </p:nvSpPr>
        <p:spPr>
          <a:xfrm>
            <a:off x="6272784" y="1755648"/>
            <a:ext cx="2286000" cy="274320"/>
          </a:xfrm>
          <a:prstGeom prst="rect">
            <a:avLst/>
          </a:prstGeom>
          <a:noFill/>
          <a:ln/>
        </p:spPr>
        <p:txBody>
          <a:bodyPr wrap="square" lIns="0" tIns="0" rIns="0" bIns="0" rtlCol="0" anchor="t"/>
          <a:lstStyle/>
          <a:p>
            <a:pPr indent="0" marL="0">
              <a:buNone/>
            </a:pPr>
            <a:r>
              <a:rPr lang="en-US" sz="1000" b="1" spc="100" kern="0" dirty="0">
                <a:solidFill>
                  <a:srgbClr val="5B6573"/>
                </a:solidFill>
                <a:latin typeface="Arial" pitchFamily="34" charset="0"/>
                <a:ea typeface="Arial" pitchFamily="34" charset="-122"/>
                <a:cs typeface="Arial" pitchFamily="34" charset="-120"/>
              </a:rPr>
              <a:t>KOGNITIBOA</a:t>
            </a:r>
            <a:endParaRPr lang="en-US" sz="1000" dirty="0"/>
          </a:p>
        </p:txBody>
      </p:sp>
      <p:sp>
        <p:nvSpPr>
          <p:cNvPr id="16" name="Text 14"/>
          <p:cNvSpPr txBox="1"/>
          <p:nvPr/>
        </p:nvSpPr>
        <p:spPr>
          <a:xfrm>
            <a:off x="6272784" y="2103120"/>
            <a:ext cx="2286000" cy="16459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11z biderkatzeko trikimailua: urratsak bakarrik ala zergatia ere bai. MA: 78 × 11 ebazten dute?</a:t>
            </a:r>
            <a:endParaRPr lang="en-US" sz="1250" dirty="0"/>
          </a:p>
        </p:txBody>
      </p:sp>
      <p:sp>
        <p:nvSpPr>
          <p:cNvPr id="17" name="Text 15"/>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200" dirty="0">
                <a:solidFill>
                  <a:srgbClr val="5B6573"/>
                </a:solidFill>
                <a:latin typeface="Arial" pitchFamily="34" charset="0"/>
                <a:ea typeface="Arial" pitchFamily="34" charset="-122"/>
                <a:cs typeface="Arial" pitchFamily="34" charset="-120"/>
              </a:rPr>
              <a:t>AI = aldagai independentea (baldintzak) · MA = mendeko aldagaia (zer neurtzen den) · Gutxienez 6 parte-hartzaile, 3 baldintza bakoitzeko</a:t>
            </a:r>
            <a:endParaRPr lang="en-US" sz="12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Diseinatu, onetsi, bildu</a:t>
            </a:r>
            <a:endParaRPr lang="en-US" sz="2800" dirty="0"/>
          </a:p>
        </p:txBody>
      </p:sp>
      <p:sp>
        <p:nvSpPr>
          <p:cNvPr id="3" name="Shape 1"/>
          <p:cNvSpPr/>
          <p:nvPr/>
        </p:nvSpPr>
        <p:spPr>
          <a:xfrm>
            <a:off x="7635240" y="429768"/>
            <a:ext cx="1051560" cy="365760"/>
          </a:xfrm>
          <a:prstGeom prst="roundRect">
            <a:avLst>
              <a:gd name="adj" fmla="val 25000"/>
            </a:avLst>
          </a:prstGeom>
          <a:solidFill>
            <a:srgbClr val="8C3A00"/>
          </a:solidFill>
          <a:ln w="12700">
            <a:solidFill>
              <a:srgbClr val="8C3A00"/>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S7</a:t>
            </a:r>
            <a:endParaRPr lang="en-US" sz="1200" dirty="0"/>
          </a:p>
        </p:txBody>
      </p:sp>
      <p:sp>
        <p:nvSpPr>
          <p:cNvPr id="5" name="Shape 3"/>
          <p:cNvSpPr/>
          <p:nvPr/>
        </p:nvSpPr>
        <p:spPr>
          <a:xfrm>
            <a:off x="457200" y="1097280"/>
            <a:ext cx="5120640" cy="868680"/>
          </a:xfrm>
          <a:prstGeom prst="roundRect">
            <a:avLst>
              <a:gd name="adj" fmla="val 12632"/>
            </a:avLst>
          </a:prstGeom>
          <a:solidFill>
            <a:srgbClr val="FAE5D3"/>
          </a:solidFill>
          <a:ln w="12700">
            <a:solidFill>
              <a:srgbClr val="FAE5D3"/>
            </a:solidFill>
            <a:prstDash val="solid"/>
          </a:ln>
        </p:spPr>
      </p:sp>
      <p:sp>
        <p:nvSpPr>
          <p:cNvPr id="6" name="Shape 4"/>
          <p:cNvSpPr/>
          <p:nvPr/>
        </p:nvSpPr>
        <p:spPr>
          <a:xfrm>
            <a:off x="594360" y="1367028"/>
            <a:ext cx="329184" cy="329184"/>
          </a:xfrm>
          <a:prstGeom prst="ellipse">
            <a:avLst/>
          </a:prstGeom>
          <a:solidFill>
            <a:srgbClr val="1B3A5C"/>
          </a:solidFill>
          <a:ln w="12700">
            <a:solidFill>
              <a:srgbClr val="1B3A5C"/>
            </a:solidFill>
            <a:prstDash val="solid"/>
          </a:ln>
        </p:spPr>
      </p:sp>
      <p:sp>
        <p:nvSpPr>
          <p:cNvPr id="7" name="Text 5"/>
          <p:cNvSpPr txBox="1"/>
          <p:nvPr/>
        </p:nvSpPr>
        <p:spPr>
          <a:xfrm>
            <a:off x="594360" y="13670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051560" y="1152144"/>
            <a:ext cx="3291840" cy="758952"/>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Esperimentu-fitxa + etika-kontrola + onespena</a:t>
            </a:r>
            <a:endParaRPr lang="en-US" sz="1250" dirty="0"/>
          </a:p>
        </p:txBody>
      </p:sp>
      <p:sp>
        <p:nvSpPr>
          <p:cNvPr id="9" name="Text 7"/>
          <p:cNvSpPr txBox="1"/>
          <p:nvPr/>
        </p:nvSpPr>
        <p:spPr>
          <a:xfrm>
            <a:off x="4434840" y="1152144"/>
            <a:ext cx="1005840" cy="758952"/>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15 min</a:t>
            </a:r>
            <a:endParaRPr lang="en-US" sz="900" dirty="0"/>
          </a:p>
        </p:txBody>
      </p:sp>
      <p:sp>
        <p:nvSpPr>
          <p:cNvPr id="10" name="Shape 8"/>
          <p:cNvSpPr/>
          <p:nvPr/>
        </p:nvSpPr>
        <p:spPr>
          <a:xfrm>
            <a:off x="457200" y="2103120"/>
            <a:ext cx="5120640" cy="868680"/>
          </a:xfrm>
          <a:prstGeom prst="roundRect">
            <a:avLst>
              <a:gd name="adj" fmla="val 12632"/>
            </a:avLst>
          </a:prstGeom>
          <a:solidFill>
            <a:srgbClr val="FAE5D3"/>
          </a:solidFill>
          <a:ln w="12700">
            <a:solidFill>
              <a:srgbClr val="FAE5D3"/>
            </a:solidFill>
            <a:prstDash val="solid"/>
          </a:ln>
        </p:spPr>
      </p:sp>
      <p:sp>
        <p:nvSpPr>
          <p:cNvPr id="11" name="Shape 9"/>
          <p:cNvSpPr/>
          <p:nvPr/>
        </p:nvSpPr>
        <p:spPr>
          <a:xfrm>
            <a:off x="594360" y="2372868"/>
            <a:ext cx="329184" cy="329184"/>
          </a:xfrm>
          <a:prstGeom prst="ellipse">
            <a:avLst/>
          </a:prstGeom>
          <a:solidFill>
            <a:srgbClr val="1B3A5C"/>
          </a:solidFill>
          <a:ln w="12700">
            <a:solidFill>
              <a:srgbClr val="1B3A5C"/>
            </a:solidFill>
            <a:prstDash val="solid"/>
          </a:ln>
        </p:spPr>
      </p:sp>
      <p:sp>
        <p:nvSpPr>
          <p:cNvPr id="12" name="Text 10"/>
          <p:cNvSpPr txBox="1"/>
          <p:nvPr/>
        </p:nvSpPr>
        <p:spPr>
          <a:xfrm>
            <a:off x="594360" y="23728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1051560" y="2157984"/>
            <a:ext cx="3291840" cy="758952"/>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Hiru txanda × 8 min: kide bat esperimentatzaile, bi parte-hartzaile beste talde batean</a:t>
            </a:r>
            <a:endParaRPr lang="en-US" sz="1250" dirty="0"/>
          </a:p>
        </p:txBody>
      </p:sp>
      <p:sp>
        <p:nvSpPr>
          <p:cNvPr id="14" name="Text 12"/>
          <p:cNvSpPr txBox="1"/>
          <p:nvPr/>
        </p:nvSpPr>
        <p:spPr>
          <a:xfrm>
            <a:off x="4434840" y="2157984"/>
            <a:ext cx="1005840" cy="758952"/>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25 min</a:t>
            </a:r>
            <a:endParaRPr lang="en-US" sz="900" dirty="0"/>
          </a:p>
        </p:txBody>
      </p:sp>
      <p:sp>
        <p:nvSpPr>
          <p:cNvPr id="15" name="Shape 13"/>
          <p:cNvSpPr/>
          <p:nvPr/>
        </p:nvSpPr>
        <p:spPr>
          <a:xfrm>
            <a:off x="457200" y="3108960"/>
            <a:ext cx="5120640" cy="868680"/>
          </a:xfrm>
          <a:prstGeom prst="roundRect">
            <a:avLst>
              <a:gd name="adj" fmla="val 12632"/>
            </a:avLst>
          </a:prstGeom>
          <a:solidFill>
            <a:srgbClr val="FAE5D3"/>
          </a:solidFill>
          <a:ln w="12700">
            <a:solidFill>
              <a:srgbClr val="FAE5D3"/>
            </a:solidFill>
            <a:prstDash val="solid"/>
          </a:ln>
        </p:spPr>
      </p:sp>
      <p:sp>
        <p:nvSpPr>
          <p:cNvPr id="16" name="Shape 14"/>
          <p:cNvSpPr/>
          <p:nvPr/>
        </p:nvSpPr>
        <p:spPr>
          <a:xfrm>
            <a:off x="594360" y="3378708"/>
            <a:ext cx="329184" cy="329184"/>
          </a:xfrm>
          <a:prstGeom prst="ellipse">
            <a:avLst/>
          </a:prstGeom>
          <a:solidFill>
            <a:srgbClr val="1B3A5C"/>
          </a:solidFill>
          <a:ln w="12700">
            <a:solidFill>
              <a:srgbClr val="1B3A5C"/>
            </a:solidFill>
            <a:prstDash val="solid"/>
          </a:ln>
        </p:spPr>
      </p:sp>
      <p:sp>
        <p:nvSpPr>
          <p:cNvPr id="17" name="Text 15"/>
          <p:cNvSpPr txBox="1"/>
          <p:nvPr/>
        </p:nvSpPr>
        <p:spPr>
          <a:xfrm>
            <a:off x="594360" y="33787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1051560" y="3163824"/>
            <a:ext cx="3291840" cy="758952"/>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Datuak taulan + lehen irakurketa: zer EZIN dugu ondorioztatu?</a:t>
            </a:r>
            <a:endParaRPr lang="en-US" sz="1250" dirty="0"/>
          </a:p>
        </p:txBody>
      </p:sp>
      <p:sp>
        <p:nvSpPr>
          <p:cNvPr id="19" name="Text 17"/>
          <p:cNvSpPr txBox="1"/>
          <p:nvPr/>
        </p:nvSpPr>
        <p:spPr>
          <a:xfrm>
            <a:off x="4434840" y="3163824"/>
            <a:ext cx="1005840" cy="758952"/>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10 min</a:t>
            </a:r>
            <a:endParaRPr lang="en-US" sz="900" dirty="0"/>
          </a:p>
        </p:txBody>
      </p:sp>
      <p:sp>
        <p:nvSpPr>
          <p:cNvPr id="20" name="Shape 18"/>
          <p:cNvSpPr/>
          <p:nvPr/>
        </p:nvSpPr>
        <p:spPr>
          <a:xfrm>
            <a:off x="5806440" y="1097280"/>
            <a:ext cx="2880360" cy="3429000"/>
          </a:xfrm>
          <a:prstGeom prst="roundRect">
            <a:avLst>
              <a:gd name="adj" fmla="val 3810"/>
            </a:avLst>
          </a:prstGeom>
          <a:solidFill>
            <a:srgbClr val="D4EDE1"/>
          </a:solidFill>
          <a:ln w="12700">
            <a:solidFill>
              <a:srgbClr val="D4EDE1"/>
            </a:solidFill>
            <a:prstDash val="solid"/>
          </a:ln>
        </p:spPr>
      </p:sp>
      <p:sp>
        <p:nvSpPr>
          <p:cNvPr id="21" name="Text 19"/>
          <p:cNvSpPr txBox="1"/>
          <p:nvPr/>
        </p:nvSpPr>
        <p:spPr>
          <a:xfrm>
            <a:off x="5989320" y="1188720"/>
            <a:ext cx="2560320" cy="365760"/>
          </a:xfrm>
          <a:prstGeom prst="rect">
            <a:avLst/>
          </a:prstGeom>
          <a:noFill/>
          <a:ln/>
        </p:spPr>
        <p:txBody>
          <a:bodyPr wrap="square" lIns="0" tIns="0" rIns="0" bIns="0" rtlCol="0" anchor="t"/>
          <a:lstStyle/>
          <a:p>
            <a:pPr indent="0" marL="0">
              <a:buNone/>
            </a:pPr>
            <a:r>
              <a:rPr lang="en-US" sz="1500" b="1" dirty="0">
                <a:solidFill>
                  <a:srgbClr val="1A5C3A"/>
                </a:solidFill>
                <a:latin typeface="Arial" pitchFamily="34" charset="0"/>
                <a:ea typeface="Arial" pitchFamily="34" charset="-122"/>
                <a:cs typeface="Arial" pitchFamily="34" charset="-120"/>
              </a:rPr>
              <a:t>Etika-kontrola</a:t>
            </a:r>
            <a:endParaRPr lang="en-US" sz="1500" dirty="0"/>
          </a:p>
        </p:txBody>
      </p:sp>
      <p:sp>
        <p:nvSpPr>
          <p:cNvPr id="22" name="Text 20"/>
          <p:cNvSpPr txBox="1"/>
          <p:nvPr/>
        </p:nvSpPr>
        <p:spPr>
          <a:xfrm>
            <a:off x="5989320" y="1600200"/>
            <a:ext cx="2606040" cy="28346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Badakite eta uko egin dezakete</a:t>
            </a:r>
            <a:endParaRPr lang="en-US" sz="1200" dirty="0"/>
          </a:p>
          <a:p>
            <a:pPr marL="342900" indent="-3429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Kalterik eta barregarri uzterik ez</a:t>
            </a:r>
            <a:endParaRPr lang="en-US" sz="1200" dirty="0"/>
          </a:p>
          <a:p>
            <a:pPr marL="342900" indent="-3429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Ezkutatutakoa, amaieran azaldu</a:t>
            </a:r>
            <a:endParaRPr lang="en-US" sz="1200" dirty="0"/>
          </a:p>
          <a:p>
            <a:pPr marL="342900" indent="-3429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Datu anonimoak (P1, P2...)</a:t>
            </a:r>
            <a:endParaRPr lang="en-US" sz="1200" dirty="0"/>
          </a:p>
          <a:p>
            <a:pPr marL="342900" indent="-3429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Gelakideekin bakarrik</a:t>
            </a:r>
            <a:endParaRPr lang="en-US" sz="1200" dirty="0"/>
          </a:p>
          <a:p>
            <a:pPr marL="342900" indent="-3429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Janari-saririk ez</a:t>
            </a:r>
            <a:endParaRPr lang="en-US" sz="1200" dirty="0"/>
          </a:p>
          <a:p>
            <a:pPr marL="342900" indent="-3429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Irakaslearen onespena</a:t>
            </a:r>
            <a:endParaRPr lang="en-US" sz="12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EF5FC"/>
        </a:solidFill>
      </p:bgPr>
    </p:bg>
    <p:spTree>
      <p:nvGrpSpPr>
        <p:cNvPr id="1" name=""/>
        <p:cNvGrpSpPr/>
        <p:nvPr/>
      </p:nvGrpSpPr>
      <p:grpSpPr>
        <a:xfrm>
          <a:off x="0" y="0"/>
          <a:ext cx="0" cy="0"/>
          <a:chOff x="0" y="0"/>
          <a:chExt cx="0" cy="0"/>
        </a:xfrm>
      </p:grpSpPr>
      <p:sp>
        <p:nvSpPr>
          <p:cNvPr id="2" name="Shape 0"/>
          <p:cNvSpPr/>
          <p:nvPr/>
        </p:nvSpPr>
        <p:spPr>
          <a:xfrm>
            <a:off x="548640" y="548640"/>
            <a:ext cx="822960" cy="457200"/>
          </a:xfrm>
          <a:prstGeom prst="roundRect">
            <a:avLst>
              <a:gd name="adj" fmla="val 20000"/>
            </a:avLst>
          </a:prstGeom>
          <a:solidFill>
            <a:srgbClr val="1B3A5C"/>
          </a:solidFill>
          <a:ln w="12700">
            <a:solidFill>
              <a:srgbClr val="1B3A5C"/>
            </a:solidFill>
            <a:prstDash val="solid"/>
          </a:ln>
        </p:spPr>
      </p:sp>
      <p:sp>
        <p:nvSpPr>
          <p:cNvPr id="3" name="Text 1"/>
          <p:cNvSpPr txBox="1"/>
          <p:nvPr/>
        </p:nvSpPr>
        <p:spPr>
          <a:xfrm>
            <a:off x="548640" y="548640"/>
            <a:ext cx="822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S8</a:t>
            </a:r>
            <a:endParaRPr lang="en-US" sz="1800" dirty="0"/>
          </a:p>
        </p:txBody>
      </p:sp>
      <p:sp>
        <p:nvSpPr>
          <p:cNvPr id="4" name="Text 2"/>
          <p:cNvSpPr txBox="1"/>
          <p:nvPr/>
        </p:nvSpPr>
        <p:spPr>
          <a:xfrm>
            <a:off x="1554480" y="548640"/>
            <a:ext cx="5029200" cy="457200"/>
          </a:xfrm>
          <a:prstGeom prst="rect">
            <a:avLst/>
          </a:prstGeom>
          <a:noFill/>
          <a:ln/>
        </p:spPr>
        <p:txBody>
          <a:bodyPr wrap="square" lIns="0" tIns="0" rIns="0" bIns="0" rtlCol="0" anchor="ctr"/>
          <a:lstStyle/>
          <a:p>
            <a:pPr indent="0" marL="0">
              <a:buNone/>
            </a:pPr>
            <a:r>
              <a:rPr lang="en-US" sz="1300" b="1" dirty="0">
                <a:solidFill>
                  <a:srgbClr val="1B3A5C"/>
                </a:solidFill>
                <a:latin typeface="Arial" pitchFamily="34" charset="0"/>
                <a:ea typeface="Arial" pitchFamily="34" charset="-122"/>
                <a:cs typeface="Arial" pitchFamily="34" charset="-120"/>
              </a:rPr>
              <a:t>Sintesia · 50 min</a:t>
            </a:r>
            <a:endParaRPr lang="en-US" sz="1300" dirty="0"/>
          </a:p>
        </p:txBody>
      </p:sp>
      <p:sp>
        <p:nvSpPr>
          <p:cNvPr id="5" name="Text 0"/>
          <p:cNvSpPr/>
          <p:nvPr>
            <p:ph idx="100" type="title" hasCustomPrompt="1"/>
          </p:nvPr>
        </p:nvSpPr>
        <p:spPr>
          <a:xfrm>
            <a:off x="548640" y="1234440"/>
            <a:ext cx="6035040" cy="914400"/>
          </a:xfrm>
          <a:prstGeom prst="rect">
            <a:avLst/>
          </a:prstGeom>
          <a:noFill/>
          <a:ln/>
        </p:spPr>
        <p:txBody>
          <a:bodyPr wrap="square" lIns="0" tIns="0" rIns="0" bIns="0" rtlCol="0" anchor="t"/>
          <a:lstStyle/>
          <a:p>
            <a:pPr algn="l" indent="0" marL="0">
              <a:buNone/>
            </a:pPr>
            <a:r>
              <a:rPr lang="en-US" sz="3600" b="1" dirty="0">
                <a:solidFill>
                  <a:srgbClr val="1B3A5C"/>
                </a:solidFill>
              </a:rPr>
              <a:t>Ondorioak eraiki</a:t>
            </a:r>
            <a:endParaRPr lang="en-US" sz="3600" dirty="0"/>
          </a:p>
        </p:txBody>
      </p:sp>
      <p:sp>
        <p:nvSpPr>
          <p:cNvPr id="6" name="Text 0"/>
          <p:cNvSpPr/>
          <p:nvPr>
            <p:ph idx="101" type="body" hasCustomPrompt="1"/>
          </p:nvPr>
        </p:nvSpPr>
        <p:spPr>
          <a:xfrm>
            <a:off x="548640" y="2514600"/>
            <a:ext cx="6035040" cy="1463040"/>
          </a:xfrm>
          <a:prstGeom prst="rect">
            <a:avLst/>
          </a:prstGeom>
          <a:noFill/>
          <a:ln/>
        </p:spPr>
        <p:txBody>
          <a:bodyPr wrap="square" lIns="0" tIns="0" rIns="0" bIns="0" rtlCol="0" anchor="t"/>
          <a:lstStyle/>
          <a:p>
            <a:pPr algn="l" indent="0" marL="0">
              <a:buNone/>
            </a:pPr>
            <a:r>
              <a:rPr lang="en-US" sz="2200" b="1" dirty="0">
                <a:solidFill>
                  <a:srgbClr val="1B3A5C"/>
                </a:solidFill>
              </a:rPr>
              <a:t>Zer esan dezakegu ziur, zer ez, eta zergatik?</a:t>
            </a:r>
            <a:endParaRPr lang="en-US" sz="2200" dirty="0"/>
          </a:p>
        </p:txBody>
      </p:sp>
      <p:sp>
        <p:nvSpPr>
          <p:cNvPr id="7" name="Shape 5"/>
          <p:cNvSpPr/>
          <p:nvPr/>
        </p:nvSpPr>
        <p:spPr>
          <a:xfrm>
            <a:off x="6720840" y="1325880"/>
            <a:ext cx="2011680" cy="20116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223760" y="1828800"/>
            <a:ext cx="1005840" cy="1005840"/>
          </a:xfrm>
          <a:prstGeom prst="rect">
            <a:avLst/>
          </a:prstGeom>
        </p:spPr>
      </p:pic>
      <p:sp>
        <p:nvSpPr>
          <p:cNvPr id="9" name="Text 6"/>
          <p:cNvSpPr txBox="1"/>
          <p:nvPr/>
        </p:nvSpPr>
        <p:spPr>
          <a:xfrm>
            <a:off x="548640" y="2240280"/>
            <a:ext cx="3657600" cy="274320"/>
          </a:xfrm>
          <a:prstGeom prst="rect">
            <a:avLst/>
          </a:prstGeom>
          <a:noFill/>
          <a:ln/>
        </p:spPr>
        <p:txBody>
          <a:bodyPr wrap="square" lIns="0" tIns="0" rIns="0" bIns="0" rtlCol="0" anchor="t"/>
          <a:lstStyle/>
          <a:p>
            <a:pPr indent="0" marL="0">
              <a:buNone/>
            </a:pPr>
            <a:r>
              <a:rPr lang="en-US" sz="1000" b="1" spc="200" kern="0" dirty="0">
                <a:solidFill>
                  <a:srgbClr val="5B6573"/>
                </a:solidFill>
                <a:latin typeface="Arial" pitchFamily="34" charset="0"/>
                <a:ea typeface="Arial" pitchFamily="34" charset="-122"/>
                <a:cs typeface="Arial" pitchFamily="34" charset="-120"/>
              </a:rPr>
              <a:t>GALDERA GIDARIA</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Lehenik, bakarrik</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S8</a:t>
            </a:r>
            <a:endParaRPr lang="en-US" sz="1200" dirty="0"/>
          </a:p>
        </p:txBody>
      </p:sp>
      <p:sp>
        <p:nvSpPr>
          <p:cNvPr id="5" name="Shape 3"/>
          <p:cNvSpPr/>
          <p:nvPr/>
        </p:nvSpPr>
        <p:spPr>
          <a:xfrm>
            <a:off x="457200" y="1097280"/>
            <a:ext cx="8229600" cy="1737360"/>
          </a:xfrm>
          <a:prstGeom prst="roundRect">
            <a:avLst>
              <a:gd name="adj" fmla="val 6316"/>
            </a:avLst>
          </a:prstGeom>
          <a:solidFill>
            <a:srgbClr val="D4EDE1"/>
          </a:solidFill>
          <a:ln w="12700">
            <a:solidFill>
              <a:srgbClr val="D4EDE1"/>
            </a:solidFill>
            <a:prstDash val="solid"/>
          </a:ln>
        </p:spPr>
      </p:sp>
      <p:sp>
        <p:nvSpPr>
          <p:cNvPr id="6" name="Shape 4"/>
          <p:cNvSpPr/>
          <p:nvPr/>
        </p:nvSpPr>
        <p:spPr>
          <a:xfrm>
            <a:off x="685800" y="1325880"/>
            <a:ext cx="685800" cy="68580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864108" y="1504188"/>
            <a:ext cx="329184" cy="329184"/>
          </a:xfrm>
          <a:prstGeom prst="rect">
            <a:avLst/>
          </a:prstGeom>
        </p:spPr>
      </p:pic>
      <p:sp>
        <p:nvSpPr>
          <p:cNvPr id="8" name="Text 5"/>
          <p:cNvSpPr txBox="1"/>
          <p:nvPr/>
        </p:nvSpPr>
        <p:spPr>
          <a:xfrm>
            <a:off x="1600200" y="1280160"/>
            <a:ext cx="6858000" cy="1828800"/>
          </a:xfrm>
          <a:prstGeom prst="rect">
            <a:avLst/>
          </a:prstGeom>
          <a:noFill/>
          <a:ln/>
        </p:spPr>
        <p:txBody>
          <a:bodyPr wrap="square" lIns="0" tIns="0" rIns="0" bIns="0" rtlCol="0" anchor="t"/>
          <a:lstStyle/>
          <a:p>
            <a:pPr indent="0" marL="0">
              <a:buNone/>
            </a:pPr>
            <a:r>
              <a:rPr lang="en-US" sz="1700" b="1" dirty="0">
                <a:solidFill>
                  <a:srgbClr val="1A5C3A"/>
                </a:solidFill>
                <a:latin typeface="Arial" pitchFamily="34" charset="0"/>
                <a:ea typeface="Arial" pitchFamily="34" charset="-122"/>
                <a:cs typeface="Arial" pitchFamily="34" charset="-120"/>
              </a:rPr>
              <a:t>Banakako sintesia · 18 min · isilik</a:t>
            </a:r>
            <a:endParaRPr lang="en-US" sz="1700" dirty="0"/>
          </a:p>
          <a:p>
            <a:pPr indent="0" marL="0">
              <a:buNone/>
            </a:pPr>
            <a:r>
              <a:rPr lang="en-US" sz="600" dirty="0">
                <a:solidFill>
                  <a:srgbClr val="1A1A1A"/>
                </a:solidFill>
                <a:latin typeface="Arial" pitchFamily="34" charset="0"/>
                <a:ea typeface="Arial" pitchFamily="34" charset="-122"/>
                <a:cs typeface="Arial" pitchFamily="34" charset="-120"/>
              </a:rPr>
              <a:t> </a:t>
            </a:r>
            <a:endParaRPr lang="en-US" sz="1700" dirty="0"/>
          </a:p>
          <a:p>
            <a:pPr indent="0" marL="0">
              <a:buNone/>
            </a:pPr>
            <a:r>
              <a:rPr lang="en-US" sz="1400" dirty="0">
                <a:solidFill>
                  <a:srgbClr val="1A1A1A"/>
                </a:solidFill>
                <a:latin typeface="Arial" pitchFamily="34" charset="0"/>
                <a:ea typeface="Arial" pitchFamily="34" charset="-122"/>
                <a:cs typeface="Arial" pitchFamily="34" charset="-120"/>
              </a:rPr>
              <a:t>Erantzun 250-300 hitzetan: ikasten duguna ulertzen al dugu? Aipatu gutxienez hiru kasu (bat zuen esperimentua izan daiteke). Oharrak eta ebidentzia-orriak erabil ditzakezu.</a:t>
            </a:r>
            <a:endParaRPr lang="en-US" sz="1700" dirty="0"/>
          </a:p>
        </p:txBody>
      </p:sp>
      <p:sp>
        <p:nvSpPr>
          <p:cNvPr id="9" name="Shape 6"/>
          <p:cNvSpPr/>
          <p:nvPr/>
        </p:nvSpPr>
        <p:spPr>
          <a:xfrm>
            <a:off x="457200" y="3017520"/>
            <a:ext cx="8229600" cy="640080"/>
          </a:xfrm>
          <a:prstGeom prst="roundRect">
            <a:avLst>
              <a:gd name="adj" fmla="val 17143"/>
            </a:avLst>
          </a:prstGeom>
          <a:solidFill>
            <a:srgbClr val="FAE5D3"/>
          </a:solidFill>
          <a:ln w="12700">
            <a:solidFill>
              <a:srgbClr val="FAE5D3"/>
            </a:solidFill>
            <a:prstDash val="solid"/>
          </a:ln>
        </p:spPr>
      </p:sp>
      <p:sp>
        <p:nvSpPr>
          <p:cNvPr id="10" name="Shape 7"/>
          <p:cNvSpPr/>
          <p:nvPr/>
        </p:nvSpPr>
        <p:spPr>
          <a:xfrm>
            <a:off x="594360" y="3172968"/>
            <a:ext cx="329184" cy="329184"/>
          </a:xfrm>
          <a:prstGeom prst="ellipse">
            <a:avLst/>
          </a:prstGeom>
          <a:solidFill>
            <a:srgbClr val="1B3A5C"/>
          </a:solidFill>
          <a:ln w="12700">
            <a:solidFill>
              <a:srgbClr val="1B3A5C"/>
            </a:solidFill>
            <a:prstDash val="solid"/>
          </a:ln>
        </p:spPr>
      </p:sp>
      <p:sp>
        <p:nvSpPr>
          <p:cNvPr id="11" name="Text 8"/>
          <p:cNvSpPr txBox="1"/>
          <p:nvPr/>
        </p:nvSpPr>
        <p:spPr>
          <a:xfrm>
            <a:off x="594360" y="31729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2" name="Text 9"/>
          <p:cNvSpPr txBox="1"/>
          <p:nvPr/>
        </p:nvSpPr>
        <p:spPr>
          <a:xfrm>
            <a:off x="1051560" y="3072384"/>
            <a:ext cx="6400800" cy="530352"/>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Gero, hirukotean: irakurri hiruren sintesiak eta eraiki hiru ondorio garbi</a:t>
            </a:r>
            <a:endParaRPr lang="en-US" sz="1400" dirty="0"/>
          </a:p>
        </p:txBody>
      </p:sp>
      <p:sp>
        <p:nvSpPr>
          <p:cNvPr id="13" name="Text 10"/>
          <p:cNvSpPr txBox="1"/>
          <p:nvPr/>
        </p:nvSpPr>
        <p:spPr>
          <a:xfrm>
            <a:off x="7543800" y="3072384"/>
            <a:ext cx="1005840" cy="530352"/>
          </a:xfrm>
          <a:prstGeom prst="rect">
            <a:avLst/>
          </a:prstGeom>
          <a:noFill/>
          <a:ln/>
        </p:spPr>
        <p:txBody>
          <a:bodyPr wrap="square" lIns="0" tIns="0" rIns="0" bIns="0" rtlCol="0" anchor="ctr"/>
          <a:lstStyle/>
          <a:p>
            <a:pPr algn="r" indent="0" marL="0">
              <a:buNone/>
            </a:pPr>
            <a:r>
              <a:rPr lang="en-US" sz="900" b="1" dirty="0">
                <a:solidFill>
                  <a:srgbClr val="8C3A00"/>
                </a:solidFill>
                <a:latin typeface="Arial" pitchFamily="34" charset="0"/>
                <a:ea typeface="Arial" pitchFamily="34" charset="-122"/>
                <a:cs typeface="Arial" pitchFamily="34" charset="-120"/>
              </a:rPr>
              <a:t>TALDEAN</a:t>
            </a:r>
            <a:endParaRPr lang="en-US" sz="900" dirty="0"/>
          </a:p>
          <a:p>
            <a:pPr algn="r" indent="0" marL="0">
              <a:buNone/>
            </a:pPr>
            <a:r>
              <a:rPr lang="en-US" sz="1100" dirty="0">
                <a:solidFill>
                  <a:srgbClr val="5B6573"/>
                </a:solidFill>
                <a:latin typeface="Arial" pitchFamily="34" charset="0"/>
                <a:ea typeface="Arial" pitchFamily="34" charset="-122"/>
                <a:cs typeface="Arial" pitchFamily="34" charset="-120"/>
              </a:rPr>
              <a:t>22 min</a:t>
            </a:r>
            <a:endParaRPr lang="en-US" sz="900" dirty="0"/>
          </a:p>
        </p:txBody>
      </p:sp>
      <p:sp>
        <p:nvSpPr>
          <p:cNvPr id="14" name="Text 11"/>
          <p:cNvSpPr txBox="1"/>
          <p:nvPr/>
        </p:nvSpPr>
        <p:spPr>
          <a:xfrm>
            <a:off x="457200" y="3840480"/>
            <a:ext cx="8229600" cy="320040"/>
          </a:xfrm>
          <a:prstGeom prst="rect">
            <a:avLst/>
          </a:prstGeom>
          <a:noFill/>
          <a:ln/>
        </p:spPr>
        <p:txBody>
          <a:bodyPr wrap="square" lIns="0" tIns="0" rIns="0" bIns="0" rtlCol="0" anchor="t"/>
          <a:lstStyle/>
          <a:p>
            <a:pPr indent="0" marL="0">
              <a:buNone/>
            </a:pPr>
            <a:r>
              <a:rPr lang="en-US" sz="1250" i="1" dirty="0">
                <a:solidFill>
                  <a:srgbClr val="5B6573"/>
                </a:solidFill>
                <a:latin typeface="Arial" pitchFamily="34" charset="0"/>
                <a:ea typeface="Arial" pitchFamily="34" charset="-122"/>
                <a:cs typeface="Arial" pitchFamily="34" charset="-120"/>
              </a:rPr>
              <a:t>Sintesia saio amaieran entregatzen da.</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Ondorio garbi baten anatomia</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S8</a:t>
            </a:r>
            <a:endParaRPr lang="en-US" sz="1200" dirty="0"/>
          </a:p>
        </p:txBody>
      </p:sp>
      <p:sp>
        <p:nvSpPr>
          <p:cNvPr id="5" name="Shape 3"/>
          <p:cNvSpPr/>
          <p:nvPr/>
        </p:nvSpPr>
        <p:spPr>
          <a:xfrm>
            <a:off x="457200" y="1097280"/>
            <a:ext cx="1920240" cy="1143000"/>
          </a:xfrm>
          <a:prstGeom prst="roundRect">
            <a:avLst>
              <a:gd name="adj" fmla="val 9600"/>
            </a:avLst>
          </a:prstGeom>
          <a:solidFill>
            <a:srgbClr val="D6E8F7"/>
          </a:solidFill>
          <a:ln w="12700">
            <a:solidFill>
              <a:srgbClr val="D6E8F7"/>
            </a:solidFill>
            <a:prstDash val="solid"/>
          </a:ln>
        </p:spPr>
      </p:sp>
      <p:sp>
        <p:nvSpPr>
          <p:cNvPr id="6" name="Text 4"/>
          <p:cNvSpPr txBox="1"/>
          <p:nvPr/>
        </p:nvSpPr>
        <p:spPr>
          <a:xfrm>
            <a:off x="594360" y="1188720"/>
            <a:ext cx="1645920" cy="36576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Ondorioa</a:t>
            </a:r>
            <a:endParaRPr lang="en-US" sz="1500" dirty="0"/>
          </a:p>
        </p:txBody>
      </p:sp>
      <p:sp>
        <p:nvSpPr>
          <p:cNvPr id="7" name="Text 5"/>
          <p:cNvSpPr txBox="1"/>
          <p:nvPr/>
        </p:nvSpPr>
        <p:spPr>
          <a:xfrm>
            <a:off x="594360" y="1572768"/>
            <a:ext cx="1645920" cy="59436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Esaldi bakarra, baieztapen zehatza</a:t>
            </a:r>
            <a:endParaRPr lang="en-US" sz="1200" dirty="0"/>
          </a:p>
        </p:txBody>
      </p:sp>
      <p:sp>
        <p:nvSpPr>
          <p:cNvPr id="8" name="Shape 6"/>
          <p:cNvSpPr/>
          <p:nvPr/>
        </p:nvSpPr>
        <p:spPr>
          <a:xfrm>
            <a:off x="2560320" y="1097280"/>
            <a:ext cx="1920240" cy="1143000"/>
          </a:xfrm>
          <a:prstGeom prst="roundRect">
            <a:avLst>
              <a:gd name="adj" fmla="val 9600"/>
            </a:avLst>
          </a:prstGeom>
          <a:solidFill>
            <a:srgbClr val="D6E8F7"/>
          </a:solidFill>
          <a:ln w="12700">
            <a:solidFill>
              <a:srgbClr val="D6E8F7"/>
            </a:solidFill>
            <a:prstDash val="solid"/>
          </a:ln>
        </p:spPr>
      </p:sp>
      <p:sp>
        <p:nvSpPr>
          <p:cNvPr id="9" name="Text 7"/>
          <p:cNvSpPr txBox="1"/>
          <p:nvPr/>
        </p:nvSpPr>
        <p:spPr>
          <a:xfrm>
            <a:off x="2697480" y="1188720"/>
            <a:ext cx="1645920" cy="36576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Ebidentzia</a:t>
            </a:r>
            <a:endParaRPr lang="en-US" sz="1500" dirty="0"/>
          </a:p>
        </p:txBody>
      </p:sp>
      <p:sp>
        <p:nvSpPr>
          <p:cNvPr id="10" name="Text 8"/>
          <p:cNvSpPr txBox="1"/>
          <p:nvPr/>
        </p:nvSpPr>
        <p:spPr>
          <a:xfrm>
            <a:off x="2697480" y="1572768"/>
            <a:ext cx="1645920" cy="59436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Gutxienez bi kasu, datuekin</a:t>
            </a:r>
            <a:endParaRPr lang="en-US" sz="1200" dirty="0"/>
          </a:p>
        </p:txBody>
      </p:sp>
      <p:sp>
        <p:nvSpPr>
          <p:cNvPr id="11" name="Shape 9"/>
          <p:cNvSpPr/>
          <p:nvPr/>
        </p:nvSpPr>
        <p:spPr>
          <a:xfrm>
            <a:off x="4663440" y="1097280"/>
            <a:ext cx="1920240" cy="1143000"/>
          </a:xfrm>
          <a:prstGeom prst="roundRect">
            <a:avLst>
              <a:gd name="adj" fmla="val 9600"/>
            </a:avLst>
          </a:prstGeom>
          <a:solidFill>
            <a:srgbClr val="D6E8F7"/>
          </a:solidFill>
          <a:ln w="12700">
            <a:solidFill>
              <a:srgbClr val="D6E8F7"/>
            </a:solidFill>
            <a:prstDash val="solid"/>
          </a:ln>
        </p:spPr>
      </p:sp>
      <p:sp>
        <p:nvSpPr>
          <p:cNvPr id="12" name="Text 10"/>
          <p:cNvSpPr txBox="1"/>
          <p:nvPr/>
        </p:nvSpPr>
        <p:spPr>
          <a:xfrm>
            <a:off x="4800600" y="1188720"/>
            <a:ext cx="1645920" cy="36576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Mekanismoa</a:t>
            </a:r>
            <a:endParaRPr lang="en-US" sz="1500" dirty="0"/>
          </a:p>
        </p:txBody>
      </p:sp>
      <p:sp>
        <p:nvSpPr>
          <p:cNvPr id="13" name="Text 11"/>
          <p:cNvSpPr txBox="1"/>
          <p:nvPr/>
        </p:nvSpPr>
        <p:spPr>
          <a:xfrm>
            <a:off x="4800600" y="1572768"/>
            <a:ext cx="1645920" cy="59436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Zein ikaskuntza-mota</a:t>
            </a:r>
            <a:endParaRPr lang="en-US" sz="1200" dirty="0"/>
          </a:p>
        </p:txBody>
      </p:sp>
      <p:sp>
        <p:nvSpPr>
          <p:cNvPr id="14" name="Shape 12"/>
          <p:cNvSpPr/>
          <p:nvPr/>
        </p:nvSpPr>
        <p:spPr>
          <a:xfrm>
            <a:off x="6766560" y="1097280"/>
            <a:ext cx="1920240" cy="1143000"/>
          </a:xfrm>
          <a:prstGeom prst="roundRect">
            <a:avLst>
              <a:gd name="adj" fmla="val 9600"/>
            </a:avLst>
          </a:prstGeom>
          <a:solidFill>
            <a:srgbClr val="D6E8F7"/>
          </a:solidFill>
          <a:ln w="12700">
            <a:solidFill>
              <a:srgbClr val="D6E8F7"/>
            </a:solidFill>
            <a:prstDash val="solid"/>
          </a:ln>
        </p:spPr>
      </p:sp>
      <p:sp>
        <p:nvSpPr>
          <p:cNvPr id="15" name="Text 13"/>
          <p:cNvSpPr txBox="1"/>
          <p:nvPr/>
        </p:nvSpPr>
        <p:spPr>
          <a:xfrm>
            <a:off x="6903720" y="1188720"/>
            <a:ext cx="1645920" cy="36576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Muga</a:t>
            </a:r>
            <a:endParaRPr lang="en-US" sz="1500" dirty="0"/>
          </a:p>
        </p:txBody>
      </p:sp>
      <p:sp>
        <p:nvSpPr>
          <p:cNvPr id="16" name="Text 14"/>
          <p:cNvSpPr txBox="1"/>
          <p:nvPr/>
        </p:nvSpPr>
        <p:spPr>
          <a:xfrm>
            <a:off x="6903720" y="1572768"/>
            <a:ext cx="1645920" cy="59436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Zer ez dugu frogatu</a:t>
            </a:r>
            <a:endParaRPr lang="en-US" sz="1200" dirty="0"/>
          </a:p>
        </p:txBody>
      </p:sp>
      <p:sp>
        <p:nvSpPr>
          <p:cNvPr id="17" name="Shape 15"/>
          <p:cNvSpPr/>
          <p:nvPr/>
        </p:nvSpPr>
        <p:spPr>
          <a:xfrm>
            <a:off x="457200" y="2423160"/>
            <a:ext cx="8229600" cy="548640"/>
          </a:xfrm>
          <a:prstGeom prst="roundRect">
            <a:avLst>
              <a:gd name="adj" fmla="val 20000"/>
            </a:avLst>
          </a:prstGeom>
          <a:solidFill>
            <a:srgbClr val="F6E3E3"/>
          </a:solidFill>
          <a:ln w="12700">
            <a:solidFill>
              <a:srgbClr val="F6E3E3"/>
            </a:solidFill>
            <a:prstDash val="solid"/>
          </a:ln>
        </p:spPr>
      </p:sp>
      <p:sp>
        <p:nvSpPr>
          <p:cNvPr id="18" name="Text 16"/>
          <p:cNvSpPr txBox="1"/>
          <p:nvPr/>
        </p:nvSpPr>
        <p:spPr>
          <a:xfrm>
            <a:off x="640080" y="2423160"/>
            <a:ext cx="7863840" cy="548640"/>
          </a:xfrm>
          <a:prstGeom prst="rect">
            <a:avLst/>
          </a:prstGeom>
          <a:noFill/>
          <a:ln/>
        </p:spPr>
        <p:txBody>
          <a:bodyPr wrap="square" lIns="0" tIns="0" rIns="0" bIns="0" rtlCol="0" anchor="ctr"/>
          <a:lstStyle/>
          <a:p>
            <a:pPr indent="0" marL="0">
              <a:buNone/>
            </a:pPr>
            <a:r>
              <a:rPr lang="en-US" sz="1300" b="1" dirty="0">
                <a:solidFill>
                  <a:srgbClr val="8A2B2B"/>
                </a:solidFill>
                <a:latin typeface="Arial" pitchFamily="34" charset="0"/>
                <a:ea typeface="Arial" pitchFamily="34" charset="-122"/>
                <a:cs typeface="Arial" pitchFamily="34" charset="-120"/>
              </a:rPr>
              <a:t>Ahula: </a:t>
            </a:r>
            <a:pPr indent="0" marL="0">
              <a:buNone/>
            </a:pPr>
            <a:r>
              <a:rPr lang="en-US" sz="1300" dirty="0">
                <a:solidFill>
                  <a:srgbClr val="1A1A1A"/>
                </a:solidFill>
                <a:latin typeface="Arial" pitchFamily="34" charset="0"/>
                <a:ea typeface="Arial" pitchFamily="34" charset="-122"/>
                <a:cs typeface="Arial" pitchFamily="34" charset="-120"/>
              </a:rPr>
              <a:t>«Gizakiok gehiago imitatzen dugu». Nork baino? Zein datuk dio?</a:t>
            </a:r>
            <a:endParaRPr lang="en-US" sz="1300" dirty="0"/>
          </a:p>
        </p:txBody>
      </p:sp>
      <p:sp>
        <p:nvSpPr>
          <p:cNvPr id="19" name="Shape 17"/>
          <p:cNvSpPr/>
          <p:nvPr/>
        </p:nvSpPr>
        <p:spPr>
          <a:xfrm>
            <a:off x="457200" y="3108960"/>
            <a:ext cx="8229600" cy="1417320"/>
          </a:xfrm>
          <a:prstGeom prst="roundRect">
            <a:avLst>
              <a:gd name="adj" fmla="val 7742"/>
            </a:avLst>
          </a:prstGeom>
          <a:solidFill>
            <a:srgbClr val="D4EDE1"/>
          </a:solidFill>
          <a:ln w="12700">
            <a:solidFill>
              <a:srgbClr val="D4EDE1"/>
            </a:solidFill>
            <a:prstDash val="solid"/>
          </a:ln>
        </p:spPr>
      </p:sp>
      <p:sp>
        <p:nvSpPr>
          <p:cNvPr id="20" name="Text 18"/>
          <p:cNvSpPr txBox="1"/>
          <p:nvPr/>
        </p:nvSpPr>
        <p:spPr>
          <a:xfrm>
            <a:off x="640080" y="3108960"/>
            <a:ext cx="7863840" cy="1417320"/>
          </a:xfrm>
          <a:prstGeom prst="rect">
            <a:avLst/>
          </a:prstGeom>
          <a:noFill/>
          <a:ln/>
        </p:spPr>
        <p:txBody>
          <a:bodyPr wrap="square" lIns="0" tIns="0" rIns="0" bIns="0" rtlCol="0" anchor="ctr"/>
          <a:lstStyle/>
          <a:p>
            <a:pPr indent="0" marL="0">
              <a:buNone/>
            </a:pPr>
            <a:r>
              <a:rPr lang="en-US" sz="1300" b="1" dirty="0">
                <a:solidFill>
                  <a:srgbClr val="1A5C3A"/>
                </a:solidFill>
                <a:latin typeface="Arial" pitchFamily="34" charset="0"/>
                <a:ea typeface="Arial" pitchFamily="34" charset="-122"/>
                <a:cs typeface="Arial" pitchFamily="34" charset="-120"/>
              </a:rPr>
              <a:t>Garbia: </a:t>
            </a:r>
            <a:pPr indent="0" marL="0">
              <a:buNone/>
            </a:pPr>
            <a:r>
              <a:rPr lang="en-US" sz="1300" dirty="0">
                <a:solidFill>
                  <a:srgbClr val="1A1A1A"/>
                </a:solidFill>
                <a:latin typeface="Arial" pitchFamily="34" charset="0"/>
                <a:ea typeface="Arial" pitchFamily="34" charset="-122"/>
                <a:cs typeface="Arial" pitchFamily="34" charset="-120"/>
              </a:rPr>
              <a:t>«Gizakiok ekintzak kopiatzen ditugu, ezertarako balio ez dutela ikusten dugunean ere. Kutxa gardenarekin, haurrek % 80 kopiatu zuten eta txinpantzeek % 6; helduek, are gehiago. Behaketa bidezko ikaskuntza da, baina ez du eraginkortasuna bilatzen. Muga: lagin txikiak, egoera artifizialak».</a:t>
            </a:r>
            <a:endParaRPr lang="en-US" sz="13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Ikerketa-txostena: 1.500-2.000 hitz</a:t>
            </a:r>
            <a:endParaRPr lang="en-US" sz="2800" dirty="0"/>
          </a:p>
        </p:txBody>
      </p:sp>
      <p:sp>
        <p:nvSpPr>
          <p:cNvPr id="3" name="Shape 1"/>
          <p:cNvSpPr/>
          <p:nvPr/>
        </p:nvSpPr>
        <p:spPr>
          <a:xfrm>
            <a:off x="7635240" y="429768"/>
            <a:ext cx="1051560" cy="365760"/>
          </a:xfrm>
          <a:prstGeom prst="roundRect">
            <a:avLst>
              <a:gd name="adj" fmla="val 25000"/>
            </a:avLst>
          </a:prstGeom>
          <a:solidFill>
            <a:srgbClr val="1B3A5C"/>
          </a:solidFill>
          <a:ln w="12700">
            <a:solidFill>
              <a:srgbClr val="1B3A5C"/>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S8</a:t>
            </a:r>
            <a:endParaRPr lang="en-US" sz="1200" dirty="0"/>
          </a:p>
        </p:txBody>
      </p:sp>
      <p:sp>
        <p:nvSpPr>
          <p:cNvPr id="5" name="Shape 3"/>
          <p:cNvSpPr/>
          <p:nvPr/>
        </p:nvSpPr>
        <p:spPr>
          <a:xfrm>
            <a:off x="457200" y="1051560"/>
            <a:ext cx="8229600" cy="384048"/>
          </a:xfrm>
          <a:prstGeom prst="roundRect">
            <a:avLst>
              <a:gd name="adj" fmla="val 28571"/>
            </a:avLst>
          </a:prstGeom>
          <a:solidFill>
            <a:srgbClr val="F7F7F5"/>
          </a:solidFill>
          <a:ln w="12700">
            <a:solidFill>
              <a:srgbClr val="F7F7F5"/>
            </a:solidFill>
            <a:prstDash val="solid"/>
          </a:ln>
        </p:spPr>
      </p:sp>
      <p:sp>
        <p:nvSpPr>
          <p:cNvPr id="6" name="Text 4"/>
          <p:cNvSpPr txBox="1"/>
          <p:nvPr/>
        </p:nvSpPr>
        <p:spPr>
          <a:xfrm>
            <a:off x="594360" y="1051560"/>
            <a:ext cx="365760" cy="384048"/>
          </a:xfrm>
          <a:prstGeom prst="rect">
            <a:avLst/>
          </a:prstGeom>
          <a:noFill/>
          <a:ln/>
        </p:spPr>
        <p:txBody>
          <a:bodyPr wrap="square" lIns="0" tIns="0" rIns="0" bIns="0" rtlCol="0" anchor="ctr"/>
          <a:lstStyle/>
          <a:p>
            <a:pPr indent="0" marL="0">
              <a:buNone/>
            </a:pPr>
            <a:r>
              <a:rPr lang="en-US" sz="1400" b="1" dirty="0">
                <a:solidFill>
                  <a:srgbClr val="1B3A5C"/>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05840" y="1051560"/>
            <a:ext cx="6400800" cy="384048"/>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Galdera eta hipotesiak</a:t>
            </a:r>
            <a:endParaRPr lang="en-US" sz="1350" dirty="0"/>
          </a:p>
        </p:txBody>
      </p:sp>
      <p:sp>
        <p:nvSpPr>
          <p:cNvPr id="8" name="Text 6"/>
          <p:cNvSpPr txBox="1"/>
          <p:nvPr/>
        </p:nvSpPr>
        <p:spPr>
          <a:xfrm>
            <a:off x="7498080" y="1051560"/>
            <a:ext cx="1005840" cy="384048"/>
          </a:xfrm>
          <a:prstGeom prst="rect">
            <a:avLst/>
          </a:prstGeom>
          <a:noFill/>
          <a:ln/>
        </p:spPr>
        <p:txBody>
          <a:bodyPr wrap="square" lIns="0" tIns="0" rIns="0" bIns="0" rtlCol="0" anchor="ctr"/>
          <a:lstStyle/>
          <a:p>
            <a:pPr algn="r" indent="0" marL="0">
              <a:buNone/>
            </a:pPr>
            <a:r>
              <a:rPr lang="en-US" sz="1200" dirty="0">
                <a:solidFill>
                  <a:srgbClr val="5B6573"/>
                </a:solidFill>
                <a:latin typeface="Arial" pitchFamily="34" charset="0"/>
                <a:ea typeface="Arial" pitchFamily="34" charset="-122"/>
                <a:cs typeface="Arial" pitchFamily="34" charset="-120"/>
              </a:rPr>
              <a:t>~150</a:t>
            </a:r>
            <a:endParaRPr lang="en-US" sz="1200" dirty="0"/>
          </a:p>
        </p:txBody>
      </p:sp>
      <p:sp>
        <p:nvSpPr>
          <p:cNvPr id="9" name="Shape 7"/>
          <p:cNvSpPr/>
          <p:nvPr/>
        </p:nvSpPr>
        <p:spPr>
          <a:xfrm>
            <a:off x="457200" y="1508760"/>
            <a:ext cx="8229600" cy="384048"/>
          </a:xfrm>
          <a:prstGeom prst="roundRect">
            <a:avLst>
              <a:gd name="adj" fmla="val 28571"/>
            </a:avLst>
          </a:prstGeom>
          <a:solidFill>
            <a:srgbClr val="FFFFFF"/>
          </a:solidFill>
          <a:ln w="12700">
            <a:solidFill>
              <a:srgbClr val="FFFFFF"/>
            </a:solidFill>
            <a:prstDash val="solid"/>
          </a:ln>
        </p:spPr>
      </p:sp>
      <p:sp>
        <p:nvSpPr>
          <p:cNvPr id="10" name="Text 8"/>
          <p:cNvSpPr txBox="1"/>
          <p:nvPr/>
        </p:nvSpPr>
        <p:spPr>
          <a:xfrm>
            <a:off x="594360" y="1508760"/>
            <a:ext cx="365760" cy="384048"/>
          </a:xfrm>
          <a:prstGeom prst="rect">
            <a:avLst/>
          </a:prstGeom>
          <a:noFill/>
          <a:ln/>
        </p:spPr>
        <p:txBody>
          <a:bodyPr wrap="square" lIns="0" tIns="0" rIns="0" bIns="0" rtlCol="0" anchor="ctr"/>
          <a:lstStyle/>
          <a:p>
            <a:pPr indent="0" marL="0">
              <a:buNone/>
            </a:pPr>
            <a:r>
              <a:rPr lang="en-US" sz="1400" b="1" dirty="0">
                <a:solidFill>
                  <a:srgbClr val="1B3A5C"/>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005840" y="1508760"/>
            <a:ext cx="6400800" cy="384048"/>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Lau kasuak: diseinua, emaitzak, interpretazioa, mekanismoa</a:t>
            </a:r>
            <a:endParaRPr lang="en-US" sz="1350" dirty="0"/>
          </a:p>
        </p:txBody>
      </p:sp>
      <p:sp>
        <p:nvSpPr>
          <p:cNvPr id="12" name="Text 10"/>
          <p:cNvSpPr txBox="1"/>
          <p:nvPr/>
        </p:nvSpPr>
        <p:spPr>
          <a:xfrm>
            <a:off x="7498080" y="1508760"/>
            <a:ext cx="1005840" cy="384048"/>
          </a:xfrm>
          <a:prstGeom prst="rect">
            <a:avLst/>
          </a:prstGeom>
          <a:noFill/>
          <a:ln/>
        </p:spPr>
        <p:txBody>
          <a:bodyPr wrap="square" lIns="0" tIns="0" rIns="0" bIns="0" rtlCol="0" anchor="ctr"/>
          <a:lstStyle/>
          <a:p>
            <a:pPr algn="r" indent="0" marL="0">
              <a:buNone/>
            </a:pPr>
            <a:r>
              <a:rPr lang="en-US" sz="1200" dirty="0">
                <a:solidFill>
                  <a:srgbClr val="5B6573"/>
                </a:solidFill>
                <a:latin typeface="Arial" pitchFamily="34" charset="0"/>
                <a:ea typeface="Arial" pitchFamily="34" charset="-122"/>
                <a:cs typeface="Arial" pitchFamily="34" charset="-120"/>
              </a:rPr>
              <a:t>~800</a:t>
            </a:r>
            <a:endParaRPr lang="en-US" sz="1200" dirty="0"/>
          </a:p>
        </p:txBody>
      </p:sp>
      <p:sp>
        <p:nvSpPr>
          <p:cNvPr id="13" name="Shape 11"/>
          <p:cNvSpPr/>
          <p:nvPr/>
        </p:nvSpPr>
        <p:spPr>
          <a:xfrm>
            <a:off x="457200" y="1965960"/>
            <a:ext cx="8229600" cy="384048"/>
          </a:xfrm>
          <a:prstGeom prst="roundRect">
            <a:avLst>
              <a:gd name="adj" fmla="val 28571"/>
            </a:avLst>
          </a:prstGeom>
          <a:solidFill>
            <a:srgbClr val="F7F7F5"/>
          </a:solidFill>
          <a:ln w="12700">
            <a:solidFill>
              <a:srgbClr val="F7F7F5"/>
            </a:solidFill>
            <a:prstDash val="solid"/>
          </a:ln>
        </p:spPr>
      </p:sp>
      <p:sp>
        <p:nvSpPr>
          <p:cNvPr id="14" name="Text 12"/>
          <p:cNvSpPr txBox="1"/>
          <p:nvPr/>
        </p:nvSpPr>
        <p:spPr>
          <a:xfrm>
            <a:off x="594360" y="1965960"/>
            <a:ext cx="365760" cy="384048"/>
          </a:xfrm>
          <a:prstGeom prst="rect">
            <a:avLst/>
          </a:prstGeom>
          <a:noFill/>
          <a:ln/>
        </p:spPr>
        <p:txBody>
          <a:bodyPr wrap="square" lIns="0" tIns="0" rIns="0" bIns="0" rtlCol="0" anchor="ctr"/>
          <a:lstStyle/>
          <a:p>
            <a:pPr indent="0" marL="0">
              <a:buNone/>
            </a:pPr>
            <a:r>
              <a:rPr lang="en-US" sz="1400" b="1" dirty="0">
                <a:solidFill>
                  <a:srgbClr val="1B3A5C"/>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1005840" y="1965960"/>
            <a:ext cx="6400800" cy="384048"/>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Gure esperimentua</a:t>
            </a:r>
            <a:endParaRPr lang="en-US" sz="1350" dirty="0"/>
          </a:p>
        </p:txBody>
      </p:sp>
      <p:sp>
        <p:nvSpPr>
          <p:cNvPr id="16" name="Text 14"/>
          <p:cNvSpPr txBox="1"/>
          <p:nvPr/>
        </p:nvSpPr>
        <p:spPr>
          <a:xfrm>
            <a:off x="7498080" y="1965960"/>
            <a:ext cx="1005840" cy="384048"/>
          </a:xfrm>
          <a:prstGeom prst="rect">
            <a:avLst/>
          </a:prstGeom>
          <a:noFill/>
          <a:ln/>
        </p:spPr>
        <p:txBody>
          <a:bodyPr wrap="square" lIns="0" tIns="0" rIns="0" bIns="0" rtlCol="0" anchor="ctr"/>
          <a:lstStyle/>
          <a:p>
            <a:pPr algn="r" indent="0" marL="0">
              <a:buNone/>
            </a:pPr>
            <a:r>
              <a:rPr lang="en-US" sz="1200" dirty="0">
                <a:solidFill>
                  <a:srgbClr val="5B6573"/>
                </a:solidFill>
                <a:latin typeface="Arial" pitchFamily="34" charset="0"/>
                <a:ea typeface="Arial" pitchFamily="34" charset="-122"/>
                <a:cs typeface="Arial" pitchFamily="34" charset="-120"/>
              </a:rPr>
              <a:t>~300</a:t>
            </a:r>
            <a:endParaRPr lang="en-US" sz="1200" dirty="0"/>
          </a:p>
        </p:txBody>
      </p:sp>
      <p:sp>
        <p:nvSpPr>
          <p:cNvPr id="17" name="Shape 15"/>
          <p:cNvSpPr/>
          <p:nvPr/>
        </p:nvSpPr>
        <p:spPr>
          <a:xfrm>
            <a:off x="457200" y="2423160"/>
            <a:ext cx="8229600" cy="384048"/>
          </a:xfrm>
          <a:prstGeom prst="roundRect">
            <a:avLst>
              <a:gd name="adj" fmla="val 28571"/>
            </a:avLst>
          </a:prstGeom>
          <a:solidFill>
            <a:srgbClr val="FFFFFF"/>
          </a:solidFill>
          <a:ln w="12700">
            <a:solidFill>
              <a:srgbClr val="FFFFFF"/>
            </a:solidFill>
            <a:prstDash val="solid"/>
          </a:ln>
        </p:spPr>
      </p:sp>
      <p:sp>
        <p:nvSpPr>
          <p:cNvPr id="18" name="Text 16"/>
          <p:cNvSpPr txBox="1"/>
          <p:nvPr/>
        </p:nvSpPr>
        <p:spPr>
          <a:xfrm>
            <a:off x="594360" y="2423160"/>
            <a:ext cx="365760" cy="384048"/>
          </a:xfrm>
          <a:prstGeom prst="rect">
            <a:avLst/>
          </a:prstGeom>
          <a:noFill/>
          <a:ln/>
        </p:spPr>
        <p:txBody>
          <a:bodyPr wrap="square" lIns="0" tIns="0" rIns="0" bIns="0" rtlCol="0" anchor="ctr"/>
          <a:lstStyle/>
          <a:p>
            <a:pPr indent="0" marL="0">
              <a:buNone/>
            </a:pPr>
            <a:r>
              <a:rPr lang="en-US" sz="1400" b="1" dirty="0">
                <a:solidFill>
                  <a:srgbClr val="1B3A5C"/>
                </a:solidFill>
                <a:latin typeface="Arial" pitchFamily="34" charset="0"/>
                <a:ea typeface="Arial" pitchFamily="34" charset="-122"/>
                <a:cs typeface="Arial" pitchFamily="34" charset="-120"/>
              </a:rPr>
              <a:t>4</a:t>
            </a:r>
            <a:endParaRPr lang="en-US" sz="1400" dirty="0"/>
          </a:p>
        </p:txBody>
      </p:sp>
      <p:sp>
        <p:nvSpPr>
          <p:cNvPr id="19" name="Text 17"/>
          <p:cNvSpPr txBox="1"/>
          <p:nvPr/>
        </p:nvSpPr>
        <p:spPr>
          <a:xfrm>
            <a:off x="1005840" y="2423160"/>
            <a:ext cx="6400800" cy="384048"/>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Hiru ondorio, anatomiarekin</a:t>
            </a:r>
            <a:endParaRPr lang="en-US" sz="1350" dirty="0"/>
          </a:p>
        </p:txBody>
      </p:sp>
      <p:sp>
        <p:nvSpPr>
          <p:cNvPr id="20" name="Text 18"/>
          <p:cNvSpPr txBox="1"/>
          <p:nvPr/>
        </p:nvSpPr>
        <p:spPr>
          <a:xfrm>
            <a:off x="7498080" y="2423160"/>
            <a:ext cx="1005840" cy="384048"/>
          </a:xfrm>
          <a:prstGeom prst="rect">
            <a:avLst/>
          </a:prstGeom>
          <a:noFill/>
          <a:ln/>
        </p:spPr>
        <p:txBody>
          <a:bodyPr wrap="square" lIns="0" tIns="0" rIns="0" bIns="0" rtlCol="0" anchor="ctr"/>
          <a:lstStyle/>
          <a:p>
            <a:pPr algn="r" indent="0" marL="0">
              <a:buNone/>
            </a:pPr>
            <a:r>
              <a:rPr lang="en-US" sz="1200" dirty="0">
                <a:solidFill>
                  <a:srgbClr val="5B6573"/>
                </a:solidFill>
                <a:latin typeface="Arial" pitchFamily="34" charset="0"/>
                <a:ea typeface="Arial" pitchFamily="34" charset="-122"/>
                <a:cs typeface="Arial" pitchFamily="34" charset="-120"/>
              </a:rPr>
              <a:t>~450</a:t>
            </a:r>
            <a:endParaRPr lang="en-US" sz="1200" dirty="0"/>
          </a:p>
        </p:txBody>
      </p:sp>
      <p:sp>
        <p:nvSpPr>
          <p:cNvPr id="21" name="Shape 19"/>
          <p:cNvSpPr/>
          <p:nvPr/>
        </p:nvSpPr>
        <p:spPr>
          <a:xfrm>
            <a:off x="457200" y="2880360"/>
            <a:ext cx="8229600" cy="384048"/>
          </a:xfrm>
          <a:prstGeom prst="roundRect">
            <a:avLst>
              <a:gd name="adj" fmla="val 28571"/>
            </a:avLst>
          </a:prstGeom>
          <a:solidFill>
            <a:srgbClr val="F7F7F5"/>
          </a:solidFill>
          <a:ln w="12700">
            <a:solidFill>
              <a:srgbClr val="F7F7F5"/>
            </a:solidFill>
            <a:prstDash val="solid"/>
          </a:ln>
        </p:spPr>
      </p:sp>
      <p:sp>
        <p:nvSpPr>
          <p:cNvPr id="22" name="Text 20"/>
          <p:cNvSpPr txBox="1"/>
          <p:nvPr/>
        </p:nvSpPr>
        <p:spPr>
          <a:xfrm>
            <a:off x="594360" y="2880360"/>
            <a:ext cx="365760" cy="384048"/>
          </a:xfrm>
          <a:prstGeom prst="rect">
            <a:avLst/>
          </a:prstGeom>
          <a:noFill/>
          <a:ln/>
        </p:spPr>
        <p:txBody>
          <a:bodyPr wrap="square" lIns="0" tIns="0" rIns="0" bIns="0" rtlCol="0" anchor="ctr"/>
          <a:lstStyle/>
          <a:p>
            <a:pPr indent="0" marL="0">
              <a:buNone/>
            </a:pPr>
            <a:r>
              <a:rPr lang="en-US" sz="1400" b="1" dirty="0">
                <a:solidFill>
                  <a:srgbClr val="1B3A5C"/>
                </a:solidFill>
                <a:latin typeface="Arial" pitchFamily="34" charset="0"/>
                <a:ea typeface="Arial" pitchFamily="34" charset="-122"/>
                <a:cs typeface="Arial" pitchFamily="34" charset="-120"/>
              </a:rPr>
              <a:t>5</a:t>
            </a:r>
            <a:endParaRPr lang="en-US" sz="1400" dirty="0"/>
          </a:p>
        </p:txBody>
      </p:sp>
      <p:sp>
        <p:nvSpPr>
          <p:cNvPr id="23" name="Text 21"/>
          <p:cNvSpPr txBox="1"/>
          <p:nvPr/>
        </p:nvSpPr>
        <p:spPr>
          <a:xfrm>
            <a:off x="1005840" y="2880360"/>
            <a:ext cx="6400800" cy="384048"/>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Eta guk? Noiz da adimentsua ulertu gabe imitatzea, eta noiz ez?</a:t>
            </a:r>
            <a:endParaRPr lang="en-US" sz="1350" dirty="0"/>
          </a:p>
        </p:txBody>
      </p:sp>
      <p:sp>
        <p:nvSpPr>
          <p:cNvPr id="24" name="Text 22"/>
          <p:cNvSpPr txBox="1"/>
          <p:nvPr/>
        </p:nvSpPr>
        <p:spPr>
          <a:xfrm>
            <a:off x="7498080" y="2880360"/>
            <a:ext cx="1005840" cy="384048"/>
          </a:xfrm>
          <a:prstGeom prst="rect">
            <a:avLst/>
          </a:prstGeom>
          <a:noFill/>
          <a:ln/>
        </p:spPr>
        <p:txBody>
          <a:bodyPr wrap="square" lIns="0" tIns="0" rIns="0" bIns="0" rtlCol="0" anchor="ctr"/>
          <a:lstStyle/>
          <a:p>
            <a:pPr algn="r" indent="0" marL="0">
              <a:buNone/>
            </a:pPr>
            <a:r>
              <a:rPr lang="en-US" sz="1200" dirty="0">
                <a:solidFill>
                  <a:srgbClr val="5B6573"/>
                </a:solidFill>
                <a:latin typeface="Arial" pitchFamily="34" charset="0"/>
                <a:ea typeface="Arial" pitchFamily="34" charset="-122"/>
                <a:cs typeface="Arial" pitchFamily="34" charset="-120"/>
              </a:rPr>
              <a:t>~200</a:t>
            </a:r>
            <a:endParaRPr lang="en-US" sz="1200" dirty="0"/>
          </a:p>
        </p:txBody>
      </p:sp>
      <p:sp>
        <p:nvSpPr>
          <p:cNvPr id="25" name="Shape 23"/>
          <p:cNvSpPr/>
          <p:nvPr/>
        </p:nvSpPr>
        <p:spPr>
          <a:xfrm>
            <a:off x="457200" y="3337560"/>
            <a:ext cx="8229600" cy="384048"/>
          </a:xfrm>
          <a:prstGeom prst="roundRect">
            <a:avLst>
              <a:gd name="adj" fmla="val 28571"/>
            </a:avLst>
          </a:prstGeom>
          <a:solidFill>
            <a:srgbClr val="FFFFFF"/>
          </a:solidFill>
          <a:ln w="12700">
            <a:solidFill>
              <a:srgbClr val="FFFFFF"/>
            </a:solidFill>
            <a:prstDash val="solid"/>
          </a:ln>
        </p:spPr>
      </p:sp>
      <p:sp>
        <p:nvSpPr>
          <p:cNvPr id="26" name="Text 24"/>
          <p:cNvSpPr txBox="1"/>
          <p:nvPr/>
        </p:nvSpPr>
        <p:spPr>
          <a:xfrm>
            <a:off x="594360" y="3337560"/>
            <a:ext cx="365760" cy="384048"/>
          </a:xfrm>
          <a:prstGeom prst="rect">
            <a:avLst/>
          </a:prstGeom>
          <a:noFill/>
          <a:ln/>
        </p:spPr>
        <p:txBody>
          <a:bodyPr wrap="square" lIns="0" tIns="0" rIns="0" bIns="0" rtlCol="0" anchor="ctr"/>
          <a:lstStyle/>
          <a:p>
            <a:pPr indent="0" marL="0">
              <a:buNone/>
            </a:pPr>
            <a:r>
              <a:rPr lang="en-US" sz="1400" b="1" dirty="0">
                <a:solidFill>
                  <a:srgbClr val="1B3A5C"/>
                </a:solidFill>
                <a:latin typeface="Arial" pitchFamily="34" charset="0"/>
                <a:ea typeface="Arial" pitchFamily="34" charset="-122"/>
                <a:cs typeface="Arial" pitchFamily="34" charset="-120"/>
              </a:rPr>
              <a:t>6</a:t>
            </a:r>
            <a:endParaRPr lang="en-US" sz="1400" dirty="0"/>
          </a:p>
        </p:txBody>
      </p:sp>
      <p:sp>
        <p:nvSpPr>
          <p:cNvPr id="27" name="Text 25"/>
          <p:cNvSpPr txBox="1"/>
          <p:nvPr/>
        </p:nvSpPr>
        <p:spPr>
          <a:xfrm>
            <a:off x="1005840" y="3337560"/>
            <a:ext cx="6400800" cy="384048"/>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Iturriak</a:t>
            </a:r>
            <a:endParaRPr lang="en-US" sz="1350" dirty="0"/>
          </a:p>
        </p:txBody>
      </p:sp>
      <p:sp>
        <p:nvSpPr>
          <p:cNvPr id="28" name="Text 26"/>
          <p:cNvSpPr txBox="1"/>
          <p:nvPr/>
        </p:nvSpPr>
        <p:spPr>
          <a:xfrm>
            <a:off x="7498080" y="3337560"/>
            <a:ext cx="1005840" cy="384048"/>
          </a:xfrm>
          <a:prstGeom prst="rect">
            <a:avLst/>
          </a:prstGeom>
          <a:noFill/>
          <a:ln/>
        </p:spPr>
        <p:txBody>
          <a:bodyPr wrap="square" lIns="0" tIns="0" rIns="0" bIns="0" rtlCol="0" anchor="ctr"/>
          <a:lstStyle/>
          <a:p>
            <a:pPr algn="r" indent="0" marL="0">
              <a:buNone/>
            </a:pPr>
            <a:endParaRPr lang="en-US" sz="1200" dirty="0"/>
          </a:p>
        </p:txBody>
      </p:sp>
      <p:sp>
        <p:nvSpPr>
          <p:cNvPr id="29" name="Shape 27"/>
          <p:cNvSpPr/>
          <p:nvPr/>
        </p:nvSpPr>
        <p:spPr>
          <a:xfrm>
            <a:off x="457200" y="3886200"/>
            <a:ext cx="8229600" cy="640080"/>
          </a:xfrm>
          <a:prstGeom prst="roundRect">
            <a:avLst>
              <a:gd name="adj" fmla="val 17143"/>
            </a:avLst>
          </a:prstGeom>
          <a:solidFill>
            <a:srgbClr val="FAE5D3"/>
          </a:solidFill>
          <a:ln w="12700">
            <a:solidFill>
              <a:srgbClr val="FAE5D3"/>
            </a:solidFill>
            <a:prstDash val="solid"/>
          </a:ln>
        </p:spPr>
      </p:sp>
      <p:sp>
        <p:nvSpPr>
          <p:cNvPr id="30" name="Text 28"/>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Adimen artifiziala erabil dezakezue iturriak ulertzeko, baina idatzitako guztia ahoz defendatu beharko duzue. Zozketak erabakiko du nork zer defendatzen duen.</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E5D3"/>
        </a:solidFill>
      </p:bgPr>
    </p:bg>
    <p:spTree>
      <p:nvGrpSpPr>
        <p:cNvPr id="1" name=""/>
        <p:cNvGrpSpPr/>
        <p:nvPr/>
      </p:nvGrpSpPr>
      <p:grpSpPr>
        <a:xfrm>
          <a:off x="0" y="0"/>
          <a:ext cx="0" cy="0"/>
          <a:chOff x="0" y="0"/>
          <a:chExt cx="0" cy="0"/>
        </a:xfrm>
      </p:grpSpPr>
      <p:sp>
        <p:nvSpPr>
          <p:cNvPr id="2" name="Shape 0"/>
          <p:cNvSpPr/>
          <p:nvPr/>
        </p:nvSpPr>
        <p:spPr>
          <a:xfrm>
            <a:off x="548640" y="548640"/>
            <a:ext cx="822960" cy="457200"/>
          </a:xfrm>
          <a:prstGeom prst="roundRect">
            <a:avLst>
              <a:gd name="adj" fmla="val 20000"/>
            </a:avLst>
          </a:prstGeom>
          <a:solidFill>
            <a:srgbClr val="8C3A00"/>
          </a:solidFill>
          <a:ln w="12700">
            <a:solidFill>
              <a:srgbClr val="8C3A00"/>
            </a:solidFill>
            <a:prstDash val="solid"/>
          </a:ln>
        </p:spPr>
      </p:sp>
      <p:sp>
        <p:nvSpPr>
          <p:cNvPr id="3" name="Text 1"/>
          <p:cNvSpPr txBox="1"/>
          <p:nvPr/>
        </p:nvSpPr>
        <p:spPr>
          <a:xfrm>
            <a:off x="548640" y="548640"/>
            <a:ext cx="822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S9-10</a:t>
            </a:r>
            <a:endParaRPr lang="en-US" sz="1800" dirty="0"/>
          </a:p>
        </p:txBody>
      </p:sp>
      <p:sp>
        <p:nvSpPr>
          <p:cNvPr id="4" name="Text 2"/>
          <p:cNvSpPr txBox="1"/>
          <p:nvPr/>
        </p:nvSpPr>
        <p:spPr>
          <a:xfrm>
            <a:off x="1554480" y="548640"/>
            <a:ext cx="5029200" cy="457200"/>
          </a:xfrm>
          <a:prstGeom prst="rect">
            <a:avLst/>
          </a:prstGeom>
          <a:noFill/>
          <a:ln/>
        </p:spPr>
        <p:txBody>
          <a:bodyPr wrap="square" lIns="0" tIns="0" rIns="0" bIns="0" rtlCol="0" anchor="ctr"/>
          <a:lstStyle/>
          <a:p>
            <a:pPr indent="0" marL="0">
              <a:buNone/>
            </a:pPr>
            <a:r>
              <a:rPr lang="en-US" sz="1300" b="1" dirty="0">
                <a:solidFill>
                  <a:srgbClr val="8C3A00"/>
                </a:solidFill>
                <a:latin typeface="Arial" pitchFamily="34" charset="0"/>
                <a:ea typeface="Arial" pitchFamily="34" charset="-122"/>
                <a:cs typeface="Arial" pitchFamily="34" charset="-120"/>
              </a:rPr>
              <a:t>Aurkezpena eta egiaztapena · 2 × 50 min</a:t>
            </a:r>
            <a:endParaRPr lang="en-US" sz="1300" dirty="0"/>
          </a:p>
        </p:txBody>
      </p:sp>
      <p:sp>
        <p:nvSpPr>
          <p:cNvPr id="5" name="Text 0"/>
          <p:cNvSpPr/>
          <p:nvPr>
            <p:ph idx="100" type="title" hasCustomPrompt="1"/>
          </p:nvPr>
        </p:nvSpPr>
        <p:spPr>
          <a:xfrm>
            <a:off x="548640" y="1234440"/>
            <a:ext cx="6035040" cy="914400"/>
          </a:xfrm>
          <a:prstGeom prst="rect">
            <a:avLst/>
          </a:prstGeom>
          <a:noFill/>
          <a:ln/>
        </p:spPr>
        <p:txBody>
          <a:bodyPr wrap="square" lIns="0" tIns="0" rIns="0" bIns="0" rtlCol="0" anchor="t"/>
          <a:lstStyle/>
          <a:p>
            <a:pPr algn="l" indent="0" marL="0">
              <a:buNone/>
            </a:pPr>
            <a:r>
              <a:rPr lang="en-US" sz="3600" b="1" dirty="0">
                <a:solidFill>
                  <a:srgbClr val="1B3A5C"/>
                </a:solidFill>
              </a:rPr>
              <a:t>Ondorioak defendatu</a:t>
            </a:r>
            <a:endParaRPr lang="en-US" sz="3600" dirty="0"/>
          </a:p>
        </p:txBody>
      </p:sp>
      <p:sp>
        <p:nvSpPr>
          <p:cNvPr id="6" name="Text 0"/>
          <p:cNvSpPr/>
          <p:nvPr>
            <p:ph idx="101" type="body" hasCustomPrompt="1"/>
          </p:nvPr>
        </p:nvSpPr>
        <p:spPr>
          <a:xfrm>
            <a:off x="548640" y="2514600"/>
            <a:ext cx="6035040" cy="1463040"/>
          </a:xfrm>
          <a:prstGeom prst="rect">
            <a:avLst/>
          </a:prstGeom>
          <a:noFill/>
          <a:ln/>
        </p:spPr>
        <p:txBody>
          <a:bodyPr wrap="square" lIns="0" tIns="0" rIns="0" bIns="0" rtlCol="0" anchor="t"/>
          <a:lstStyle/>
          <a:p>
            <a:pPr algn="l" indent="0" marL="0">
              <a:buNone/>
            </a:pPr>
            <a:r>
              <a:rPr lang="en-US" sz="2200" b="1" dirty="0">
                <a:solidFill>
                  <a:srgbClr val="1B3A5C"/>
                </a:solidFill>
              </a:rPr>
              <a:t>Zuen ondorioek eusten diote besteen galderen aurrean?</a:t>
            </a:r>
            <a:endParaRPr lang="en-US" sz="2200" dirty="0"/>
          </a:p>
        </p:txBody>
      </p:sp>
      <p:sp>
        <p:nvSpPr>
          <p:cNvPr id="7" name="Shape 5"/>
          <p:cNvSpPr/>
          <p:nvPr/>
        </p:nvSpPr>
        <p:spPr>
          <a:xfrm>
            <a:off x="6720840" y="1325880"/>
            <a:ext cx="2011680" cy="20116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223760" y="1828800"/>
            <a:ext cx="1005840" cy="1005840"/>
          </a:xfrm>
          <a:prstGeom prst="rect">
            <a:avLst/>
          </a:prstGeom>
        </p:spPr>
      </p:pic>
      <p:sp>
        <p:nvSpPr>
          <p:cNvPr id="9" name="Text 6"/>
          <p:cNvSpPr txBox="1"/>
          <p:nvPr/>
        </p:nvSpPr>
        <p:spPr>
          <a:xfrm>
            <a:off x="548640" y="2240280"/>
            <a:ext cx="3657600" cy="274320"/>
          </a:xfrm>
          <a:prstGeom prst="rect">
            <a:avLst/>
          </a:prstGeom>
          <a:noFill/>
          <a:ln/>
        </p:spPr>
        <p:txBody>
          <a:bodyPr wrap="square" lIns="0" tIns="0" rIns="0" bIns="0" rtlCol="0" anchor="t"/>
          <a:lstStyle/>
          <a:p>
            <a:pPr indent="0" marL="0">
              <a:buNone/>
            </a:pPr>
            <a:r>
              <a:rPr lang="en-US" sz="1000" b="1" spc="200" kern="0" dirty="0">
                <a:solidFill>
                  <a:srgbClr val="5B6573"/>
                </a:solidFill>
                <a:latin typeface="Arial" pitchFamily="34" charset="0"/>
                <a:ea typeface="Arial" pitchFamily="34" charset="-122"/>
                <a:cs typeface="Arial" pitchFamily="34" charset="-120"/>
              </a:rPr>
              <a:t>GALDERA GIDARIA</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4 minutu + zozketa</a:t>
            </a:r>
            <a:endParaRPr lang="en-US" sz="2800" dirty="0"/>
          </a:p>
        </p:txBody>
      </p:sp>
      <p:sp>
        <p:nvSpPr>
          <p:cNvPr id="3" name="Shape 1"/>
          <p:cNvSpPr/>
          <p:nvPr/>
        </p:nvSpPr>
        <p:spPr>
          <a:xfrm>
            <a:off x="7635240" y="429768"/>
            <a:ext cx="1051560" cy="365760"/>
          </a:xfrm>
          <a:prstGeom prst="roundRect">
            <a:avLst>
              <a:gd name="adj" fmla="val 25000"/>
            </a:avLst>
          </a:prstGeom>
          <a:solidFill>
            <a:srgbClr val="8C3A00"/>
          </a:solidFill>
          <a:ln w="12700">
            <a:solidFill>
              <a:srgbClr val="8C3A00"/>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S9-S10</a:t>
            </a:r>
            <a:endParaRPr lang="en-US" sz="1200" dirty="0"/>
          </a:p>
        </p:txBody>
      </p:sp>
      <p:sp>
        <p:nvSpPr>
          <p:cNvPr id="5" name="Shape 3"/>
          <p:cNvSpPr/>
          <p:nvPr/>
        </p:nvSpPr>
        <p:spPr>
          <a:xfrm>
            <a:off x="457200" y="1097280"/>
            <a:ext cx="1783080" cy="1463040"/>
          </a:xfrm>
          <a:prstGeom prst="roundRect">
            <a:avLst>
              <a:gd name="adj" fmla="val 7500"/>
            </a:avLst>
          </a:prstGeom>
          <a:solidFill>
            <a:srgbClr val="FAE5D3"/>
          </a:solidFill>
          <a:ln w="12700">
            <a:solidFill>
              <a:srgbClr val="FAE5D3"/>
            </a:solidFill>
            <a:prstDash val="solid"/>
          </a:ln>
        </p:spPr>
      </p:sp>
      <p:sp>
        <p:nvSpPr>
          <p:cNvPr id="6" name="Text 4"/>
          <p:cNvSpPr txBox="1"/>
          <p:nvPr/>
        </p:nvSpPr>
        <p:spPr>
          <a:xfrm>
            <a:off x="594360" y="1188720"/>
            <a:ext cx="1508760" cy="548640"/>
          </a:xfrm>
          <a:prstGeom prst="rect">
            <a:avLst/>
          </a:prstGeom>
          <a:noFill/>
          <a:ln/>
        </p:spPr>
        <p:txBody>
          <a:bodyPr wrap="square" lIns="0" tIns="0" rIns="0" bIns="0" rtlCol="0" anchor="t"/>
          <a:lstStyle/>
          <a:p>
            <a:pPr indent="0" marL="0">
              <a:buNone/>
            </a:pPr>
            <a:r>
              <a:rPr lang="en-US" sz="2600" b="1" dirty="0">
                <a:solidFill>
                  <a:srgbClr val="8C3A00"/>
                </a:solidFill>
                <a:latin typeface="Arial" pitchFamily="34" charset="0"/>
                <a:ea typeface="Arial" pitchFamily="34" charset="-122"/>
                <a:cs typeface="Arial" pitchFamily="34" charset="-120"/>
              </a:rPr>
              <a:t>0:30</a:t>
            </a:r>
            <a:endParaRPr lang="en-US" sz="2600" dirty="0"/>
          </a:p>
        </p:txBody>
      </p:sp>
      <p:sp>
        <p:nvSpPr>
          <p:cNvPr id="7" name="Text 5"/>
          <p:cNvSpPr txBox="1"/>
          <p:nvPr/>
        </p:nvSpPr>
        <p:spPr>
          <a:xfrm>
            <a:off x="594360" y="1783080"/>
            <a:ext cx="1508760" cy="7315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Galdera eta hasierako hipotesia</a:t>
            </a:r>
            <a:endParaRPr lang="en-US" sz="1250" dirty="0"/>
          </a:p>
        </p:txBody>
      </p:sp>
      <p:sp>
        <p:nvSpPr>
          <p:cNvPr id="8" name="Shape 6"/>
          <p:cNvSpPr/>
          <p:nvPr/>
        </p:nvSpPr>
        <p:spPr>
          <a:xfrm>
            <a:off x="2377440" y="1097280"/>
            <a:ext cx="1783080" cy="1463040"/>
          </a:xfrm>
          <a:prstGeom prst="roundRect">
            <a:avLst>
              <a:gd name="adj" fmla="val 7500"/>
            </a:avLst>
          </a:prstGeom>
          <a:solidFill>
            <a:srgbClr val="FAE5D3"/>
          </a:solidFill>
          <a:ln w="12700">
            <a:solidFill>
              <a:srgbClr val="FAE5D3"/>
            </a:solidFill>
            <a:prstDash val="solid"/>
          </a:ln>
        </p:spPr>
      </p:sp>
      <p:sp>
        <p:nvSpPr>
          <p:cNvPr id="9" name="Text 7"/>
          <p:cNvSpPr txBox="1"/>
          <p:nvPr/>
        </p:nvSpPr>
        <p:spPr>
          <a:xfrm>
            <a:off x="2514600" y="1188720"/>
            <a:ext cx="1508760" cy="548640"/>
          </a:xfrm>
          <a:prstGeom prst="rect">
            <a:avLst/>
          </a:prstGeom>
          <a:noFill/>
          <a:ln/>
        </p:spPr>
        <p:txBody>
          <a:bodyPr wrap="square" lIns="0" tIns="0" rIns="0" bIns="0" rtlCol="0" anchor="t"/>
          <a:lstStyle/>
          <a:p>
            <a:pPr indent="0" marL="0">
              <a:buNone/>
            </a:pPr>
            <a:r>
              <a:rPr lang="en-US" sz="2600" b="1" dirty="0">
                <a:solidFill>
                  <a:srgbClr val="8C3A00"/>
                </a:solidFill>
                <a:latin typeface="Arial" pitchFamily="34" charset="0"/>
                <a:ea typeface="Arial" pitchFamily="34" charset="-122"/>
                <a:cs typeface="Arial" pitchFamily="34" charset="-120"/>
              </a:rPr>
              <a:t>2:30</a:t>
            </a:r>
            <a:endParaRPr lang="en-US" sz="2600" dirty="0"/>
          </a:p>
        </p:txBody>
      </p:sp>
      <p:sp>
        <p:nvSpPr>
          <p:cNvPr id="10" name="Text 8"/>
          <p:cNvSpPr txBox="1"/>
          <p:nvPr/>
        </p:nvSpPr>
        <p:spPr>
          <a:xfrm>
            <a:off x="2514600" y="1783080"/>
            <a:ext cx="1508760" cy="7315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Hiru ondorioak, anatomiarekin</a:t>
            </a:r>
            <a:endParaRPr lang="en-US" sz="1250" dirty="0"/>
          </a:p>
        </p:txBody>
      </p:sp>
      <p:sp>
        <p:nvSpPr>
          <p:cNvPr id="11" name="Shape 9"/>
          <p:cNvSpPr/>
          <p:nvPr/>
        </p:nvSpPr>
        <p:spPr>
          <a:xfrm>
            <a:off x="4297680" y="1097280"/>
            <a:ext cx="1783080" cy="1463040"/>
          </a:xfrm>
          <a:prstGeom prst="roundRect">
            <a:avLst>
              <a:gd name="adj" fmla="val 7500"/>
            </a:avLst>
          </a:prstGeom>
          <a:solidFill>
            <a:srgbClr val="FAE5D3"/>
          </a:solidFill>
          <a:ln w="12700">
            <a:solidFill>
              <a:srgbClr val="FAE5D3"/>
            </a:solidFill>
            <a:prstDash val="solid"/>
          </a:ln>
        </p:spPr>
      </p:sp>
      <p:sp>
        <p:nvSpPr>
          <p:cNvPr id="12" name="Text 10"/>
          <p:cNvSpPr txBox="1"/>
          <p:nvPr/>
        </p:nvSpPr>
        <p:spPr>
          <a:xfrm>
            <a:off x="4434840" y="1188720"/>
            <a:ext cx="1508760" cy="548640"/>
          </a:xfrm>
          <a:prstGeom prst="rect">
            <a:avLst/>
          </a:prstGeom>
          <a:noFill/>
          <a:ln/>
        </p:spPr>
        <p:txBody>
          <a:bodyPr wrap="square" lIns="0" tIns="0" rIns="0" bIns="0" rtlCol="0" anchor="t"/>
          <a:lstStyle/>
          <a:p>
            <a:pPr indent="0" marL="0">
              <a:buNone/>
            </a:pPr>
            <a:r>
              <a:rPr lang="en-US" sz="2600" b="1" dirty="0">
                <a:solidFill>
                  <a:srgbClr val="8C3A00"/>
                </a:solidFill>
                <a:latin typeface="Arial" pitchFamily="34" charset="0"/>
                <a:ea typeface="Arial" pitchFamily="34" charset="-122"/>
                <a:cs typeface="Arial" pitchFamily="34" charset="-120"/>
              </a:rPr>
              <a:t>1:00</a:t>
            </a:r>
            <a:endParaRPr lang="en-US" sz="2600" dirty="0"/>
          </a:p>
        </p:txBody>
      </p:sp>
      <p:sp>
        <p:nvSpPr>
          <p:cNvPr id="13" name="Text 11"/>
          <p:cNvSpPr txBox="1"/>
          <p:nvPr/>
        </p:nvSpPr>
        <p:spPr>
          <a:xfrm>
            <a:off x="4434840" y="1783080"/>
            <a:ext cx="1508760" cy="7315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Eta guk?</a:t>
            </a:r>
            <a:endParaRPr lang="en-US" sz="1250" dirty="0"/>
          </a:p>
        </p:txBody>
      </p:sp>
      <p:sp>
        <p:nvSpPr>
          <p:cNvPr id="14" name="Shape 12"/>
          <p:cNvSpPr/>
          <p:nvPr/>
        </p:nvSpPr>
        <p:spPr>
          <a:xfrm>
            <a:off x="6309360" y="1097280"/>
            <a:ext cx="2377440" cy="1463040"/>
          </a:xfrm>
          <a:prstGeom prst="roundRect">
            <a:avLst>
              <a:gd name="adj" fmla="val 7500"/>
            </a:avLst>
          </a:prstGeom>
          <a:solidFill>
            <a:srgbClr val="D6E8F7"/>
          </a:solidFill>
          <a:ln w="12700">
            <a:solidFill>
              <a:srgbClr val="D6E8F7"/>
            </a:solidFill>
            <a:prstDash val="solid"/>
          </a:ln>
        </p:spPr>
      </p:sp>
      <p:sp>
        <p:nvSpPr>
          <p:cNvPr id="15" name="Text 13"/>
          <p:cNvSpPr txBox="1"/>
          <p:nvPr/>
        </p:nvSpPr>
        <p:spPr>
          <a:xfrm>
            <a:off x="6446520" y="1188720"/>
            <a:ext cx="2148840" cy="1280160"/>
          </a:xfrm>
          <a:prstGeom prst="rect">
            <a:avLst/>
          </a:prstGeom>
          <a:noFill/>
          <a:ln/>
        </p:spPr>
        <p:txBody>
          <a:bodyPr wrap="square" lIns="0" tIns="0" rIns="0" bIns="0" rtlCol="0" anchor="t"/>
          <a:lstStyle/>
          <a:p>
            <a:pPr indent="0" marL="0">
              <a:buNone/>
            </a:pPr>
            <a:r>
              <a:rPr lang="en-US" sz="1500" b="1" dirty="0">
                <a:solidFill>
                  <a:srgbClr val="1B3A5C"/>
                </a:solidFill>
                <a:latin typeface="Arial" pitchFamily="34" charset="0"/>
                <a:ea typeface="Arial" pitchFamily="34" charset="-122"/>
                <a:cs typeface="Arial" pitchFamily="34" charset="-120"/>
              </a:rPr>
              <a:t>Zozketa · 1:30</a:t>
            </a:r>
            <a:endParaRPr lang="en-US" sz="1500" dirty="0"/>
          </a:p>
          <a:p>
            <a:pPr indent="0" marL="0">
              <a:buNone/>
            </a:pPr>
            <a:r>
              <a:rPr lang="en-US" sz="1250" dirty="0">
                <a:solidFill>
                  <a:srgbClr val="1A1A1A"/>
                </a:solidFill>
                <a:latin typeface="Arial" pitchFamily="34" charset="0"/>
                <a:ea typeface="Arial" pitchFamily="34" charset="-122"/>
                <a:cs typeface="Arial" pitchFamily="34" charset="-120"/>
              </a:rPr>
              <a:t>Kide bat + kasu bat + galdera mota bat. Oharrik gabe.</a:t>
            </a:r>
            <a:endParaRPr lang="en-US" sz="1500" dirty="0"/>
          </a:p>
        </p:txBody>
      </p:sp>
      <p:sp>
        <p:nvSpPr>
          <p:cNvPr id="16" name="Shape 14"/>
          <p:cNvSpPr/>
          <p:nvPr/>
        </p:nvSpPr>
        <p:spPr>
          <a:xfrm>
            <a:off x="457200" y="2743200"/>
            <a:ext cx="8229600" cy="777240"/>
          </a:xfrm>
          <a:prstGeom prst="roundRect">
            <a:avLst>
              <a:gd name="adj" fmla="val 14118"/>
            </a:avLst>
          </a:prstGeom>
          <a:solidFill>
            <a:srgbClr val="F7F7F5"/>
          </a:solidFill>
          <a:ln w="12700">
            <a:solidFill>
              <a:srgbClr val="F7F7F5"/>
            </a:solidFill>
            <a:prstDash val="solid"/>
          </a:ln>
        </p:spPr>
      </p:sp>
      <p:sp>
        <p:nvSpPr>
          <p:cNvPr id="17" name="Text 15"/>
          <p:cNvSpPr txBox="1"/>
          <p:nvPr/>
        </p:nvSpPr>
        <p:spPr>
          <a:xfrm>
            <a:off x="640080" y="2743200"/>
            <a:ext cx="7863840" cy="777240"/>
          </a:xfrm>
          <a:prstGeom prst="rect">
            <a:avLst/>
          </a:prstGeom>
          <a:noFill/>
          <a:ln/>
        </p:spPr>
        <p:txBody>
          <a:bodyPr wrap="square" lIns="0" tIns="0" rIns="0" bIns="0" rtlCol="0" anchor="ctr"/>
          <a:lstStyle/>
          <a:p>
            <a:pPr indent="0" marL="0">
              <a:buNone/>
            </a:pPr>
            <a:r>
              <a:rPr lang="en-US" sz="1300" b="1" dirty="0">
                <a:solidFill>
                  <a:srgbClr val="1B3A5C"/>
                </a:solidFill>
                <a:latin typeface="Arial" pitchFamily="34" charset="0"/>
                <a:ea typeface="Arial" pitchFamily="34" charset="-122"/>
                <a:cs typeface="Arial" pitchFamily="34" charset="-120"/>
              </a:rPr>
              <a:t>Galdera motak: </a:t>
            </a:r>
            <a:pPr indent="0" marL="0">
              <a:buNone/>
            </a:pPr>
            <a:r>
              <a:rPr lang="en-US" sz="1300" dirty="0">
                <a:solidFill>
                  <a:srgbClr val="1A1A1A"/>
                </a:solidFill>
                <a:latin typeface="Arial" pitchFamily="34" charset="0"/>
                <a:ea typeface="Arial" pitchFamily="34" charset="-122"/>
                <a:cs typeface="Arial" pitchFamily="34" charset="-120"/>
              </a:rPr>
              <a:t>diseinua · emaitzak · mekanismoa · muga.   </a:t>
            </a:r>
            <a:pPr indent="0" marL="0">
              <a:buNone/>
            </a:pPr>
            <a:r>
              <a:rPr lang="en-US" sz="1300" b="1" dirty="0">
                <a:solidFill>
                  <a:srgbClr val="1B3A5C"/>
                </a:solidFill>
                <a:latin typeface="Arial" pitchFamily="34" charset="0"/>
                <a:ea typeface="Arial" pitchFamily="34" charset="-122"/>
                <a:cs typeface="Arial" pitchFamily="34" charset="-120"/>
              </a:rPr>
              <a:t>Gehienez 4 diapositiba, </a:t>
            </a:r>
            <a:pPr indent="0" marL="0">
              <a:buNone/>
            </a:pPr>
            <a:r>
              <a:rPr lang="en-US" sz="1300" dirty="0">
                <a:solidFill>
                  <a:srgbClr val="1A1A1A"/>
                </a:solidFill>
                <a:latin typeface="Arial" pitchFamily="34" charset="0"/>
                <a:ea typeface="Arial" pitchFamily="34" charset="-122"/>
                <a:cs typeface="Arial" pitchFamily="34" charset="-120"/>
              </a:rPr>
              <a:t>datu bat ondorio bakoitzeko.</a:t>
            </a:r>
            <a:endParaRPr lang="en-US" sz="1300" dirty="0"/>
          </a:p>
        </p:txBody>
      </p:sp>
      <p:sp>
        <p:nvSpPr>
          <p:cNvPr id="18" name="Shape 16"/>
          <p:cNvSpPr/>
          <p:nvPr/>
        </p:nvSpPr>
        <p:spPr>
          <a:xfrm>
            <a:off x="457200" y="3657600"/>
            <a:ext cx="8229600" cy="868680"/>
          </a:xfrm>
          <a:prstGeom prst="roundRect">
            <a:avLst>
              <a:gd name="adj" fmla="val 12632"/>
            </a:avLst>
          </a:prstGeom>
          <a:solidFill>
            <a:srgbClr val="FAE5D3"/>
          </a:solidFill>
          <a:ln w="12700">
            <a:solidFill>
              <a:srgbClr val="FAE5D3"/>
            </a:solidFill>
            <a:prstDash val="solid"/>
          </a:ln>
        </p:spPr>
      </p:sp>
      <p:sp>
        <p:nvSpPr>
          <p:cNvPr id="19" name="Text 17"/>
          <p:cNvSpPr txBox="1"/>
          <p:nvPr/>
        </p:nvSpPr>
        <p:spPr>
          <a:xfrm>
            <a:off x="640080" y="3657600"/>
            <a:ext cx="7863840" cy="868680"/>
          </a:xfrm>
          <a:prstGeom prst="rect">
            <a:avLst/>
          </a:prstGeom>
          <a:noFill/>
          <a:ln/>
        </p:spPr>
        <p:txBody>
          <a:bodyPr wrap="square" lIns="0" tIns="0" rIns="0" bIns="0" rtlCol="0" anchor="ctr"/>
          <a:lstStyle/>
          <a:p>
            <a:pPr indent="0" marL="0">
              <a:buNone/>
            </a:pPr>
            <a:r>
              <a:rPr lang="en-US" sz="1300" b="1" dirty="0">
                <a:solidFill>
                  <a:srgbClr val="8C3A00"/>
                </a:solidFill>
                <a:latin typeface="Arial" pitchFamily="34" charset="0"/>
                <a:ea typeface="Arial" pitchFamily="34" charset="-122"/>
                <a:cs typeface="Arial" pitchFamily="34" charset="-120"/>
              </a:rPr>
              <a:t>Entzuleok: </a:t>
            </a:r>
            <a:pPr indent="0" marL="0">
              <a:buNone/>
            </a:pPr>
            <a:r>
              <a:rPr lang="en-US" sz="1300" dirty="0">
                <a:solidFill>
                  <a:srgbClr val="1A1A1A"/>
                </a:solidFill>
                <a:latin typeface="Arial" pitchFamily="34" charset="0"/>
                <a:ea typeface="Arial" pitchFamily="34" charset="-122"/>
                <a:cs typeface="Arial" pitchFamily="34" charset="-120"/>
              </a:rPr>
              <a:t>hirukote bakoitzak beste talde baten aurkezpena jarraitzen du eta galdera kritiko bat idazten du txartelean («Zuen X ondorioak ebidentzia gehiago behar du...»).</a:t>
            </a:r>
            <a:endParaRPr lang="en-US" sz="130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7040880" cy="640080"/>
          </a:xfrm>
          <a:prstGeom prst="rect">
            <a:avLst/>
          </a:prstGeom>
          <a:noFill/>
          <a:ln/>
        </p:spPr>
        <p:txBody>
          <a:bodyPr wrap="square" lIns="0" tIns="0" rIns="0" bIns="0" rtlCol="0" anchor="ctr"/>
          <a:lstStyle/>
          <a:p>
            <a:pPr algn="l" indent="0" marL="0">
              <a:buNone/>
            </a:pPr>
            <a:r>
              <a:rPr lang="en-US" sz="2800" b="1" dirty="0">
                <a:solidFill>
                  <a:srgbClr val="1B3A5C"/>
                </a:solidFill>
              </a:rPr>
              <a:t>Bi saiotan</a:t>
            </a:r>
            <a:endParaRPr lang="en-US" sz="2800" dirty="0"/>
          </a:p>
        </p:txBody>
      </p:sp>
      <p:sp>
        <p:nvSpPr>
          <p:cNvPr id="3" name="Shape 1"/>
          <p:cNvSpPr/>
          <p:nvPr/>
        </p:nvSpPr>
        <p:spPr>
          <a:xfrm>
            <a:off x="7635240" y="429768"/>
            <a:ext cx="1051560" cy="365760"/>
          </a:xfrm>
          <a:prstGeom prst="roundRect">
            <a:avLst>
              <a:gd name="adj" fmla="val 25000"/>
            </a:avLst>
          </a:prstGeom>
          <a:solidFill>
            <a:srgbClr val="8C3A00"/>
          </a:solidFill>
          <a:ln w="12700">
            <a:solidFill>
              <a:srgbClr val="8C3A00"/>
            </a:solidFill>
            <a:prstDash val="solid"/>
          </a:ln>
        </p:spPr>
      </p:sp>
      <p:sp>
        <p:nvSpPr>
          <p:cNvPr id="4" name="Text 2"/>
          <p:cNvSpPr txBox="1"/>
          <p:nvPr/>
        </p:nvSpPr>
        <p:spPr>
          <a:xfrm>
            <a:off x="7635240" y="42976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S9-S10</a:t>
            </a:r>
            <a:endParaRPr lang="en-US" sz="1200" dirty="0"/>
          </a:p>
        </p:txBody>
      </p:sp>
      <p:sp>
        <p:nvSpPr>
          <p:cNvPr id="5" name="Shape 3"/>
          <p:cNvSpPr/>
          <p:nvPr/>
        </p:nvSpPr>
        <p:spPr>
          <a:xfrm>
            <a:off x="457200" y="1097280"/>
            <a:ext cx="4023360" cy="3429000"/>
          </a:xfrm>
          <a:prstGeom prst="roundRect">
            <a:avLst>
              <a:gd name="adj" fmla="val 3200"/>
            </a:avLst>
          </a:prstGeom>
          <a:solidFill>
            <a:srgbClr val="FAE5D3"/>
          </a:solidFill>
          <a:ln w="12700">
            <a:solidFill>
              <a:srgbClr val="FAE5D3"/>
            </a:solidFill>
            <a:prstDash val="solid"/>
          </a:ln>
        </p:spPr>
      </p:sp>
      <p:sp>
        <p:nvSpPr>
          <p:cNvPr id="6" name="Text 4"/>
          <p:cNvSpPr txBox="1"/>
          <p:nvPr/>
        </p:nvSpPr>
        <p:spPr>
          <a:xfrm>
            <a:off x="685800" y="1207008"/>
            <a:ext cx="3566160" cy="502920"/>
          </a:xfrm>
          <a:prstGeom prst="rect">
            <a:avLst/>
          </a:prstGeom>
          <a:noFill/>
          <a:ln/>
        </p:spPr>
        <p:txBody>
          <a:bodyPr wrap="square" lIns="0" tIns="0" rIns="0" bIns="0" rtlCol="0" anchor="t"/>
          <a:lstStyle/>
          <a:p>
            <a:pPr indent="0" marL="0">
              <a:buNone/>
            </a:pPr>
            <a:r>
              <a:rPr lang="en-US" sz="2400" b="1" dirty="0">
                <a:solidFill>
                  <a:srgbClr val="8C3A00"/>
                </a:solidFill>
                <a:latin typeface="Arial" pitchFamily="34" charset="0"/>
                <a:ea typeface="Arial" pitchFamily="34" charset="-122"/>
                <a:cs typeface="Arial" pitchFamily="34" charset="-120"/>
              </a:rPr>
              <a:t>S9</a:t>
            </a:r>
            <a:endParaRPr lang="en-US" sz="2400" dirty="0"/>
          </a:p>
        </p:txBody>
      </p:sp>
      <p:sp>
        <p:nvSpPr>
          <p:cNvPr id="7" name="Shape 5"/>
          <p:cNvSpPr/>
          <p:nvPr/>
        </p:nvSpPr>
        <p:spPr>
          <a:xfrm>
            <a:off x="640080" y="1874520"/>
            <a:ext cx="3657600" cy="731520"/>
          </a:xfrm>
          <a:prstGeom prst="roundRect">
            <a:avLst>
              <a:gd name="adj" fmla="val 15000"/>
            </a:avLst>
          </a:prstGeom>
          <a:solidFill>
            <a:srgbClr val="FFFFFF"/>
          </a:solidFill>
          <a:ln w="12700">
            <a:solidFill>
              <a:srgbClr val="FFFFFF"/>
            </a:solidFill>
            <a:prstDash val="solid"/>
          </a:ln>
        </p:spPr>
      </p:sp>
      <p:sp>
        <p:nvSpPr>
          <p:cNvPr id="8" name="Text 6"/>
          <p:cNvSpPr txBox="1"/>
          <p:nvPr/>
        </p:nvSpPr>
        <p:spPr>
          <a:xfrm>
            <a:off x="777240" y="1874520"/>
            <a:ext cx="822960" cy="731520"/>
          </a:xfrm>
          <a:prstGeom prst="rect">
            <a:avLst/>
          </a:prstGeom>
          <a:noFill/>
          <a:ln/>
        </p:spPr>
        <p:txBody>
          <a:bodyPr wrap="square" lIns="0" tIns="0" rIns="0" bIns="0" rtlCol="0" anchor="ctr"/>
          <a:lstStyle/>
          <a:p>
            <a:pPr indent="0" marL="0">
              <a:buNone/>
            </a:pPr>
            <a:r>
              <a:rPr lang="en-US" sz="1300" b="1" dirty="0">
                <a:solidFill>
                  <a:srgbClr val="8C3A00"/>
                </a:solidFill>
                <a:latin typeface="Arial" pitchFamily="34" charset="0"/>
                <a:ea typeface="Arial" pitchFamily="34" charset="-122"/>
                <a:cs typeface="Arial" pitchFamily="34" charset="-120"/>
              </a:rPr>
              <a:t>28 min</a:t>
            </a:r>
            <a:endParaRPr lang="en-US" sz="1300" dirty="0"/>
          </a:p>
        </p:txBody>
      </p:sp>
      <p:sp>
        <p:nvSpPr>
          <p:cNvPr id="9" name="Text 7"/>
          <p:cNvSpPr txBox="1"/>
          <p:nvPr/>
        </p:nvSpPr>
        <p:spPr>
          <a:xfrm>
            <a:off x="1645920" y="1874520"/>
            <a:ext cx="2560320" cy="73152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Hirukoteen erdiak aurkezten du + zozketa</a:t>
            </a:r>
            <a:endParaRPr lang="en-US" sz="1250" dirty="0"/>
          </a:p>
        </p:txBody>
      </p:sp>
      <p:sp>
        <p:nvSpPr>
          <p:cNvPr id="10" name="Shape 8"/>
          <p:cNvSpPr/>
          <p:nvPr/>
        </p:nvSpPr>
        <p:spPr>
          <a:xfrm>
            <a:off x="640080" y="2743200"/>
            <a:ext cx="3657600" cy="731520"/>
          </a:xfrm>
          <a:prstGeom prst="roundRect">
            <a:avLst>
              <a:gd name="adj" fmla="val 15000"/>
            </a:avLst>
          </a:prstGeom>
          <a:solidFill>
            <a:srgbClr val="FFFFFF"/>
          </a:solidFill>
          <a:ln w="12700">
            <a:solidFill>
              <a:srgbClr val="FFFFFF"/>
            </a:solidFill>
            <a:prstDash val="solid"/>
          </a:ln>
        </p:spPr>
      </p:sp>
      <p:sp>
        <p:nvSpPr>
          <p:cNvPr id="11" name="Text 9"/>
          <p:cNvSpPr txBox="1"/>
          <p:nvPr/>
        </p:nvSpPr>
        <p:spPr>
          <a:xfrm>
            <a:off x="777240" y="2743200"/>
            <a:ext cx="822960" cy="731520"/>
          </a:xfrm>
          <a:prstGeom prst="rect">
            <a:avLst/>
          </a:prstGeom>
          <a:noFill/>
          <a:ln/>
        </p:spPr>
        <p:txBody>
          <a:bodyPr wrap="square" lIns="0" tIns="0" rIns="0" bIns="0" rtlCol="0" anchor="ctr"/>
          <a:lstStyle/>
          <a:p>
            <a:pPr indent="0" marL="0">
              <a:buNone/>
            </a:pPr>
            <a:r>
              <a:rPr lang="en-US" sz="1300" b="1" dirty="0">
                <a:solidFill>
                  <a:srgbClr val="8C3A00"/>
                </a:solidFill>
                <a:latin typeface="Arial" pitchFamily="34" charset="0"/>
                <a:ea typeface="Arial" pitchFamily="34" charset="-122"/>
                <a:cs typeface="Arial" pitchFamily="34" charset="-120"/>
              </a:rPr>
              <a:t>15 min</a:t>
            </a:r>
            <a:endParaRPr lang="en-US" sz="1300" dirty="0"/>
          </a:p>
        </p:txBody>
      </p:sp>
      <p:sp>
        <p:nvSpPr>
          <p:cNvPr id="12" name="Text 10"/>
          <p:cNvSpPr txBox="1"/>
          <p:nvPr/>
        </p:nvSpPr>
        <p:spPr>
          <a:xfrm>
            <a:off x="1645920" y="2743200"/>
            <a:ext cx="2560320" cy="73152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Jasotako galdera kritikoak irakurri eta erantzuna prestatu</a:t>
            </a:r>
            <a:endParaRPr lang="en-US" sz="1250" dirty="0"/>
          </a:p>
        </p:txBody>
      </p:sp>
      <p:sp>
        <p:nvSpPr>
          <p:cNvPr id="13" name="Shape 11"/>
          <p:cNvSpPr/>
          <p:nvPr/>
        </p:nvSpPr>
        <p:spPr>
          <a:xfrm>
            <a:off x="640080" y="3611880"/>
            <a:ext cx="3657600" cy="731520"/>
          </a:xfrm>
          <a:prstGeom prst="roundRect">
            <a:avLst>
              <a:gd name="adj" fmla="val 15000"/>
            </a:avLst>
          </a:prstGeom>
          <a:solidFill>
            <a:srgbClr val="FFFFFF"/>
          </a:solidFill>
          <a:ln w="12700">
            <a:solidFill>
              <a:srgbClr val="FFFFFF"/>
            </a:solidFill>
            <a:prstDash val="solid"/>
          </a:ln>
        </p:spPr>
      </p:sp>
      <p:sp>
        <p:nvSpPr>
          <p:cNvPr id="14" name="Text 12"/>
          <p:cNvSpPr txBox="1"/>
          <p:nvPr/>
        </p:nvSpPr>
        <p:spPr>
          <a:xfrm>
            <a:off x="777240" y="3611880"/>
            <a:ext cx="822960" cy="731520"/>
          </a:xfrm>
          <a:prstGeom prst="rect">
            <a:avLst/>
          </a:prstGeom>
          <a:noFill/>
          <a:ln/>
        </p:spPr>
        <p:txBody>
          <a:bodyPr wrap="square" lIns="0" tIns="0" rIns="0" bIns="0" rtlCol="0" anchor="ctr"/>
          <a:lstStyle/>
          <a:p>
            <a:pPr indent="0" marL="0">
              <a:buNone/>
            </a:pPr>
            <a:r>
              <a:rPr lang="en-US" sz="1300" b="1" dirty="0">
                <a:solidFill>
                  <a:srgbClr val="8C3A00"/>
                </a:solidFill>
                <a:latin typeface="Arial" pitchFamily="34" charset="0"/>
                <a:ea typeface="Arial" pitchFamily="34" charset="-122"/>
                <a:cs typeface="Arial" pitchFamily="34" charset="-120"/>
              </a:rPr>
              <a:t>7 min</a:t>
            </a:r>
            <a:endParaRPr lang="en-US" sz="1300" dirty="0"/>
          </a:p>
        </p:txBody>
      </p:sp>
      <p:sp>
        <p:nvSpPr>
          <p:cNvPr id="15" name="Text 13"/>
          <p:cNvSpPr txBox="1"/>
          <p:nvPr/>
        </p:nvSpPr>
        <p:spPr>
          <a:xfrm>
            <a:off x="1645920" y="3611880"/>
            <a:ext cx="2560320" cy="73152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Antolaketa eta txandak</a:t>
            </a:r>
            <a:endParaRPr lang="en-US" sz="1250" dirty="0"/>
          </a:p>
        </p:txBody>
      </p:sp>
      <p:sp>
        <p:nvSpPr>
          <p:cNvPr id="16" name="Shape 14"/>
          <p:cNvSpPr/>
          <p:nvPr/>
        </p:nvSpPr>
        <p:spPr>
          <a:xfrm>
            <a:off x="4663440" y="1097280"/>
            <a:ext cx="4023360" cy="3429000"/>
          </a:xfrm>
          <a:prstGeom prst="roundRect">
            <a:avLst>
              <a:gd name="adj" fmla="val 3200"/>
            </a:avLst>
          </a:prstGeom>
          <a:solidFill>
            <a:srgbClr val="FAE5D3"/>
          </a:solidFill>
          <a:ln w="12700">
            <a:solidFill>
              <a:srgbClr val="FAE5D3"/>
            </a:solidFill>
            <a:prstDash val="solid"/>
          </a:ln>
        </p:spPr>
      </p:sp>
      <p:sp>
        <p:nvSpPr>
          <p:cNvPr id="17" name="Text 15"/>
          <p:cNvSpPr txBox="1"/>
          <p:nvPr/>
        </p:nvSpPr>
        <p:spPr>
          <a:xfrm>
            <a:off x="4892040" y="1207008"/>
            <a:ext cx="3566160" cy="502920"/>
          </a:xfrm>
          <a:prstGeom prst="rect">
            <a:avLst/>
          </a:prstGeom>
          <a:noFill/>
          <a:ln/>
        </p:spPr>
        <p:txBody>
          <a:bodyPr wrap="square" lIns="0" tIns="0" rIns="0" bIns="0" rtlCol="0" anchor="t"/>
          <a:lstStyle/>
          <a:p>
            <a:pPr indent="0" marL="0">
              <a:buNone/>
            </a:pPr>
            <a:r>
              <a:rPr lang="en-US" sz="2400" b="1" dirty="0">
                <a:solidFill>
                  <a:srgbClr val="8C3A00"/>
                </a:solidFill>
                <a:latin typeface="Arial" pitchFamily="34" charset="0"/>
                <a:ea typeface="Arial" pitchFamily="34" charset="-122"/>
                <a:cs typeface="Arial" pitchFamily="34" charset="-120"/>
              </a:rPr>
              <a:t>S10</a:t>
            </a:r>
            <a:endParaRPr lang="en-US" sz="2400" dirty="0"/>
          </a:p>
        </p:txBody>
      </p:sp>
      <p:sp>
        <p:nvSpPr>
          <p:cNvPr id="18" name="Shape 16"/>
          <p:cNvSpPr/>
          <p:nvPr/>
        </p:nvSpPr>
        <p:spPr>
          <a:xfrm>
            <a:off x="4846320" y="1874520"/>
            <a:ext cx="3657600" cy="731520"/>
          </a:xfrm>
          <a:prstGeom prst="roundRect">
            <a:avLst>
              <a:gd name="adj" fmla="val 15000"/>
            </a:avLst>
          </a:prstGeom>
          <a:solidFill>
            <a:srgbClr val="FFFFFF"/>
          </a:solidFill>
          <a:ln w="12700">
            <a:solidFill>
              <a:srgbClr val="FFFFFF"/>
            </a:solidFill>
            <a:prstDash val="solid"/>
          </a:ln>
        </p:spPr>
      </p:sp>
      <p:sp>
        <p:nvSpPr>
          <p:cNvPr id="19" name="Text 17"/>
          <p:cNvSpPr txBox="1"/>
          <p:nvPr/>
        </p:nvSpPr>
        <p:spPr>
          <a:xfrm>
            <a:off x="4983480" y="1874520"/>
            <a:ext cx="822960" cy="731520"/>
          </a:xfrm>
          <a:prstGeom prst="rect">
            <a:avLst/>
          </a:prstGeom>
          <a:noFill/>
          <a:ln/>
        </p:spPr>
        <p:txBody>
          <a:bodyPr wrap="square" lIns="0" tIns="0" rIns="0" bIns="0" rtlCol="0" anchor="ctr"/>
          <a:lstStyle/>
          <a:p>
            <a:pPr indent="0" marL="0">
              <a:buNone/>
            </a:pPr>
            <a:r>
              <a:rPr lang="en-US" sz="1300" b="1" dirty="0">
                <a:solidFill>
                  <a:srgbClr val="8C3A00"/>
                </a:solidFill>
                <a:latin typeface="Arial" pitchFamily="34" charset="0"/>
                <a:ea typeface="Arial" pitchFamily="34" charset="-122"/>
                <a:cs typeface="Arial" pitchFamily="34" charset="-120"/>
              </a:rPr>
              <a:t>28 min</a:t>
            </a:r>
            <a:endParaRPr lang="en-US" sz="1300" dirty="0"/>
          </a:p>
        </p:txBody>
      </p:sp>
      <p:sp>
        <p:nvSpPr>
          <p:cNvPr id="20" name="Text 18"/>
          <p:cNvSpPr txBox="1"/>
          <p:nvPr/>
        </p:nvSpPr>
        <p:spPr>
          <a:xfrm>
            <a:off x="5852160" y="1874520"/>
            <a:ext cx="2560320" cy="73152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Beste erdiak aurkezten du + zozketa</a:t>
            </a:r>
            <a:endParaRPr lang="en-US" sz="1250" dirty="0"/>
          </a:p>
        </p:txBody>
      </p:sp>
      <p:sp>
        <p:nvSpPr>
          <p:cNvPr id="21" name="Shape 19"/>
          <p:cNvSpPr/>
          <p:nvPr/>
        </p:nvSpPr>
        <p:spPr>
          <a:xfrm>
            <a:off x="4846320" y="2743200"/>
            <a:ext cx="3657600" cy="731520"/>
          </a:xfrm>
          <a:prstGeom prst="roundRect">
            <a:avLst>
              <a:gd name="adj" fmla="val 15000"/>
            </a:avLst>
          </a:prstGeom>
          <a:solidFill>
            <a:srgbClr val="FFFFFF"/>
          </a:solidFill>
          <a:ln w="12700">
            <a:solidFill>
              <a:srgbClr val="FFFFFF"/>
            </a:solidFill>
            <a:prstDash val="solid"/>
          </a:ln>
        </p:spPr>
      </p:sp>
      <p:sp>
        <p:nvSpPr>
          <p:cNvPr id="22" name="Text 20"/>
          <p:cNvSpPr txBox="1"/>
          <p:nvPr/>
        </p:nvSpPr>
        <p:spPr>
          <a:xfrm>
            <a:off x="4983480" y="2743200"/>
            <a:ext cx="822960" cy="731520"/>
          </a:xfrm>
          <a:prstGeom prst="rect">
            <a:avLst/>
          </a:prstGeom>
          <a:noFill/>
          <a:ln/>
        </p:spPr>
        <p:txBody>
          <a:bodyPr wrap="square" lIns="0" tIns="0" rIns="0" bIns="0" rtlCol="0" anchor="ctr"/>
          <a:lstStyle/>
          <a:p>
            <a:pPr indent="0" marL="0">
              <a:buNone/>
            </a:pPr>
            <a:r>
              <a:rPr lang="en-US" sz="1300" b="1" dirty="0">
                <a:solidFill>
                  <a:srgbClr val="8C3A00"/>
                </a:solidFill>
                <a:latin typeface="Arial" pitchFamily="34" charset="0"/>
                <a:ea typeface="Arial" pitchFamily="34" charset="-122"/>
                <a:cs typeface="Arial" pitchFamily="34" charset="-120"/>
              </a:rPr>
              <a:t>12 min</a:t>
            </a:r>
            <a:endParaRPr lang="en-US" sz="1300" dirty="0"/>
          </a:p>
        </p:txBody>
      </p:sp>
      <p:sp>
        <p:nvSpPr>
          <p:cNvPr id="23" name="Text 21"/>
          <p:cNvSpPr txBox="1"/>
          <p:nvPr/>
        </p:nvSpPr>
        <p:spPr>
          <a:xfrm>
            <a:off x="5852160" y="2743200"/>
            <a:ext cx="2560320" cy="73152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Galdera kritikoei erantzunak, ozenki</a:t>
            </a:r>
            <a:endParaRPr lang="en-US" sz="1250" dirty="0"/>
          </a:p>
        </p:txBody>
      </p:sp>
      <p:sp>
        <p:nvSpPr>
          <p:cNvPr id="24" name="Shape 22"/>
          <p:cNvSpPr/>
          <p:nvPr/>
        </p:nvSpPr>
        <p:spPr>
          <a:xfrm>
            <a:off x="4846320" y="3611880"/>
            <a:ext cx="3657600" cy="731520"/>
          </a:xfrm>
          <a:prstGeom prst="roundRect">
            <a:avLst>
              <a:gd name="adj" fmla="val 15000"/>
            </a:avLst>
          </a:prstGeom>
          <a:solidFill>
            <a:srgbClr val="FFFFFF"/>
          </a:solidFill>
          <a:ln w="12700">
            <a:solidFill>
              <a:srgbClr val="FFFFFF"/>
            </a:solidFill>
            <a:prstDash val="solid"/>
          </a:ln>
        </p:spPr>
      </p:sp>
      <p:sp>
        <p:nvSpPr>
          <p:cNvPr id="25" name="Text 23"/>
          <p:cNvSpPr txBox="1"/>
          <p:nvPr/>
        </p:nvSpPr>
        <p:spPr>
          <a:xfrm>
            <a:off x="4983480" y="3611880"/>
            <a:ext cx="822960" cy="731520"/>
          </a:xfrm>
          <a:prstGeom prst="rect">
            <a:avLst/>
          </a:prstGeom>
          <a:noFill/>
          <a:ln/>
        </p:spPr>
        <p:txBody>
          <a:bodyPr wrap="square" lIns="0" tIns="0" rIns="0" bIns="0" rtlCol="0" anchor="ctr"/>
          <a:lstStyle/>
          <a:p>
            <a:pPr indent="0" marL="0">
              <a:buNone/>
            </a:pPr>
            <a:r>
              <a:rPr lang="en-US" sz="1300" b="1" dirty="0">
                <a:solidFill>
                  <a:srgbClr val="8C3A00"/>
                </a:solidFill>
                <a:latin typeface="Arial" pitchFamily="34" charset="0"/>
                <a:ea typeface="Arial" pitchFamily="34" charset="-122"/>
                <a:cs typeface="Arial" pitchFamily="34" charset="-120"/>
              </a:rPr>
              <a:t>10 min</a:t>
            </a:r>
            <a:endParaRPr lang="en-US" sz="1300" dirty="0"/>
          </a:p>
        </p:txBody>
      </p:sp>
      <p:sp>
        <p:nvSpPr>
          <p:cNvPr id="26" name="Text 24"/>
          <p:cNvSpPr txBox="1"/>
          <p:nvPr/>
        </p:nvSpPr>
        <p:spPr>
          <a:xfrm>
            <a:off x="5852160" y="3611880"/>
            <a:ext cx="2560320" cy="73152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Galdera irekiaren eztabaida</a:t>
            </a:r>
            <a:endParaRPr lang="en-US" sz="1250" dirty="0"/>
          </a:p>
        </p:txBody>
      </p:sp>
      <p:sp>
        <p:nvSpPr>
          <p:cNvPr id="25" name="Slide Number Placeholder 0"/>
          <p:cNvSpPr>
            <a:spLocks noGrp="1"/>
          </p:cNvSpPr>
          <p:nvPr>
            <p:ph type="sldNum" sz="quarter" idx="4294967295"/>
          </p:nvPr>
        </p:nvSpPr>
        <p:spPr>
          <a:xfrm>
            <a:off x="84582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3"/>
                </a:solidFill>
                <a:latin typeface="Arial"/>
                <a:ea typeface="Arial"/>
                <a:cs typeface="Aria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822960"/>
            <a:ext cx="8046720" cy="320040"/>
          </a:xfrm>
          <a:prstGeom prst="rect">
            <a:avLst/>
          </a:prstGeom>
          <a:noFill/>
          <a:ln/>
        </p:spPr>
        <p:txBody>
          <a:bodyPr wrap="square" lIns="0" tIns="0" rIns="0" bIns="0" rtlCol="0" anchor="t"/>
          <a:lstStyle/>
          <a:p>
            <a:pPr indent="0" marL="0">
              <a:buNone/>
            </a:pPr>
            <a:r>
              <a:rPr lang="en-US" sz="1200" b="1" spc="200" kern="0" dirty="0">
                <a:solidFill>
                  <a:srgbClr val="1B3A5C"/>
                </a:solidFill>
                <a:latin typeface="Arial" pitchFamily="34" charset="0"/>
                <a:ea typeface="Arial" pitchFamily="34" charset="-122"/>
                <a:cs typeface="Arial" pitchFamily="34" charset="-120"/>
              </a:rPr>
              <a:t>GALDERA IREKIA</a:t>
            </a:r>
            <a:endParaRPr lang="en-US" sz="1200" dirty="0"/>
          </a:p>
        </p:txBody>
      </p:sp>
      <p:sp>
        <p:nvSpPr>
          <p:cNvPr id="3"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r>
              <a:rPr lang="en-US" sz="4000" b="1" dirty="0">
                <a:solidFill>
                  <a:srgbClr val="1B3A5C"/>
                </a:solidFill>
              </a:rPr>
              <a:t>Kultura ulertu gabe ikasitakoaren gainean eraikita badago…</a:t>
            </a:r>
            <a:endParaRPr lang="en-US" sz="4000" dirty="0"/>
          </a:p>
        </p:txBody>
      </p:sp>
      <p:sp>
        <p:nvSpPr>
          <p:cNvPr id="4" name="Text 0"/>
          <p:cNvSpPr/>
          <p:nvPr>
            <p:ph idx="101" type="body" hasCustomPrompt="1"/>
          </p:nvPr>
        </p:nvSpPr>
        <p:spPr>
          <a:xfrm>
            <a:off x="548640" y="2880360"/>
            <a:ext cx="8046720" cy="822960"/>
          </a:xfrm>
          <a:prstGeom prst="rect">
            <a:avLst/>
          </a:prstGeom>
          <a:noFill/>
          <a:ln/>
        </p:spPr>
        <p:txBody>
          <a:bodyPr wrap="square" lIns="0" tIns="0" rIns="0" bIns="0" rtlCol="0" anchor="t"/>
          <a:lstStyle/>
          <a:p>
            <a:pPr algn="l" indent="0" marL="0">
              <a:buNone/>
            </a:pPr>
            <a:r>
              <a:rPr lang="en-US" sz="1800" dirty="0">
                <a:solidFill>
                  <a:srgbClr val="1A1A1A"/>
                </a:solidFill>
              </a:rPr>
              <a:t>gainbalioesten ari al gara ulertzea? Edo, alderantziz, horregatik da hain beharrezkoa?</a:t>
            </a:r>
            <a:endParaRPr lang="en-US" sz="1800" dirty="0"/>
          </a:p>
        </p:txBody>
      </p:sp>
    </p:spTree>
  </p:cSld>
  <p:clrMapOvr>
    <a:masterClrMapping/>
  </p:clrMapOvr>
</p:sld>
</file>

<file path=ppt/theme/theme1.xml><?xml version="1.0" encoding="utf-8"?>
<a:theme xmlns:a="http://schemas.openxmlformats.org/drawingml/2006/main" name="Psiko Argia">
  <a:themeElements>
    <a:clrScheme name="Psiko Argia">
      <a:dk1>
        <a:srgbClr val="1A1A1A"/>
      </a:dk1>
      <a:lt1>
        <a:srgbClr val="FFFFFF"/>
      </a:lt1>
      <a:dk2>
        <a:srgbClr val="1B3A5C"/>
      </a:dk2>
      <a:lt2>
        <a:srgbClr val="F7F7F5"/>
      </a:lt2>
      <a:accent1>
        <a:srgbClr val="1B3A5C"/>
      </a:accent1>
      <a:accent2>
        <a:srgbClr val="5C1A5C"/>
      </a:accent2>
      <a:accent3>
        <a:srgbClr val="1A5C3A"/>
      </a:accent3>
      <a:accent4>
        <a:srgbClr val="8C3A00"/>
      </a:accent4>
      <a:accent5>
        <a:srgbClr val="6E93BC"/>
      </a:accent5>
      <a:accent6>
        <a:srgbClr val="A97BA9"/>
      </a:accent6>
      <a:hlink>
        <a:srgbClr val="1B3A5C"/>
      </a:hlink>
      <a:folHlink>
        <a:srgbClr val="5C1A5C"/>
      </a:folHlink>
    </a:clrScheme>
    <a:fontScheme name="Psiko Arg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Ikasten duguna ulertzen al dugu? · UD04</dc:title>
  <dc:subject>PptxGenJS Presentation</dc:subject>
  <dc:creator>Psikologia BTX2</dc:creator>
  <cp:lastModifiedBy>Psikologia BTX2</cp:lastModifiedBy>
  <cp:revision>1</cp:revision>
  <dcterms:created xsi:type="dcterms:W3CDTF">2026-10-19T16:09:29Z</dcterms:created>
  <dcterms:modified xsi:type="dcterms:W3CDTF">2026-10-19T16:09:29Z</dcterms:modified>
</cp:coreProperties>
</file>